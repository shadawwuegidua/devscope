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7" r:id="rId2"/>
    <p:sldId id="258" r:id="rId3"/>
    <p:sldId id="259" r:id="rId4"/>
    <p:sldId id="260" r:id="rId5"/>
    <p:sldId id="303" r:id="rId6"/>
    <p:sldId id="304" r:id="rId7"/>
    <p:sldId id="305" r:id="rId8"/>
    <p:sldId id="262" r:id="rId9"/>
    <p:sldId id="263" r:id="rId10"/>
    <p:sldId id="264" r:id="rId11"/>
    <p:sldId id="265" r:id="rId12"/>
    <p:sldId id="266" r:id="rId13"/>
    <p:sldId id="286" r:id="rId14"/>
    <p:sldId id="287" r:id="rId15"/>
    <p:sldId id="288" r:id="rId16"/>
    <p:sldId id="290" r:id="rId17"/>
    <p:sldId id="273" r:id="rId18"/>
    <p:sldId id="274" r:id="rId19"/>
    <p:sldId id="275" r:id="rId20"/>
    <p:sldId id="276" r:id="rId21"/>
    <p:sldId id="277" r:id="rId22"/>
    <p:sldId id="278" r:id="rId23"/>
    <p:sldId id="307" r:id="rId24"/>
    <p:sldId id="292" r:id="rId25"/>
    <p:sldId id="293" r:id="rId26"/>
    <p:sldId id="294" r:id="rId27"/>
    <p:sldId id="295" r:id="rId28"/>
    <p:sldId id="306" r:id="rId29"/>
    <p:sldId id="296" r:id="rId30"/>
    <p:sldId id="297" r:id="rId31"/>
    <p:sldId id="298" r:id="rId32"/>
    <p:sldId id="299" r:id="rId33"/>
    <p:sldId id="280" r:id="rId34"/>
    <p:sldId id="281" r:id="rId35"/>
    <p:sldId id="282" r:id="rId36"/>
    <p:sldId id="28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8" userDrawn="1">
          <p15:clr>
            <a:srgbClr val="A4A3A4"/>
          </p15:clr>
        </p15:guide>
        <p15:guide id="5" orient="horz" pos="3928" userDrawn="1">
          <p15:clr>
            <a:srgbClr val="A4A3A4"/>
          </p15:clr>
        </p15:guide>
        <p15:guide id="6" orient="horz"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4E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6" autoAdjust="0"/>
    <p:restoredTop sz="94499" autoAdjust="0"/>
  </p:normalViewPr>
  <p:slideViewPr>
    <p:cSldViewPr snapToGrid="0" showGuides="1">
      <p:cViewPr varScale="1">
        <p:scale>
          <a:sx n="105" d="100"/>
          <a:sy n="105" d="100"/>
        </p:scale>
        <p:origin x="76" y="176"/>
      </p:cViewPr>
      <p:guideLst>
        <p:guide pos="416"/>
        <p:guide pos="7256"/>
        <p:guide orient="horz" pos="648"/>
        <p:guide orient="horz" pos="718"/>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77"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878"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182FD3-40A0-4A8D-8264-3E370892B2BF}" type="datetimeFigureOut">
              <a:rPr lang="en-US" smtClean="0"/>
              <a:t>1/10/2026</a:t>
            </a:fld>
            <a:endParaRPr lang="en-US"/>
          </a:p>
        </p:txBody>
      </p:sp>
      <p:sp>
        <p:nvSpPr>
          <p:cNvPr id="1048879"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1048880"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81"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882"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2F5FEC-D8A4-4F86-95C6-F5BC23A3FB0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8" name="Group 12" descr="05193c1f-9804-41c0-91c5-2a88c24d676d"/>
          <p:cNvGrpSpPr/>
          <p:nvPr/>
        </p:nvGrpSpPr>
        <p:grpSpPr>
          <a:xfrm>
            <a:off x="-1" y="0"/>
            <a:ext cx="12192001" cy="6858000"/>
            <a:chOff x="-1" y="0"/>
            <a:chExt cx="12192001" cy="6858000"/>
          </a:xfrm>
        </p:grpSpPr>
        <p:sp>
          <p:nvSpPr>
            <p:cNvPr id="1048670" name="Rectangle 11" descr="8ff26d55-4ba6-4dc2-93bb-07ddfcf74d3f"/>
            <p:cNvSpPr/>
            <p:nvPr/>
          </p:nvSpPr>
          <p:spPr>
            <a:xfrm flipH="1" flipV="1">
              <a:off x="-1" y="0"/>
              <a:ext cx="987498" cy="783989"/>
            </a:xfrm>
            <a:prstGeom prst="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Group 6" descr="86e49248-e2e9-478e-8f11-760a4a6937ca"/>
            <p:cNvGrpSpPr/>
            <p:nvPr/>
          </p:nvGrpSpPr>
          <p:grpSpPr>
            <a:xfrm>
              <a:off x="660398" y="0"/>
              <a:ext cx="11531602" cy="6858000"/>
              <a:chOff x="660398" y="0"/>
              <a:chExt cx="11531602" cy="6858000"/>
            </a:xfrm>
          </p:grpSpPr>
          <p:sp>
            <p:nvSpPr>
              <p:cNvPr id="1048671" name="Rectangle 5" descr="9466297d-8c0c-4f6f-b0af-f5f5dc3f3e62"/>
              <p:cNvSpPr/>
              <p:nvPr/>
            </p:nvSpPr>
            <p:spPr>
              <a:xfrm>
                <a:off x="6720114" y="0"/>
                <a:ext cx="5471886"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2" name="Rectangle 8" descr="f191259f-51b2-41db-8c8d-56941c2b9dbe"/>
              <p:cNvSpPr/>
              <p:nvPr/>
            </p:nvSpPr>
            <p:spPr>
              <a:xfrm flipH="1" flipV="1">
                <a:off x="660398" y="5116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48673" name="Title 1" descr="584f2342-533a-4938-b6f3-fac7d80a0af3"/>
          <p:cNvSpPr>
            <a:spLocks noGrp="1"/>
          </p:cNvSpPr>
          <p:nvPr>
            <p:ph type="ctrTitle" hasCustomPrompt="1"/>
          </p:nvPr>
        </p:nvSpPr>
        <p:spPr>
          <a:xfrm>
            <a:off x="660401" y="2382144"/>
            <a:ext cx="6059714" cy="1463040"/>
          </a:xfrm>
        </p:spPr>
        <p:txBody>
          <a:bodyPr anchor="b">
            <a:noAutofit/>
          </a:bodyPr>
          <a:lstStyle>
            <a:lvl1pPr algn="l">
              <a:defRPr sz="5400">
                <a:solidFill>
                  <a:schemeClr val="accent1"/>
                </a:solidFill>
              </a:defRPr>
            </a:lvl1pPr>
          </a:lstStyle>
          <a:p>
            <a:r>
              <a:rPr lang="en-US" altLang="zh-CN"/>
              <a:t>Click to add title</a:t>
            </a:r>
            <a:endParaRPr lang="en-US"/>
          </a:p>
        </p:txBody>
      </p:sp>
      <p:sp>
        <p:nvSpPr>
          <p:cNvPr id="1048674" name="Subtitle 2" descr="e45f9554-17df-4cb6-bc83-3f009f7551c1"/>
          <p:cNvSpPr>
            <a:spLocks noGrp="1"/>
          </p:cNvSpPr>
          <p:nvPr>
            <p:ph type="subTitle" idx="1" hasCustomPrompt="1"/>
          </p:nvPr>
        </p:nvSpPr>
        <p:spPr>
          <a:xfrm>
            <a:off x="660400" y="4343778"/>
            <a:ext cx="3156857" cy="674983"/>
          </a:xfrm>
          <a:solidFill>
            <a:schemeClr val="accent1"/>
          </a:solidFill>
        </p:spPr>
        <p:txBody>
          <a:bodyPr anchor="ctr" anchorCtr="0">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add subtitle</a:t>
            </a:r>
            <a:endParaRPr lang="en-US"/>
          </a:p>
        </p:txBody>
      </p:sp>
      <p:sp>
        <p:nvSpPr>
          <p:cNvPr id="1048675" name="Text Placeholder 3" descr="a7d4da02-0385-4341-8018-825b782e0018"/>
          <p:cNvSpPr>
            <a:spLocks noGrp="1"/>
          </p:cNvSpPr>
          <p:nvPr>
            <p:ph type="body" sz="quarter" idx="13" hasCustomPrompt="1"/>
          </p:nvPr>
        </p:nvSpPr>
        <p:spPr>
          <a:xfrm>
            <a:off x="7001013" y="5859780"/>
            <a:ext cx="4517887" cy="274320"/>
          </a:xfrm>
        </p:spPr>
        <p:txBody>
          <a:bodyPr anchor="ctr">
            <a:normAutofit/>
          </a:bodyPr>
          <a:lstStyle>
            <a:lvl1pPr marL="0" indent="0" algn="r">
              <a:lnSpc>
                <a:spcPct val="100000"/>
              </a:lnSpc>
              <a:buNone/>
              <a:defRPr sz="1200">
                <a:solidFill>
                  <a:schemeClr val="bg1"/>
                </a:solidFill>
              </a:defRPr>
            </a:lvl1pPr>
          </a:lstStyle>
          <a:p>
            <a:pPr lvl="0"/>
            <a:r>
              <a:rPr lang="en-US" altLang="zh-CN"/>
              <a:t>Presenter name</a:t>
            </a:r>
            <a:endParaRPr lang="en-US"/>
          </a:p>
        </p:txBody>
      </p:sp>
      <p:sp>
        <p:nvSpPr>
          <p:cNvPr id="1048676" name="Text Placeholder 4" descr="95d09ded-cdad-42b2-9260-85794b846f2d"/>
          <p:cNvSpPr>
            <a:spLocks noGrp="1"/>
          </p:cNvSpPr>
          <p:nvPr>
            <p:ph type="body" sz="quarter" idx="14" hasCustomPrompt="1"/>
          </p:nvPr>
        </p:nvSpPr>
        <p:spPr>
          <a:xfrm>
            <a:off x="660398" y="5859780"/>
            <a:ext cx="4517887" cy="274320"/>
          </a:xfrm>
        </p:spPr>
        <p:txBody>
          <a:bodyPr anchor="ctr">
            <a:normAutofit/>
          </a:bodyPr>
          <a:lstStyle>
            <a:lvl1pPr marL="0" indent="0" algn="l">
              <a:lnSpc>
                <a:spcPct val="100000"/>
              </a:lnSpc>
              <a:buNone/>
              <a:defRPr sz="1200">
                <a:solidFill>
                  <a:schemeClr val="tx1"/>
                </a:solidFill>
              </a:defRPr>
            </a:lvl1pPr>
          </a:lstStyle>
          <a:p>
            <a:pPr lvl="0"/>
            <a:endParaRPr lang="en-US"/>
          </a:p>
        </p:txBody>
      </p:sp>
    </p:spTree>
  </p:cSld>
  <p:clrMapOvr>
    <a:masterClrMapping/>
  </p:clrMapOvr>
  <p:hf sldNum="0"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866" name="Title 1" descr="0e8acdd2-7d0a-4cdf-af2a-5526cea8e7bf"/>
          <p:cNvSpPr>
            <a:spLocks noGrp="1"/>
          </p:cNvSpPr>
          <p:nvPr>
            <p:ph type="title" hasCustomPrompt="1"/>
          </p:nvPr>
        </p:nvSpPr>
        <p:spPr/>
        <p:txBody>
          <a:bodyPr/>
          <a:lstStyle/>
          <a:p>
            <a:r>
              <a:rPr lang="en-US" altLang="zh-CN"/>
              <a:t>Click to add title</a:t>
            </a:r>
            <a:endParaRPr lang="en-US"/>
          </a:p>
        </p:txBody>
      </p:sp>
      <p:sp>
        <p:nvSpPr>
          <p:cNvPr id="1048867" name="Content Placeholder 2" descr="3571ee79-1462-4bd5-8c4a-05a32cd1614b"/>
          <p:cNvSpPr>
            <a:spLocks noGrp="1"/>
          </p:cNvSpPr>
          <p:nvPr>
            <p:ph idx="1" hasCustomPrompt="1"/>
          </p:nvPr>
        </p:nvSpPr>
        <p:spPr/>
        <p:txBody>
          <a:bodyPr/>
          <a:lstStyle/>
          <a:p>
            <a:pPr lvl="0"/>
            <a:r>
              <a:rPr lang="en-US" altLang="zh-CN"/>
              <a:t>Click to add text</a:t>
            </a:r>
            <a:endParaRPr lang="en-US"/>
          </a:p>
        </p:txBody>
      </p:sp>
      <p:sp>
        <p:nvSpPr>
          <p:cNvPr id="1048868" name="Date Placeholder 3" descr="8b50b511-95b5-4b73-8d5b-dd0cff35e091"/>
          <p:cNvSpPr>
            <a:spLocks noGrp="1"/>
          </p:cNvSpPr>
          <p:nvPr>
            <p:ph type="dt" sz="half" idx="10"/>
          </p:nvPr>
        </p:nvSpPr>
        <p:spPr/>
        <p:txBody>
          <a:bodyPr/>
          <a:lstStyle/>
          <a:p>
            <a:fld id="{43A25592-9C3F-48AB-9A3F-F2A64B129A6F}" type="datetimeFigureOut">
              <a:rPr lang="en-US" smtClean="0"/>
              <a:t>1/10/2026</a:t>
            </a:fld>
            <a:endParaRPr lang="en-US"/>
          </a:p>
        </p:txBody>
      </p:sp>
      <p:sp>
        <p:nvSpPr>
          <p:cNvPr id="1048869" name="Footer Placeholder 4" descr="046906e7-c784-44fc-b7ab-13f87e1f7eab"/>
          <p:cNvSpPr>
            <a:spLocks noGrp="1"/>
          </p:cNvSpPr>
          <p:nvPr>
            <p:ph type="ftr" sz="quarter" idx="11"/>
          </p:nvPr>
        </p:nvSpPr>
        <p:spPr/>
        <p:txBody>
          <a:bodyPr/>
          <a:lstStyle/>
          <a:p>
            <a:endParaRPr lang="en-US"/>
          </a:p>
        </p:txBody>
      </p:sp>
      <p:sp>
        <p:nvSpPr>
          <p:cNvPr id="1048870" name="Slide Number Placeholder 5" descr="8419b2e0-e4e5-47da-b1f1-307d92f58782"/>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
        <p:cNvGrpSpPr/>
        <p:nvPr/>
      </p:nvGrpSpPr>
      <p:grpSpPr>
        <a:xfrm>
          <a:off x="0" y="0"/>
          <a:ext cx="0" cy="0"/>
          <a:chOff x="0" y="0"/>
          <a:chExt cx="0" cy="0"/>
        </a:xfrm>
      </p:grpSpPr>
      <p:sp>
        <p:nvSpPr>
          <p:cNvPr id="1048871" name="Title 1" descr="0e548a58-88fc-4da1-ad00-b02026ee19fb"/>
          <p:cNvSpPr>
            <a:spLocks noGrp="1"/>
          </p:cNvSpPr>
          <p:nvPr>
            <p:ph type="title" hasCustomPrompt="1"/>
          </p:nvPr>
        </p:nvSpPr>
        <p:spPr>
          <a:xfrm>
            <a:off x="660400" y="1500187"/>
            <a:ext cx="2836562" cy="915667"/>
          </a:xfrm>
        </p:spPr>
        <p:txBody>
          <a:bodyPr anchor="t">
            <a:normAutofit/>
          </a:bodyPr>
          <a:lstStyle>
            <a:lvl1pPr algn="r">
              <a:defRPr sz="2400"/>
            </a:lvl1pPr>
          </a:lstStyle>
          <a:p>
            <a:r>
              <a:rPr lang="en-US"/>
              <a:t>Agenda</a:t>
            </a:r>
          </a:p>
        </p:txBody>
      </p:sp>
      <p:sp>
        <p:nvSpPr>
          <p:cNvPr id="1048872" name="Content Placeholder 2" descr="b8dcde92-07da-4284-8467-a663fc3b3db9"/>
          <p:cNvSpPr>
            <a:spLocks noGrp="1"/>
          </p:cNvSpPr>
          <p:nvPr>
            <p:ph sz="quarter" idx="1" hasCustomPrompt="1"/>
          </p:nvPr>
        </p:nvSpPr>
        <p:spPr>
          <a:xfrm>
            <a:off x="3745078" y="1500188"/>
            <a:ext cx="7773821" cy="4633912"/>
          </a:xfrm>
        </p:spPr>
        <p:txBody>
          <a:bodyPr/>
          <a:lstStyle>
            <a:lvl1pPr marL="342900" indent="-342900">
              <a:lnSpc>
                <a:spcPct val="100000"/>
              </a:lnSpc>
              <a:buFont typeface="+mj-lt"/>
              <a:buAutoNum type="arabicPeriod"/>
            </a:lvl1pPr>
            <a:lvl2pPr marL="800100" indent="-342900">
              <a:lnSpc>
                <a:spcPct val="100000"/>
              </a:lnSpc>
              <a:buFont typeface="+mj-ea"/>
              <a:buAutoNum type="circleNumDbPlain"/>
            </a:lvl2pPr>
            <a:lvl3pPr marL="1257300" indent="-342900">
              <a:lnSpc>
                <a:spcPct val="100000"/>
              </a:lnSpc>
              <a:buFont typeface="+mj-lt"/>
              <a:buAutoNum type="alphaLcParenR"/>
            </a:lvl3pPr>
            <a:lvl4pPr>
              <a:lnSpc>
                <a:spcPct val="100000"/>
              </a:lnSpc>
            </a:lvl4pPr>
            <a:lvl5pPr>
              <a:lnSpc>
                <a:spcPct val="100000"/>
              </a:lnSpc>
            </a:lvl5pPr>
          </a:lstStyle>
          <a:p>
            <a:pPr lvl="0"/>
            <a:r>
              <a:rPr lang="en-US" altLang="zh-CN"/>
              <a:t>Click to add text</a:t>
            </a:r>
            <a:endParaRPr lang="en-US"/>
          </a:p>
        </p:txBody>
      </p:sp>
      <p:sp>
        <p:nvSpPr>
          <p:cNvPr id="1048873" name="Date Placeholder 4" descr="155c3cb3-fa1b-4c8b-9582-6cb292abc78d"/>
          <p:cNvSpPr>
            <a:spLocks noGrp="1"/>
          </p:cNvSpPr>
          <p:nvPr>
            <p:ph type="dt" sz="half" idx="10"/>
          </p:nvPr>
        </p:nvSpPr>
        <p:spPr/>
        <p:txBody>
          <a:bodyPr/>
          <a:lstStyle/>
          <a:p>
            <a:fld id="{43A25592-9C3F-48AB-9A3F-F2A64B129A6F}" type="datetimeFigureOut">
              <a:rPr lang="en-US" smtClean="0"/>
              <a:t>1/10/2026</a:t>
            </a:fld>
            <a:endParaRPr lang="en-US"/>
          </a:p>
        </p:txBody>
      </p:sp>
      <p:sp>
        <p:nvSpPr>
          <p:cNvPr id="1048874" name="Footer Placeholder 5" descr="e3af2cbf-c59f-490a-af54-3360b51fc20a"/>
          <p:cNvSpPr>
            <a:spLocks noGrp="1"/>
          </p:cNvSpPr>
          <p:nvPr>
            <p:ph type="ftr" sz="quarter" idx="11"/>
          </p:nvPr>
        </p:nvSpPr>
        <p:spPr/>
        <p:txBody>
          <a:bodyPr/>
          <a:lstStyle/>
          <a:p>
            <a:endParaRPr lang="en-US"/>
          </a:p>
        </p:txBody>
      </p:sp>
      <p:sp>
        <p:nvSpPr>
          <p:cNvPr id="1048875" name="Slide Number Placeholder 6" descr="edb265da-bb95-4fc7-95f4-463b949ff2d6"/>
          <p:cNvSpPr>
            <a:spLocks noGrp="1"/>
          </p:cNvSpPr>
          <p:nvPr>
            <p:ph type="sldNum" sz="quarter" idx="12"/>
          </p:nvPr>
        </p:nvSpPr>
        <p:spPr/>
        <p:txBody>
          <a:bodyPr/>
          <a:lstStyle/>
          <a:p>
            <a:fld id="{C8BB1146-E542-4D4E-B8E9-6919A11DDD48}" type="slidenum">
              <a:rPr lang="en-US" smtClean="0"/>
              <a:t>‹#›</a:t>
            </a:fld>
            <a:endParaRPr lang="en-US"/>
          </a:p>
        </p:txBody>
      </p:sp>
      <p:cxnSp>
        <p:nvCxnSpPr>
          <p:cNvPr id="3145745" name="Straight Connector 7" descr="9c5c76ae-fd3d-4504-801b-3b23e84772f2"/>
          <p:cNvCxnSpPr/>
          <p:nvPr/>
        </p:nvCxnSpPr>
        <p:spPr>
          <a:xfrm flipH="1">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048876" name="Freeform: Shape 8" descr="78bbd1d7-716d-499a-b067-46bc3ab69a22"/>
          <p:cNvSpPr>
            <a:spLocks noChangeAspect="1"/>
          </p:cNvSpPr>
          <p:nvPr/>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0" name="Group 6" descr="681d7668-ca17-49b0-8847-d89c667e7daf"/>
          <p:cNvGrpSpPr/>
          <p:nvPr/>
        </p:nvGrpSpPr>
        <p:grpSpPr>
          <a:xfrm>
            <a:off x="446062" y="705275"/>
            <a:ext cx="11376046" cy="5704415"/>
            <a:chOff x="446062" y="816411"/>
            <a:chExt cx="11376046" cy="5704415"/>
          </a:xfrm>
        </p:grpSpPr>
        <p:sp>
          <p:nvSpPr>
            <p:cNvPr id="1048622" name="Rectangle 7" descr="d8782f4d-c3a1-485d-a742-c80822b4539a"/>
            <p:cNvSpPr/>
            <p:nvPr/>
          </p:nvSpPr>
          <p:spPr>
            <a:xfrm>
              <a:off x="673099" y="1748113"/>
              <a:ext cx="6310291" cy="3772937"/>
            </a:xfrm>
            <a:prstGeom prst="rect">
              <a:avLst/>
            </a:prstGeom>
            <a:noFill/>
            <a:ln w="508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3" name="Rectangle 8" descr="090d9021-86d1-47bc-92c0-35ede9b7bb4a"/>
            <p:cNvSpPr/>
            <p:nvPr/>
          </p:nvSpPr>
          <p:spPr>
            <a:xfrm>
              <a:off x="6545943" y="1028700"/>
              <a:ext cx="4972956" cy="5211763"/>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4" name="Rectangle 9" descr="d5c742b6-c4de-4a72-aee4-ae1d04a6eedd"/>
            <p:cNvSpPr/>
            <p:nvPr/>
          </p:nvSpPr>
          <p:spPr>
            <a:xfrm flipH="1" flipV="1">
              <a:off x="11215688" y="8164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5" name="Rectangle 10" descr="4d392d1b-fd32-4cdf-9cff-0d506badd6c9"/>
            <p:cNvSpPr/>
            <p:nvPr/>
          </p:nvSpPr>
          <p:spPr>
            <a:xfrm flipH="1" flipV="1">
              <a:off x="8363753" y="5960102"/>
              <a:ext cx="2364279" cy="560724"/>
            </a:xfrm>
            <a:prstGeom prst="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26" name="Rectangle 11" descr="e2065453-0fc5-4080-a857-5f6e7f9e7486"/>
            <p:cNvSpPr/>
            <p:nvPr/>
          </p:nvSpPr>
          <p:spPr>
            <a:xfrm>
              <a:off x="446062" y="2908596"/>
              <a:ext cx="454073" cy="1451970"/>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8627" name="Title 1" descr="8f0aa4d8-f980-4abb-9bf6-adaf418e0a35"/>
          <p:cNvSpPr>
            <a:spLocks noGrp="1"/>
          </p:cNvSpPr>
          <p:nvPr>
            <p:ph type="title" hasCustomPrompt="1"/>
          </p:nvPr>
        </p:nvSpPr>
        <p:spPr>
          <a:xfrm>
            <a:off x="896925" y="2608788"/>
            <a:ext cx="5518389" cy="987399"/>
          </a:xfrm>
        </p:spPr>
        <p:txBody>
          <a:bodyPr anchor="b">
            <a:normAutofit/>
          </a:bodyPr>
          <a:lstStyle>
            <a:lvl1pPr>
              <a:defRPr sz="3200">
                <a:solidFill>
                  <a:schemeClr val="accent1"/>
                </a:solidFill>
              </a:defRPr>
            </a:lvl1pPr>
          </a:lstStyle>
          <a:p>
            <a:r>
              <a:rPr lang="en-US" altLang="zh-CN"/>
              <a:t>Click to add title</a:t>
            </a:r>
            <a:endParaRPr lang="en-US"/>
          </a:p>
        </p:txBody>
      </p:sp>
      <p:sp>
        <p:nvSpPr>
          <p:cNvPr id="1048628" name="Text Placeholder 2" descr="fbdebbe7-0a93-4150-bd5a-7e44e3ee5219"/>
          <p:cNvSpPr>
            <a:spLocks noGrp="1"/>
          </p:cNvSpPr>
          <p:nvPr>
            <p:ph type="body" idx="1" hasCustomPrompt="1"/>
          </p:nvPr>
        </p:nvSpPr>
        <p:spPr>
          <a:xfrm>
            <a:off x="903275" y="3596187"/>
            <a:ext cx="5518389" cy="519250"/>
          </a:xfrm>
        </p:spPr>
        <p:txBody>
          <a:bodyPr>
            <a:normAutofit/>
          </a:bodyPr>
          <a:lstStyle>
            <a:lvl1pPr marL="0" indent="0">
              <a:buNone/>
              <a:defRPr sz="1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add text</a:t>
            </a:r>
            <a:endParaRPr lang="zh-CN" altLang="en-US"/>
          </a:p>
        </p:txBody>
      </p:sp>
      <p:sp>
        <p:nvSpPr>
          <p:cNvPr id="1048629" name="Date Placeholder 3" descr="12d42c66-f743-442a-92b0-0a3bbc9fa1a1"/>
          <p:cNvSpPr>
            <a:spLocks noGrp="1"/>
          </p:cNvSpPr>
          <p:nvPr>
            <p:ph type="dt" sz="half" idx="10"/>
          </p:nvPr>
        </p:nvSpPr>
        <p:spPr/>
        <p:txBody>
          <a:bodyPr/>
          <a:lstStyle/>
          <a:p>
            <a:fld id="{43A25592-9C3F-48AB-9A3F-F2A64B129A6F}" type="datetimeFigureOut">
              <a:rPr lang="en-US" smtClean="0"/>
              <a:t>1/10/2026</a:t>
            </a:fld>
            <a:endParaRPr lang="en-US"/>
          </a:p>
        </p:txBody>
      </p:sp>
      <p:sp>
        <p:nvSpPr>
          <p:cNvPr id="1048630" name="Footer Placeholder 4" descr="488be992-7e49-456a-bbd3-b462f4ef10ca"/>
          <p:cNvSpPr>
            <a:spLocks noGrp="1"/>
          </p:cNvSpPr>
          <p:nvPr>
            <p:ph type="ftr" sz="quarter" idx="11"/>
          </p:nvPr>
        </p:nvSpPr>
        <p:spPr/>
        <p:txBody>
          <a:bodyPr/>
          <a:lstStyle/>
          <a:p>
            <a:endParaRPr lang="en-US"/>
          </a:p>
        </p:txBody>
      </p:sp>
      <p:sp>
        <p:nvSpPr>
          <p:cNvPr id="1048631" name="Slide Number Placeholder 5" descr="74d82cee-edcc-4a49-b566-9547a5747203"/>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1" name="Title 1" descr="ba5c3d0b-a165-4d08-9745-ddaee62d2520"/>
          <p:cNvSpPr>
            <a:spLocks noGrp="1"/>
          </p:cNvSpPr>
          <p:nvPr>
            <p:ph type="title" hasCustomPrompt="1"/>
          </p:nvPr>
        </p:nvSpPr>
        <p:spPr/>
        <p:txBody>
          <a:bodyPr/>
          <a:lstStyle/>
          <a:p>
            <a:r>
              <a:rPr lang="en-US" altLang="zh-CN"/>
              <a:t>Click to add title</a:t>
            </a:r>
            <a:endParaRPr lang="en-US"/>
          </a:p>
        </p:txBody>
      </p:sp>
      <p:sp>
        <p:nvSpPr>
          <p:cNvPr id="1048582" name="Date Placeholder 2" descr="2c7dfca2-b250-40f7-8477-450cfda1e259"/>
          <p:cNvSpPr>
            <a:spLocks noGrp="1"/>
          </p:cNvSpPr>
          <p:nvPr>
            <p:ph type="dt" sz="half" idx="10"/>
          </p:nvPr>
        </p:nvSpPr>
        <p:spPr/>
        <p:txBody>
          <a:bodyPr/>
          <a:lstStyle/>
          <a:p>
            <a:fld id="{43A25592-9C3F-48AB-9A3F-F2A64B129A6F}" type="datetimeFigureOut">
              <a:rPr lang="en-US" smtClean="0"/>
              <a:t>1/10/2026</a:t>
            </a:fld>
            <a:endParaRPr lang="en-US"/>
          </a:p>
        </p:txBody>
      </p:sp>
      <p:sp>
        <p:nvSpPr>
          <p:cNvPr id="1048583" name="Footer Placeholder 3" descr="eb2c292a-8970-4594-84e2-88de671ebe73"/>
          <p:cNvSpPr>
            <a:spLocks noGrp="1"/>
          </p:cNvSpPr>
          <p:nvPr>
            <p:ph type="ftr" sz="quarter" idx="11"/>
          </p:nvPr>
        </p:nvSpPr>
        <p:spPr/>
        <p:txBody>
          <a:bodyPr/>
          <a:lstStyle/>
          <a:p>
            <a:endParaRPr lang="en-US"/>
          </a:p>
        </p:txBody>
      </p:sp>
      <p:sp>
        <p:nvSpPr>
          <p:cNvPr id="1048584" name="Slide Number Placeholder 4" descr="88ba0290-7b72-4cf0-b62f-788ff104f74b"/>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863" name="Date Placeholder 1" descr="8709433a-67bc-447a-8b01-e63af4cd5a43"/>
          <p:cNvSpPr>
            <a:spLocks noGrp="1"/>
          </p:cNvSpPr>
          <p:nvPr>
            <p:ph type="dt" sz="half" idx="10"/>
          </p:nvPr>
        </p:nvSpPr>
        <p:spPr/>
        <p:txBody>
          <a:bodyPr/>
          <a:lstStyle/>
          <a:p>
            <a:fld id="{43A25592-9C3F-48AB-9A3F-F2A64B129A6F}" type="datetimeFigureOut">
              <a:rPr lang="en-US" smtClean="0"/>
              <a:t>1/10/2026</a:t>
            </a:fld>
            <a:endParaRPr lang="en-US"/>
          </a:p>
        </p:txBody>
      </p:sp>
      <p:sp>
        <p:nvSpPr>
          <p:cNvPr id="1048864" name="Footer Placeholder 2" descr="ed1752ae-e553-48c2-b37a-eae890248bdb"/>
          <p:cNvSpPr>
            <a:spLocks noGrp="1"/>
          </p:cNvSpPr>
          <p:nvPr>
            <p:ph type="ftr" sz="quarter" idx="11"/>
          </p:nvPr>
        </p:nvSpPr>
        <p:spPr/>
        <p:txBody>
          <a:bodyPr/>
          <a:lstStyle/>
          <a:p>
            <a:endParaRPr lang="en-US"/>
          </a:p>
        </p:txBody>
      </p:sp>
      <p:sp>
        <p:nvSpPr>
          <p:cNvPr id="1048865" name="Slide Number Placeholder 3" descr="0a503ebb-e196-4820-8640-3cde8ad8ee07"/>
          <p:cNvSpPr>
            <a:spLocks noGrp="1"/>
          </p:cNvSpPr>
          <p:nvPr>
            <p:ph type="sldNum" sz="quarter" idx="12"/>
          </p:nvPr>
        </p:nvSpPr>
        <p:spPr/>
        <p:txBody>
          <a:bodyPr/>
          <a:lstStyle/>
          <a:p>
            <a:fld id="{C8BB1146-E542-4D4E-B8E9-6919A11DDD4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losing" preserve="1">
  <p:cSld name="Closing">
    <p:spTree>
      <p:nvGrpSpPr>
        <p:cNvPr id="1" name=""/>
        <p:cNvGrpSpPr/>
        <p:nvPr/>
      </p:nvGrpSpPr>
      <p:grpSpPr>
        <a:xfrm>
          <a:off x="0" y="0"/>
          <a:ext cx="0" cy="0"/>
          <a:chOff x="0" y="0"/>
          <a:chExt cx="0" cy="0"/>
        </a:xfrm>
      </p:grpSpPr>
      <p:grpSp>
        <p:nvGrpSpPr>
          <p:cNvPr id="158" name="Group 2" descr="02c0c852-845e-41bc-a6de-4710c01a8844"/>
          <p:cNvGrpSpPr/>
          <p:nvPr/>
        </p:nvGrpSpPr>
        <p:grpSpPr>
          <a:xfrm>
            <a:off x="-1" y="0"/>
            <a:ext cx="12192001" cy="6858000"/>
            <a:chOff x="-1" y="0"/>
            <a:chExt cx="12192001" cy="6858000"/>
          </a:xfrm>
        </p:grpSpPr>
        <p:sp>
          <p:nvSpPr>
            <p:cNvPr id="1048853" name="Rectangle 5" descr="d7e13967-4911-4a4d-be37-2703bb843d7b"/>
            <p:cNvSpPr/>
            <p:nvPr/>
          </p:nvSpPr>
          <p:spPr>
            <a:xfrm flipH="1" flipV="1">
              <a:off x="-1" y="0"/>
              <a:ext cx="987498" cy="783989"/>
            </a:xfrm>
            <a:prstGeom prst="rect">
              <a:avLst/>
            </a:prstGeom>
            <a:solidFill>
              <a:schemeClr val="accent1">
                <a:lumMod val="60000"/>
                <a:lumOff val="4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9" name="Group 6" descr="c62bc2e3-cedb-45c0-8590-b223c50b80aa"/>
            <p:cNvGrpSpPr/>
            <p:nvPr/>
          </p:nvGrpSpPr>
          <p:grpSpPr>
            <a:xfrm>
              <a:off x="660398" y="0"/>
              <a:ext cx="11531602" cy="6858000"/>
              <a:chOff x="660398" y="0"/>
              <a:chExt cx="11531602" cy="6858000"/>
            </a:xfrm>
          </p:grpSpPr>
          <p:sp>
            <p:nvSpPr>
              <p:cNvPr id="1048854" name="Rectangle 7" descr="be81d536-0cc2-45c7-bef9-5297dc794a33"/>
              <p:cNvSpPr/>
              <p:nvPr/>
            </p:nvSpPr>
            <p:spPr>
              <a:xfrm>
                <a:off x="6720114" y="0"/>
                <a:ext cx="5471886"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855" name="Rectangle 8" descr="c4f163bf-97ab-49a2-b916-7a415c584fed"/>
              <p:cNvSpPr/>
              <p:nvPr/>
            </p:nvSpPr>
            <p:spPr>
              <a:xfrm flipH="1" flipV="1">
                <a:off x="660398" y="511611"/>
                <a:ext cx="606420" cy="424578"/>
              </a:xfrm>
              <a:prstGeom prst="rect">
                <a:avLst/>
              </a:prstGeom>
              <a:solidFill>
                <a:schemeClr val="accent2">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048856" name="Title 1" descr="d1741380-af7a-4b2e-889e-9f29462dc72e"/>
          <p:cNvSpPr>
            <a:spLocks noGrp="1"/>
          </p:cNvSpPr>
          <p:nvPr>
            <p:ph type="title" hasCustomPrompt="1"/>
          </p:nvPr>
        </p:nvSpPr>
        <p:spPr>
          <a:xfrm>
            <a:off x="660400" y="3038152"/>
            <a:ext cx="5856514" cy="781696"/>
          </a:xfrm>
        </p:spPr>
        <p:txBody>
          <a:bodyPr anchor="ctr">
            <a:normAutofit fontScale="90000"/>
          </a:bodyPr>
          <a:lstStyle>
            <a:lvl1pPr>
              <a:defRPr sz="6000">
                <a:solidFill>
                  <a:schemeClr val="accent1"/>
                </a:solidFill>
              </a:defRPr>
            </a:lvl1pPr>
          </a:lstStyle>
          <a:p>
            <a:r>
              <a:rPr lang="en-US" altLang="zh-CN"/>
              <a:t>Click to add title</a:t>
            </a:r>
            <a:endParaRPr lang="en-US"/>
          </a:p>
        </p:txBody>
      </p:sp>
      <p:sp>
        <p:nvSpPr>
          <p:cNvPr id="1048857" name="Text Placeholder 3" descr="5fc535f9-d590-4dc9-8d5a-818ac15ab11f"/>
          <p:cNvSpPr>
            <a:spLocks noGrp="1"/>
          </p:cNvSpPr>
          <p:nvPr>
            <p:ph type="body" sz="quarter" idx="13" hasCustomPrompt="1"/>
          </p:nvPr>
        </p:nvSpPr>
        <p:spPr>
          <a:xfrm>
            <a:off x="7013715" y="5859780"/>
            <a:ext cx="4517887" cy="274320"/>
          </a:xfrm>
        </p:spPr>
        <p:txBody>
          <a:bodyPr anchor="ctr">
            <a:noAutofit/>
          </a:bodyPr>
          <a:lstStyle>
            <a:lvl1pPr marL="0" indent="0" algn="r">
              <a:lnSpc>
                <a:spcPct val="100000"/>
              </a:lnSpc>
              <a:spcBef>
                <a:spcPct val="0"/>
              </a:spcBef>
              <a:buNone/>
              <a:defRPr lang="en-US" sz="1200">
                <a:solidFill>
                  <a:schemeClr val="bg1"/>
                </a:solidFill>
              </a:defRPr>
            </a:lvl1pPr>
          </a:lstStyle>
          <a:p>
            <a:pPr lvl="0"/>
            <a:r>
              <a:rPr lang="en-US" altLang="zh-CN"/>
              <a:t>Presenter name</a:t>
            </a:r>
            <a:endParaRPr lang="en-US"/>
          </a:p>
        </p:txBody>
      </p:sp>
      <p:sp>
        <p:nvSpPr>
          <p:cNvPr id="1048858" name="Text Placeholder 4" descr="4f2627d1-b0ad-4683-a59e-8448198a6258"/>
          <p:cNvSpPr>
            <a:spLocks noGrp="1"/>
          </p:cNvSpPr>
          <p:nvPr>
            <p:ph type="body" sz="quarter" idx="14" hasCustomPrompt="1"/>
          </p:nvPr>
        </p:nvSpPr>
        <p:spPr>
          <a:xfrm>
            <a:off x="660400" y="5844540"/>
            <a:ext cx="4517887" cy="274320"/>
          </a:xfrm>
        </p:spPr>
        <p:txBody>
          <a:bodyPr anchor="ctr">
            <a:noAutofit/>
          </a:bodyPr>
          <a:lstStyle>
            <a:lvl1pPr marL="0" indent="0" algn="l">
              <a:lnSpc>
                <a:spcPct val="100000"/>
              </a:lnSpc>
              <a:spcBef>
                <a:spcPct val="0"/>
              </a:spcBef>
              <a:buNone/>
              <a:defRPr lang="en-US" sz="1200">
                <a:solidFill>
                  <a:schemeClr val="tx1"/>
                </a:solidFill>
              </a:defRPr>
            </a:lvl1pPr>
          </a:lstStyle>
          <a:p>
            <a:pPr lvl="0"/>
            <a:endParaRPr lang="en-US"/>
          </a:p>
        </p:txBody>
      </p:sp>
    </p:spTree>
  </p:cSld>
  <p:clrMapOvr>
    <a:masterClrMapping/>
  </p:clrMapOvr>
  <p:hf sldNum="0" hdr="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altLang="zh-CN"/>
              <a:t>Click to add title</a:t>
            </a:r>
            <a:endParaRPr lang="en-US"/>
          </a:p>
        </p:txBody>
      </p:sp>
      <p:sp>
        <p:nvSpPr>
          <p:cNvPr id="1048577" name="Text Placeholder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add text</a:t>
            </a:r>
            <a:endParaRPr lang="en-US"/>
          </a:p>
        </p:txBody>
      </p:sp>
      <p:sp>
        <p:nvSpPr>
          <p:cNvPr id="1048578" name="Date Placeholder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fld id="{43A25592-9C3F-48AB-9A3F-F2A64B129A6F}" type="datetimeFigureOut">
              <a:rPr lang="en-US" smtClean="0"/>
              <a:t>1/10/2026</a:t>
            </a:fld>
            <a:endParaRPr lang="en-US"/>
          </a:p>
        </p:txBody>
      </p:sp>
      <p:sp>
        <p:nvSpPr>
          <p:cNvPr id="1048579" name="Footer Placeholder 4"/>
          <p:cNvSpPr>
            <a:spLocks noGrp="1"/>
          </p:cNvSpPr>
          <p:nvPr>
            <p:ph type="ftr" sz="quarter" idx="3"/>
          </p:nvPr>
        </p:nvSpPr>
        <p:spPr>
          <a:xfrm>
            <a:off x="660399" y="6409690"/>
            <a:ext cx="3750733"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7768168" y="6409690"/>
            <a:ext cx="3750732"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medium.com/@raydebra89/turning-github-activity-into-actionable-business-insights-59c73c72cc71" TargetMode="External"/><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www.linuxfoundation.org/blog/blog/chaoss-project-creates-tools-to-analyze-software-development-and-measure-open-source-community-health" TargetMode="External"/><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vscode-file://vscode-app/c:/Users/Zhuang/AppData/Local/Programs/Microsoft%20VS%20Code/resources/app/out/vs/code/electron-browser/workbench/workbench.html" TargetMode="External"/><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标题 1048676" descr="584f2342-533a-4938-b6f3-fac7d80a0af3"/>
          <p:cNvSpPr>
            <a:spLocks noGrp="1"/>
          </p:cNvSpPr>
          <p:nvPr>
            <p:ph type="ctrTitle" hasCustomPrompt="1"/>
          </p:nvPr>
        </p:nvSpPr>
        <p:spPr/>
        <p:txBody>
          <a:bodyPr anchorCtr="0"/>
          <a:lstStyle/>
          <a:p>
            <a:pPr algn="l">
              <a:lnSpc>
                <a:spcPct val="100000"/>
              </a:lnSpc>
              <a:spcBef>
                <a:spcPct val="0"/>
              </a:spcBef>
            </a:pPr>
            <a:r>
              <a:rPr lang="en-US" sz="4860" b="1" i="0" u="none">
                <a:solidFill>
                  <a:srgbClr val="684E93"/>
                </a:solidFill>
                <a:latin typeface="Arial" panose="020B0604020202020204"/>
              </a:rPr>
              <a:t>DevScope 开发者行为分析与预测系统设计</a:t>
            </a:r>
          </a:p>
        </p:txBody>
      </p:sp>
      <p:sp>
        <p:nvSpPr>
          <p:cNvPr id="1048678" name="副标题 1048677" descr="e45f9554-17df-4cb6-bc83-3f009f7551c1"/>
          <p:cNvSpPr>
            <a:spLocks noGrp="1"/>
          </p:cNvSpPr>
          <p:nvPr>
            <p:ph type="subTitle" idx="1" hasCustomPrompt="1"/>
          </p:nvPr>
        </p:nvSpPr>
        <p:spPr>
          <a:xfrm>
            <a:off x="660400" y="4069644"/>
            <a:ext cx="4505052" cy="949117"/>
          </a:xfrm>
        </p:spPr>
        <p:txBody>
          <a:bodyPr anchorCtr="0">
            <a:normAutofit fontScale="93750"/>
          </a:bodyPr>
          <a:lstStyle/>
          <a:p>
            <a:pPr algn="ctr">
              <a:lnSpc>
                <a:spcPct val="120000"/>
              </a:lnSpc>
              <a:spcBef>
                <a:spcPts val="1000"/>
              </a:spcBef>
            </a:pPr>
            <a:r>
              <a:rPr lang="en-US" sz="1600" b="1" i="0" u="none" dirty="0" err="1">
                <a:solidFill>
                  <a:srgbClr val="FFFFFF"/>
                </a:solidFill>
                <a:ea typeface="微软雅黑" panose="020B0503020204020204" charset="-122"/>
              </a:rPr>
              <a:t>洞察开发者行为，助力开源生态发展</a:t>
            </a:r>
            <a:endParaRPr lang="en-US" sz="1600" b="1" i="0" u="none" dirty="0">
              <a:solidFill>
                <a:srgbClr val="FFFFFF"/>
              </a:solidFill>
              <a:ea typeface="微软雅黑" panose="020B0503020204020204" charset="-122"/>
            </a:endParaRPr>
          </a:p>
          <a:p>
            <a:pPr algn="ctr">
              <a:lnSpc>
                <a:spcPct val="120000"/>
              </a:lnSpc>
              <a:spcBef>
                <a:spcPts val="1000"/>
              </a:spcBef>
            </a:pPr>
            <a:r>
              <a:rPr lang="en-US" altLang="zh-CN" sz="1600" b="0" i="0" u="none" dirty="0">
                <a:solidFill>
                  <a:srgbClr val="FFFFFF"/>
                </a:solidFill>
                <a:ea typeface="微软雅黑" panose="020B0503020204020204" charset="-122"/>
              </a:rPr>
              <a:t>W2</a:t>
            </a:r>
            <a:r>
              <a:rPr lang="zh-CN" altLang="en-US" sz="1600" b="0" i="0" u="none" dirty="0">
                <a:solidFill>
                  <a:srgbClr val="FFFFFF"/>
                </a:solidFill>
                <a:ea typeface="微软雅黑" panose="020B0503020204020204" charset="-122"/>
              </a:rPr>
              <a:t>：开源领域的可视化大屏 </a:t>
            </a:r>
            <a:r>
              <a:rPr lang="en-US" altLang="zh-CN" sz="1600" b="0" i="0" u="none" dirty="0">
                <a:solidFill>
                  <a:srgbClr val="FFFFFF"/>
                </a:solidFill>
                <a:ea typeface="微软雅黑" panose="020B0503020204020204" charset="-122"/>
              </a:rPr>
              <a:t>(Dashboard </a:t>
            </a:r>
            <a:r>
              <a:rPr lang="zh-CN" altLang="en-US" sz="1600" b="0" i="0" u="none" dirty="0">
                <a:solidFill>
                  <a:srgbClr val="FFFFFF"/>
                </a:solidFill>
                <a:ea typeface="微软雅黑" panose="020B0503020204020204" charset="-122"/>
              </a:rPr>
              <a:t>类作品</a:t>
            </a:r>
            <a:r>
              <a:rPr lang="en-US" altLang="zh-CN" sz="1600" b="0" i="0" u="none" dirty="0">
                <a:solidFill>
                  <a:srgbClr val="FFFFFF"/>
                </a:solidFill>
                <a:ea typeface="微软雅黑" panose="020B0503020204020204" charset="-122"/>
              </a:rPr>
              <a:t>)</a:t>
            </a:r>
            <a:r>
              <a:rPr lang="zh-CN" altLang="en-US" sz="1600" b="0" i="0" u="none" dirty="0">
                <a:solidFill>
                  <a:srgbClr val="FFFFFF"/>
                </a:solidFill>
                <a:ea typeface="微软雅黑" panose="020B0503020204020204" charset="-122"/>
              </a:rPr>
              <a:t>。</a:t>
            </a:r>
            <a:endParaRPr lang="en-US" sz="1600" b="0" i="0" u="none" dirty="0">
              <a:solidFill>
                <a:srgbClr val="FFFFFF"/>
              </a:solidFill>
              <a:ea typeface="微软雅黑" panose="020B0503020204020204" charset="-122"/>
            </a:endParaRPr>
          </a:p>
        </p:txBody>
      </p:sp>
      <p:sp>
        <p:nvSpPr>
          <p:cNvPr id="1048679" name="文本占位符 1048678" descr="a7d4da02-0385-4341-8018-825b782e0018"/>
          <p:cNvSpPr>
            <a:spLocks noGrp="1"/>
          </p:cNvSpPr>
          <p:nvPr>
            <p:ph type="body" sz="quarter" idx="13" hasCustomPrompt="1"/>
          </p:nvPr>
        </p:nvSpPr>
        <p:spPr/>
        <p:txBody>
          <a:bodyPr anchorCtr="0"/>
          <a:lstStyle/>
          <a:p>
            <a:pPr algn="r">
              <a:lnSpc>
                <a:spcPct val="100000"/>
              </a:lnSpc>
              <a:spcBef>
                <a:spcPts val="1000"/>
              </a:spcBef>
            </a:pPr>
            <a:r>
              <a:rPr lang="en-US" sz="1200" b="0" i="0" u="none">
                <a:solidFill>
                  <a:srgbClr val="FFFFFF"/>
                </a:solidFill>
                <a:ea typeface="微软雅黑" panose="020B0503020204020204" charset="-122"/>
              </a:rPr>
              <a:t>报告人名称</a:t>
            </a:r>
          </a:p>
        </p:txBody>
      </p:sp>
      <p:sp>
        <p:nvSpPr>
          <p:cNvPr id="2" name="文本占位符 1048679" descr="95d09ded-cdad-42b2-9260-85794b846f2d">
            <a:extLst>
              <a:ext uri="{FF2B5EF4-FFF2-40B4-BE49-F238E27FC236}">
                <a16:creationId xmlns:a16="http://schemas.microsoft.com/office/drawing/2014/main" id="{D6A1CE87-749C-DF4B-0EB1-09D26CF743C1}"/>
              </a:ext>
            </a:extLst>
          </p:cNvPr>
          <p:cNvSpPr txBox="1">
            <a:spLocks/>
          </p:cNvSpPr>
          <p:nvPr/>
        </p:nvSpPr>
        <p:spPr>
          <a:xfrm>
            <a:off x="575618" y="5184983"/>
            <a:ext cx="1973802" cy="949117"/>
          </a:xfrm>
          <a:prstGeom prst="rect">
            <a:avLst/>
          </a:prstGeom>
        </p:spPr>
        <p:txBody>
          <a:bodyPr vert="horz" lIns="91440" tIns="45720" rIns="91440" bIns="45720" rtlCol="0" anchor="ctr" anchorCtr="0">
            <a:normAutofit/>
          </a:bodyPr>
          <a:lstStyle>
            <a:lvl1pPr marL="0" indent="0" algn="l" defTabSz="914400" rtl="0" eaLnBrk="1" latinLnBrk="0" hangingPunct="1">
              <a:lnSpc>
                <a:spcPct val="100000"/>
              </a:lnSpc>
              <a:spcBef>
                <a:spcPts val="1000"/>
              </a:spcBef>
              <a:buFont typeface="Arial" panose="020B0604020202020204" pitchFamily="34" charset="0"/>
              <a:buNone/>
              <a:defRPr sz="12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500" b="1" dirty="0">
                <a:latin typeface="微软雅黑" panose="020B0503020204020204" charset="-122"/>
              </a:rPr>
              <a:t>爱</a:t>
            </a:r>
            <a:r>
              <a:rPr lang="zh-CN" altLang="en-US" sz="1500" b="1">
                <a:latin typeface="微软雅黑" panose="020B0503020204020204" charset="-122"/>
              </a:rPr>
              <a:t>如潮水队</a:t>
            </a:r>
            <a:endParaRPr lang="en-US" altLang="zh-CN" sz="1500" b="1" dirty="0">
              <a:latin typeface="微软雅黑" panose="020B0503020204020204" charset="-122"/>
            </a:endParaRPr>
          </a:p>
          <a:p>
            <a:r>
              <a:rPr lang="zh-CN" altLang="en-US" dirty="0">
                <a:latin typeface="微软雅黑" panose="020B0503020204020204" charset="-122"/>
              </a:rPr>
              <a:t>队长：</a:t>
            </a:r>
            <a:r>
              <a:rPr lang="zh-CN" altLang="en-US" b="1" dirty="0">
                <a:latin typeface="微软雅黑" panose="020B0503020204020204" charset="-122"/>
              </a:rPr>
              <a:t>庄子由</a:t>
            </a:r>
            <a:endParaRPr lang="en-US" altLang="zh-CN" b="1" dirty="0">
              <a:latin typeface="微软雅黑" panose="020B0503020204020204" charset="-122"/>
            </a:endParaRPr>
          </a:p>
          <a:p>
            <a:r>
              <a:rPr lang="zh-CN" altLang="en-US" dirty="0">
                <a:latin typeface="微软雅黑" panose="020B0503020204020204" charset="-122"/>
              </a:rPr>
              <a:t>队员：</a:t>
            </a:r>
            <a:r>
              <a:rPr lang="zh-CN" altLang="en-US" b="1" dirty="0">
                <a:latin typeface="微软雅黑" panose="020B0503020204020204" charset="-122"/>
              </a:rPr>
              <a:t>曹玉霖</a:t>
            </a:r>
            <a:endParaRPr lang="en-US" b="1" dirty="0">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2" name="4caed9d6-c0d5-402d-a13c-963d60d56e8c.source.6.zh-Hans.pptx" descr="3c0fbf4c-551c-467d-b318-580a8db238c4"/>
          <p:cNvGrpSpPr/>
          <p:nvPr>
            <p:custDataLst>
              <p:tags r:id="rId1"/>
            </p:custDataLst>
          </p:nvPr>
        </p:nvGrpSpPr>
        <p:grpSpPr>
          <a:xfrm>
            <a:off x="0" y="1130300"/>
            <a:ext cx="12192000" cy="4597399"/>
            <a:chOff x="0" y="1130300"/>
            <a:chExt cx="12192000" cy="4597399"/>
          </a:xfrm>
        </p:grpSpPr>
        <p:sp>
          <p:nvSpPr>
            <p:cNvPr id="1048681" name="矩形 1" descr="64015635-7d89-4f5f-b26a-71ebb6dd24fd"/>
            <p:cNvSpPr>
              <a:spLocks noChangeAspect="1"/>
            </p:cNvSpPr>
            <p:nvPr>
              <p:custDataLst>
                <p:tags r:id="rId2"/>
              </p:custDataLst>
            </p:nvPr>
          </p:nvSpPr>
          <p:spPr>
            <a:xfrm>
              <a:off x="0" y="3406786"/>
              <a:ext cx="12192000" cy="1076060"/>
            </a:xfrm>
            <a:prstGeom prst="rect">
              <a:avLst/>
            </a:prstGeom>
            <a:solidFill>
              <a:schemeClr val="accent1">
                <a:alpha val="1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l"/>
              <a:endParaRPr/>
            </a:p>
          </p:txBody>
        </p:sp>
        <p:cxnSp>
          <p:nvCxnSpPr>
            <p:cNvPr id="3145731" name="直接箭头连接符 82" descr="5fd19ff9-7d92-4558-aede-d2de8fa2a740"/>
            <p:cNvCxnSpPr/>
            <p:nvPr>
              <p:custDataLst>
                <p:tags r:id="rId3"/>
              </p:custDataLst>
            </p:nvPr>
          </p:nvCxnSpPr>
          <p:spPr>
            <a:xfrm>
              <a:off x="660400" y="3944816"/>
              <a:ext cx="10858500" cy="0"/>
            </a:xfrm>
            <a:prstGeom prst="straightConnector1">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nvGrpSpPr>
            <p:cNvPr id="83" name="组合 2" descr="b7b4a7cd-9ce9-4f30-88b1-205d1db60a87"/>
            <p:cNvGrpSpPr/>
            <p:nvPr/>
          </p:nvGrpSpPr>
          <p:grpSpPr>
            <a:xfrm>
              <a:off x="323215" y="3650127"/>
              <a:ext cx="2451735" cy="1785384"/>
              <a:chOff x="323215" y="3650127"/>
              <a:chExt cx="2451735" cy="1785384"/>
            </a:xfrm>
          </p:grpSpPr>
          <p:sp>
            <p:nvSpPr>
              <p:cNvPr id="1048682" name="Number1" descr="5258aaef-626b-4cae-b2eb-2fa2468cabf3"/>
              <p:cNvSpPr/>
              <p:nvPr>
                <p:custDataLst>
                  <p:tags r:id="rId19"/>
                </p:custDataLst>
              </p:nvPr>
            </p:nvSpPr>
            <p:spPr>
              <a:xfrm>
                <a:off x="1411803"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01</a:t>
                </a:r>
              </a:p>
            </p:txBody>
          </p:sp>
          <p:grpSp>
            <p:nvGrpSpPr>
              <p:cNvPr id="84" name="组合 55" descr="ff84165b-eb97-47de-b0ae-56fb60386ba9"/>
              <p:cNvGrpSpPr/>
              <p:nvPr/>
            </p:nvGrpSpPr>
            <p:grpSpPr>
              <a:xfrm>
                <a:off x="323215" y="4236631"/>
                <a:ext cx="2451735" cy="1198880"/>
                <a:chOff x="1562967" y="4601292"/>
                <a:chExt cx="2451735" cy="1198880"/>
              </a:xfrm>
            </p:grpSpPr>
            <p:sp>
              <p:nvSpPr>
                <p:cNvPr id="1048683" name="Bullet1" descr="828f1d9d-c6a7-4e62-a925-ab88789805eb"/>
                <p:cNvSpPr txBox="1"/>
                <p:nvPr>
                  <p:custDataLst>
                    <p:tags r:id="rId20"/>
                  </p:custDataLst>
                </p:nvPr>
              </p:nvSpPr>
              <p:spPr>
                <a:xfrm>
                  <a:off x="1562967" y="5090877"/>
                  <a:ext cx="2451735" cy="709295"/>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项目</a:t>
                  </a:r>
                  <a:r>
                    <a:rPr lang="zh-CN" altLang="en-US" sz="1800" b="1" i="0" u="none" strike="noStrike">
                      <a:solidFill>
                        <a:srgbClr val="000000"/>
                      </a:solidFill>
                      <a:ea typeface="微软雅黑" panose="020B0503020204020204" charset="-122"/>
                    </a:rPr>
                    <a:t>案例分析</a:t>
                  </a:r>
                </a:p>
              </p:txBody>
            </p:sp>
            <p:cxnSp>
              <p:nvCxnSpPr>
                <p:cNvPr id="3145732" name="直接连接符 80" descr="8eb73fe2-0dfc-456f-a6b7-4cd60604ad09"/>
                <p:cNvCxnSpPr/>
                <p:nvPr>
                  <p:custDataLst>
                    <p:tags r:id="rId21"/>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5" name="组合 3" descr="8d6e3071-a8c6-4944-8441-0ef9f0b56fd2"/>
            <p:cNvGrpSpPr/>
            <p:nvPr/>
          </p:nvGrpSpPr>
          <p:grpSpPr>
            <a:xfrm>
              <a:off x="2327623" y="2441361"/>
              <a:ext cx="2108228" cy="1795270"/>
              <a:chOff x="2327623" y="2441361"/>
              <a:chExt cx="2108228" cy="1795270"/>
            </a:xfrm>
          </p:grpSpPr>
          <p:sp>
            <p:nvSpPr>
              <p:cNvPr id="1048684" name="Number2" descr="5252303d-ebe7-46de-9867-e80854accd3c"/>
              <p:cNvSpPr/>
              <p:nvPr>
                <p:custDataLst>
                  <p:tags r:id="rId16"/>
                </p:custDataLst>
              </p:nvPr>
            </p:nvSpPr>
            <p:spPr>
              <a:xfrm>
                <a:off x="3088485"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02</a:t>
                </a:r>
              </a:p>
            </p:txBody>
          </p:sp>
          <p:grpSp>
            <p:nvGrpSpPr>
              <p:cNvPr id="86" name="组合 64" descr="ce968289-9594-49d6-bbd5-fa746dbd1eac"/>
              <p:cNvGrpSpPr/>
              <p:nvPr/>
            </p:nvGrpSpPr>
            <p:grpSpPr>
              <a:xfrm>
                <a:off x="2327623" y="2441361"/>
                <a:ext cx="2108228" cy="1205891"/>
                <a:chOff x="1900152" y="5316110"/>
                <a:chExt cx="2108228" cy="1205891"/>
              </a:xfrm>
            </p:grpSpPr>
            <p:sp>
              <p:nvSpPr>
                <p:cNvPr id="1048685" name="Bullet2" descr="d31189ab-967e-43a2-ac07-d1d8984a2a66"/>
                <p:cNvSpPr txBox="1"/>
                <p:nvPr>
                  <p:custDataLst>
                    <p:tags r:id="rId17"/>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技术架构</a:t>
                  </a:r>
                </a:p>
              </p:txBody>
            </p:sp>
            <p:cxnSp>
              <p:nvCxnSpPr>
                <p:cNvPr id="3145733" name="直接连接符 71" descr="533763b4-7286-4ee1-9132-868d64fa395c"/>
                <p:cNvCxnSpPr/>
                <p:nvPr>
                  <p:custDataLst>
                    <p:tags r:id="rId18"/>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sp>
          <p:nvSpPr>
            <p:cNvPr id="1048686" name="Title" descr="393a71e6-f234-4068-aa93-d626d59117c0"/>
            <p:cNvSpPr>
              <a:spLocks noChangeAspect="1"/>
            </p:cNvSpPr>
            <p:nvPr/>
          </p:nvSpPr>
          <p:spPr>
            <a:xfrm>
              <a:off x="666750" y="1130300"/>
              <a:ext cx="10858500" cy="10029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ctr"/>
              <a:endParaRPr lang="en-US" sz="4800" b="1" i="0" u="none">
                <a:solidFill>
                  <a:srgbClr val="000000"/>
                </a:solidFill>
                <a:latin typeface="Arial" panose="020B0604020202020204"/>
              </a:endParaRPr>
            </a:p>
          </p:txBody>
        </p:sp>
        <p:grpSp>
          <p:nvGrpSpPr>
            <p:cNvPr id="87" name="组合 4" descr="3d7d760a-0294-45c3-a383-2b2d508a22f3"/>
            <p:cNvGrpSpPr/>
            <p:nvPr/>
          </p:nvGrpSpPr>
          <p:grpSpPr>
            <a:xfrm>
              <a:off x="3987772" y="3650127"/>
              <a:ext cx="2108228" cy="1785484"/>
              <a:chOff x="3987772" y="3650127"/>
              <a:chExt cx="2108228" cy="1785484"/>
            </a:xfrm>
          </p:grpSpPr>
          <p:sp>
            <p:nvSpPr>
              <p:cNvPr id="1048687" name="Number3" descr="0d21d066-47c2-454b-b1ea-30bd1750ac1d"/>
              <p:cNvSpPr/>
              <p:nvPr>
                <p:custDataLst>
                  <p:tags r:id="rId13"/>
                </p:custDataLst>
              </p:nvPr>
            </p:nvSpPr>
            <p:spPr>
              <a:xfrm>
                <a:off x="4765167"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03</a:t>
                </a:r>
              </a:p>
            </p:txBody>
          </p:sp>
          <p:grpSp>
            <p:nvGrpSpPr>
              <p:cNvPr id="88" name="组合 90" descr="d6d73d91-a778-4efd-8b62-79e1ba2744e4"/>
              <p:cNvGrpSpPr/>
              <p:nvPr/>
            </p:nvGrpSpPr>
            <p:grpSpPr>
              <a:xfrm>
                <a:off x="3987772" y="4236631"/>
                <a:ext cx="2108228" cy="1198980"/>
                <a:chOff x="1906502" y="4601292"/>
                <a:chExt cx="2108228" cy="1198980"/>
              </a:xfrm>
            </p:grpSpPr>
            <p:sp>
              <p:nvSpPr>
                <p:cNvPr id="1048688" name="Bullet3" descr="6888a6cd-ab45-4c05-86e7-9a89a6d60817"/>
                <p:cNvSpPr txBox="1"/>
                <p:nvPr>
                  <p:custDataLst>
                    <p:tags r:id="rId14"/>
                  </p:custDataLst>
                </p:nvPr>
              </p:nvSpPr>
              <p:spPr>
                <a:xfrm>
                  <a:off x="1906502" y="5090848"/>
                  <a:ext cx="2108228" cy="709424"/>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数学原理</a:t>
                  </a:r>
                </a:p>
              </p:txBody>
            </p:sp>
            <p:cxnSp>
              <p:nvCxnSpPr>
                <p:cNvPr id="3145734" name="直接连接符 93" descr="c4d1ac2a-d33a-439f-be98-d0a9fb88508b"/>
                <p:cNvCxnSpPr/>
                <p:nvPr>
                  <p:custDataLst>
                    <p:tags r:id="rId15"/>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9" name="组合 5" descr="7b6030fe-dbb8-4174-a6cc-fac8c26aede8"/>
            <p:cNvGrpSpPr/>
            <p:nvPr/>
          </p:nvGrpSpPr>
          <p:grpSpPr>
            <a:xfrm>
              <a:off x="5680987" y="2441361"/>
              <a:ext cx="2108228" cy="1795270"/>
              <a:chOff x="5680987" y="2441361"/>
              <a:chExt cx="2108228" cy="1795270"/>
            </a:xfrm>
          </p:grpSpPr>
          <p:sp>
            <p:nvSpPr>
              <p:cNvPr id="1048689" name="Number4" descr="db58e591-5573-43e3-a843-d12ddf4441db"/>
              <p:cNvSpPr/>
              <p:nvPr>
                <p:custDataLst>
                  <p:tags r:id="rId10"/>
                </p:custDataLst>
              </p:nvPr>
            </p:nvSpPr>
            <p:spPr>
              <a:xfrm>
                <a:off x="6441849"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04</a:t>
                </a:r>
              </a:p>
            </p:txBody>
          </p:sp>
          <p:grpSp>
            <p:nvGrpSpPr>
              <p:cNvPr id="90" name="组合 94" descr="00b489df-334f-4645-aa39-1b0d5feaec40"/>
              <p:cNvGrpSpPr/>
              <p:nvPr/>
            </p:nvGrpSpPr>
            <p:grpSpPr>
              <a:xfrm>
                <a:off x="5680987" y="2441361"/>
                <a:ext cx="2108228" cy="1205891"/>
                <a:chOff x="1900152" y="5316110"/>
                <a:chExt cx="2108228" cy="1205891"/>
              </a:xfrm>
            </p:grpSpPr>
            <p:sp>
              <p:nvSpPr>
                <p:cNvPr id="1048690" name="Bullet4" descr="8c38d45e-c971-4f68-bee4-2e3790b89743"/>
                <p:cNvSpPr txBox="1"/>
                <p:nvPr>
                  <p:custDataLst>
                    <p:tags r:id="rId11"/>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社区应用场景</a:t>
                  </a:r>
                </a:p>
              </p:txBody>
            </p:sp>
            <p:cxnSp>
              <p:nvCxnSpPr>
                <p:cNvPr id="3145735" name="直接连接符 97" descr="7eb4af13-1d6e-4833-97c3-ca6ea10c1836"/>
                <p:cNvCxnSpPr/>
                <p:nvPr>
                  <p:custDataLst>
                    <p:tags r:id="rId12"/>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1" name="组合 6" descr="6bc809fb-05ad-498f-82e5-1fc4a89c6b17"/>
            <p:cNvGrpSpPr/>
            <p:nvPr/>
          </p:nvGrpSpPr>
          <p:grpSpPr>
            <a:xfrm>
              <a:off x="7133534" y="3650127"/>
              <a:ext cx="2428304" cy="2077572"/>
              <a:chOff x="7133534" y="3650127"/>
              <a:chExt cx="2428304" cy="2077572"/>
            </a:xfrm>
          </p:grpSpPr>
          <p:sp>
            <p:nvSpPr>
              <p:cNvPr id="1048691" name="Number5" descr="7acfe438-9c3a-4843-a223-e19018d50aa0"/>
              <p:cNvSpPr/>
              <p:nvPr>
                <p:custDataLst>
                  <p:tags r:id="rId7"/>
                </p:custDataLst>
              </p:nvPr>
            </p:nvSpPr>
            <p:spPr>
              <a:xfrm>
                <a:off x="8118531" y="3650127"/>
                <a:ext cx="586504" cy="586504"/>
              </a:xfrm>
              <a:prstGeom prst="ellipse">
                <a:avLst/>
              </a:prstGeom>
              <a:gradFill flip="none" rotWithShape="1">
                <a:gsLst>
                  <a:gs pos="0">
                    <a:schemeClr val="accent1">
                      <a:lumMod val="60000"/>
                      <a:lumOff val="40000"/>
                    </a:schemeClr>
                  </a:gs>
                  <a:gs pos="75000">
                    <a:schemeClr val="accent1"/>
                  </a:gs>
                </a:gsLst>
                <a:lin ang="27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normAutofit/>
              </a:bodyPr>
              <a:lstStyle/>
              <a:p>
                <a:pPr algn="ctr"/>
                <a:r>
                  <a:rPr lang="en-US" sz="1800" b="1" i="0" u="none">
                    <a:solidFill>
                      <a:srgbClr val="FFFFFF"/>
                    </a:solidFill>
                    <a:latin typeface="Arial" panose="020B0604020202020204"/>
                  </a:rPr>
                  <a:t>05</a:t>
                </a:r>
              </a:p>
            </p:txBody>
          </p:sp>
          <p:grpSp>
            <p:nvGrpSpPr>
              <p:cNvPr id="92" name="组合 98" descr="2a2e505d-ff8d-4721-9f70-85a70518a5c1"/>
              <p:cNvGrpSpPr/>
              <p:nvPr/>
            </p:nvGrpSpPr>
            <p:grpSpPr>
              <a:xfrm>
                <a:off x="7133534" y="4236631"/>
                <a:ext cx="2428304" cy="1491068"/>
                <a:chOff x="1676017" y="4601292"/>
                <a:chExt cx="2428304" cy="1491068"/>
              </a:xfrm>
            </p:grpSpPr>
            <p:sp>
              <p:nvSpPr>
                <p:cNvPr id="1048692" name="Bullet5" descr="8c7953b6-fb7a-4ea9-9af6-3702dce452ca"/>
                <p:cNvSpPr txBox="1"/>
                <p:nvPr>
                  <p:custDataLst>
                    <p:tags r:id="rId8"/>
                  </p:custDataLst>
                </p:nvPr>
              </p:nvSpPr>
              <p:spPr>
                <a:xfrm>
                  <a:off x="1676017" y="5090847"/>
                  <a:ext cx="2428304" cy="1001513"/>
                </a:xfrm>
                <a:prstGeom prst="rect">
                  <a:avLst/>
                </a:prstGeom>
                <a:noFill/>
                <a:ln>
                  <a:noFill/>
                </a:ln>
              </p:spPr>
              <p:txBody>
                <a:bodyPr wrap="square" lIns="91440" tIns="45720" rIns="91440" bIns="45720" anchor="t" anchorCtr="0">
                  <a:normAutofit/>
                </a:bodyPr>
                <a:lstStyle/>
                <a:p>
                  <a:pPr algn="ctr">
                    <a:spcBef>
                      <a:spcPct val="0"/>
                    </a:spcBef>
                    <a:spcAft>
                      <a:spcPct val="0"/>
                    </a:spcAft>
                  </a:pPr>
                  <a:r>
                    <a:rPr lang="zh-CN" altLang="en-US" b="1" dirty="0"/>
                    <a:t>系统实现与运行验证</a:t>
                  </a:r>
                  <a:endParaRPr lang="en-US" altLang="zh-CN" b="1" dirty="0"/>
                </a:p>
                <a:p>
                  <a:pPr algn="ctr">
                    <a:spcBef>
                      <a:spcPct val="0"/>
                    </a:spcBef>
                    <a:spcAft>
                      <a:spcPct val="0"/>
                    </a:spcAft>
                  </a:pPr>
                  <a:r>
                    <a:rPr lang="en-US" altLang="zh-CN" b="1" dirty="0"/>
                    <a:t>&amp;</a:t>
                  </a:r>
                </a:p>
                <a:p>
                  <a:pPr algn="ctr">
                    <a:spcBef>
                      <a:spcPct val="0"/>
                    </a:spcBef>
                    <a:spcAft>
                      <a:spcPct val="0"/>
                    </a:spcAft>
                  </a:pPr>
                  <a:r>
                    <a:rPr lang="zh-CN" altLang="en-US" sz="1800" b="1" i="0" u="none" strike="noStrike" dirty="0">
                      <a:solidFill>
                        <a:srgbClr val="000000"/>
                      </a:solidFill>
                      <a:ea typeface="微软雅黑" panose="020B0503020204020204" charset="-122"/>
                    </a:rPr>
                    <a:t>项目展示</a:t>
                  </a:r>
                  <a:endParaRPr lang="en-US" sz="1800" b="1" i="0" u="none" strike="noStrike" dirty="0">
                    <a:solidFill>
                      <a:srgbClr val="000000"/>
                    </a:solidFill>
                    <a:ea typeface="微软雅黑" panose="020B0503020204020204" charset="-122"/>
                  </a:endParaRPr>
                </a:p>
              </p:txBody>
            </p:sp>
            <p:cxnSp>
              <p:nvCxnSpPr>
                <p:cNvPr id="3145736" name="直接连接符 101" descr="a80f89a8-3f57-463b-9085-72182965b3cd"/>
                <p:cNvCxnSpPr/>
                <p:nvPr>
                  <p:custDataLst>
                    <p:tags r:id="rId9"/>
                  </p:custDataLst>
                </p:nvPr>
              </p:nvCxnSpPr>
              <p:spPr>
                <a:xfrm>
                  <a:off x="2954266" y="4601292"/>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3" name="组合 7" descr="cd8bb8a9-11ea-4dff-bbba-6afd03eeaa89"/>
            <p:cNvGrpSpPr/>
            <p:nvPr/>
          </p:nvGrpSpPr>
          <p:grpSpPr>
            <a:xfrm>
              <a:off x="9034351" y="2441361"/>
              <a:ext cx="2108228" cy="1795270"/>
              <a:chOff x="9034351" y="2441361"/>
              <a:chExt cx="2108228" cy="1795270"/>
            </a:xfrm>
          </p:grpSpPr>
          <p:sp>
            <p:nvSpPr>
              <p:cNvPr id="1048693" name="Number6" descr="c93b93d3-6ff1-4344-a19f-50d20e97d7cf"/>
              <p:cNvSpPr/>
              <p:nvPr>
                <p:custDataLst>
                  <p:tags r:id="rId4"/>
                </p:custDataLst>
              </p:nvPr>
            </p:nvSpPr>
            <p:spPr>
              <a:xfrm>
                <a:off x="9795213" y="3650127"/>
                <a:ext cx="586504" cy="586504"/>
              </a:xfrm>
              <a:prstGeom prst="ellipse">
                <a:avLst/>
              </a:prstGeom>
              <a:gradFill flip="none" rotWithShape="1">
                <a:gsLst>
                  <a:gs pos="0">
                    <a:schemeClr val="accent2">
                      <a:lumMod val="60000"/>
                      <a:lumOff val="40000"/>
                    </a:schemeClr>
                  </a:gs>
                  <a:gs pos="75000">
                    <a:schemeClr val="accent2"/>
                  </a:gs>
                </a:gsLst>
                <a:lin ang="27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0"/>
              <a:lstStyle/>
              <a:p>
                <a:pPr algn="ctr"/>
                <a:r>
                  <a:rPr lang="en-US" sz="2000" b="1" i="0" u="none">
                    <a:solidFill>
                      <a:srgbClr val="FFFFFF"/>
                    </a:solidFill>
                    <a:latin typeface="Arial" panose="020B0604020202020204"/>
                  </a:rPr>
                  <a:t>06</a:t>
                </a:r>
              </a:p>
            </p:txBody>
          </p:sp>
          <p:grpSp>
            <p:nvGrpSpPr>
              <p:cNvPr id="94" name="组合 106" descr="f39782c7-ac70-4c36-964e-597f48bf0cc7"/>
              <p:cNvGrpSpPr/>
              <p:nvPr/>
            </p:nvGrpSpPr>
            <p:grpSpPr>
              <a:xfrm>
                <a:off x="9034351" y="2441361"/>
                <a:ext cx="2108228" cy="1205891"/>
                <a:chOff x="1900152" y="5316110"/>
                <a:chExt cx="2108228" cy="1205891"/>
              </a:xfrm>
            </p:grpSpPr>
            <p:sp>
              <p:nvSpPr>
                <p:cNvPr id="1048694" name="Bullet6" descr="4c27300d-5088-4def-ba30-606f9730613a"/>
                <p:cNvSpPr txBox="1"/>
                <p:nvPr>
                  <p:custDataLst>
                    <p:tags r:id="rId5"/>
                  </p:custDataLst>
                </p:nvPr>
              </p:nvSpPr>
              <p:spPr>
                <a:xfrm>
                  <a:off x="1900152" y="5316110"/>
                  <a:ext cx="2108228" cy="709424"/>
                </a:xfrm>
                <a:prstGeom prst="rect">
                  <a:avLst/>
                </a:prstGeom>
                <a:noFill/>
                <a:ln>
                  <a:noFill/>
                </a:ln>
              </p:spPr>
              <p:txBody>
                <a:bodyPr wrap="square" lIns="91440" tIns="45720" rIns="91440" bIns="45720" anchor="b" anchorCtr="0">
                  <a:normAutofit/>
                </a:bodyPr>
                <a:lstStyle/>
                <a:p>
                  <a:pPr algn="l">
                    <a:spcBef>
                      <a:spcPct val="0"/>
                    </a:spcBef>
                    <a:spcAft>
                      <a:spcPct val="0"/>
                    </a:spcAft>
                  </a:pPr>
                  <a:r>
                    <a:rPr lang="en-US" sz="1800" b="1" i="0" u="none" strike="noStrike">
                      <a:solidFill>
                        <a:srgbClr val="000000"/>
                      </a:solidFill>
                      <a:ea typeface="微软雅黑" panose="020B0503020204020204" charset="-122"/>
                    </a:rPr>
                    <a:t>总结与展望</a:t>
                  </a:r>
                </a:p>
              </p:txBody>
            </p:sp>
            <p:cxnSp>
              <p:nvCxnSpPr>
                <p:cNvPr id="3145737" name="直接连接符 109" descr="c4489d52-d6de-418b-a834-c4ac4069d7a1"/>
                <p:cNvCxnSpPr/>
                <p:nvPr>
                  <p:custDataLst>
                    <p:tags r:id="rId6"/>
                  </p:custDataLst>
                </p:nvPr>
              </p:nvCxnSpPr>
              <p:spPr>
                <a:xfrm flipV="1">
                  <a:off x="2954266" y="6134100"/>
                  <a:ext cx="0" cy="387901"/>
                </a:xfrm>
                <a:prstGeom prst="line">
                  <a:avLst/>
                </a:prstGeom>
                <a:ln>
                  <a:gradFill>
                    <a:gsLst>
                      <a:gs pos="0">
                        <a:schemeClr val="accent1">
                          <a:alpha val="0"/>
                        </a:schemeClr>
                      </a:gs>
                      <a:gs pos="100000">
                        <a:schemeClr val="accent1"/>
                      </a:gs>
                    </a:gsLst>
                    <a:lin ang="0" scaled="0"/>
                  </a:gradFill>
                  <a:tailEnd type="triangle"/>
                </a:ln>
              </p:spPr>
              <p:style>
                <a:lnRef idx="1">
                  <a:schemeClr val="accent1"/>
                </a:lnRef>
                <a:fillRef idx="0">
                  <a:schemeClr val="accent1"/>
                </a:fillRef>
                <a:effectRef idx="0">
                  <a:schemeClr val="accent1"/>
                </a:effectRef>
                <a:fontRef idx="minor">
                  <a:schemeClr val="tx1"/>
                </a:fontRef>
              </p:style>
            </p:cxnSp>
          </p:grpSp>
        </p:grpSp>
      </p:grpSp>
      <p:sp>
        <p:nvSpPr>
          <p:cNvPr id="1048695" name="标题 1048694"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标题 1048695"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项目</a:t>
            </a:r>
            <a:r>
              <a:rPr lang="zh-CN" altLang="en-US" sz="3200" b="1" i="0" u="none">
                <a:solidFill>
                  <a:srgbClr val="684E93"/>
                </a:solidFill>
                <a:ea typeface="微软雅黑" panose="020B0503020204020204" charset="-122"/>
              </a:rPr>
              <a:t>案例分析</a:t>
            </a:r>
          </a:p>
        </p:txBody>
      </p:sp>
      <p:sp>
        <p:nvSpPr>
          <p:cNvPr id="1048697" name="文本占位符 1048696"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介绍项目背景、核心目标与创新价值</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1</a:t>
            </a:r>
            <a:r>
              <a:rPr lang="zh-CN" altLang="en-US" sz="2800" b="1" i="0" u="none">
                <a:solidFill>
                  <a:srgbClr val="000000"/>
                </a:solidFill>
                <a:ea typeface="微软雅黑" panose="020B0503020204020204" charset="-122"/>
              </a:rPr>
              <a:t>：精准人才猎寻与留存预测</a:t>
            </a:r>
          </a:p>
        </p:txBody>
      </p:sp>
      <p:sp>
        <p:nvSpPr>
          <p:cNvPr id="3" name="文本框 2"/>
          <p:cNvSpPr txBox="1"/>
          <p:nvPr/>
        </p:nvSpPr>
        <p:spPr>
          <a:xfrm>
            <a:off x="587375" y="1219200"/>
            <a:ext cx="5097780" cy="3969385"/>
          </a:xfrm>
          <a:prstGeom prst="rect">
            <a:avLst/>
          </a:prstGeom>
          <a:noFill/>
        </p:spPr>
        <p:txBody>
          <a:bodyPr wrap="square" rtlCol="0">
            <a:spAutoFit/>
          </a:bodyPr>
          <a:lstStyle/>
          <a:p>
            <a:pPr indent="457200"/>
            <a:r>
              <a:rPr lang="zh-CN" altLang="en-US" dirty="0"/>
              <a:t>传统简历（</a:t>
            </a:r>
            <a:r>
              <a:rPr lang="en-US" altLang="zh-CN" dirty="0"/>
              <a:t>CV</a:t>
            </a:r>
            <a:r>
              <a:rPr lang="zh-CN" altLang="en-US" dirty="0"/>
              <a:t>）具有滞后性，无法反映开发者</a:t>
            </a:r>
            <a:r>
              <a:rPr lang="en-US" altLang="zh-CN" dirty="0"/>
              <a:t>“</a:t>
            </a:r>
            <a:r>
              <a:rPr lang="zh-CN" altLang="en-US" dirty="0"/>
              <a:t>现在的状态</a:t>
            </a:r>
            <a:r>
              <a:rPr lang="en-US" altLang="zh-CN" dirty="0"/>
              <a:t>”</a:t>
            </a:r>
            <a:r>
              <a:rPr lang="zh-CN" altLang="en-US" dirty="0"/>
              <a:t>和</a:t>
            </a:r>
            <a:r>
              <a:rPr lang="en-US" altLang="zh-CN" dirty="0"/>
              <a:t>“</a:t>
            </a:r>
            <a:r>
              <a:rPr lang="zh-CN" altLang="en-US" dirty="0"/>
              <a:t>未来的潜力</a:t>
            </a:r>
            <a:r>
              <a:rPr lang="en-US" altLang="zh-CN" dirty="0"/>
              <a:t>”</a:t>
            </a:r>
            <a:r>
              <a:rPr lang="zh-CN" altLang="en-US" dirty="0"/>
              <a:t>。据统计，</a:t>
            </a:r>
            <a:r>
              <a:rPr lang="en-US" altLang="zh-CN" dirty="0"/>
              <a:t>83% </a:t>
            </a:r>
            <a:r>
              <a:rPr lang="zh-CN" altLang="en-US" dirty="0"/>
              <a:t>的技术招聘经理认为</a:t>
            </a:r>
            <a:r>
              <a:rPr lang="en-US" altLang="zh-CN" dirty="0"/>
              <a:t> GitHub </a:t>
            </a:r>
            <a:r>
              <a:rPr lang="zh-CN" altLang="en-US" dirty="0"/>
              <a:t>概况比简历更可靠。</a:t>
            </a:r>
          </a:p>
          <a:p>
            <a:r>
              <a:rPr lang="en-US" altLang="zh-CN" dirty="0" err="1"/>
              <a:t>DevScope</a:t>
            </a:r>
            <a:r>
              <a:rPr lang="en-US" altLang="zh-CN" dirty="0"/>
              <a:t> </a:t>
            </a:r>
            <a:r>
              <a:rPr lang="zh-CN" altLang="en-US" dirty="0"/>
              <a:t>的</a:t>
            </a:r>
            <a:r>
              <a:rPr lang="en-US" altLang="zh-CN" dirty="0"/>
              <a:t>“</a:t>
            </a:r>
            <a:r>
              <a:rPr lang="zh-CN" altLang="en-US" dirty="0"/>
              <a:t>技术倾向性预测</a:t>
            </a:r>
            <a:r>
              <a:rPr lang="en-US" altLang="zh-CN" dirty="0"/>
              <a:t>”</a:t>
            </a:r>
            <a:r>
              <a:rPr lang="zh-CN" altLang="en-US" dirty="0"/>
              <a:t>能发现那些正在转型或在特定领域有潜力的候选人，而非仅仅看其过去做了什么。</a:t>
            </a:r>
          </a:p>
          <a:p>
            <a:pPr indent="457200"/>
            <a:r>
              <a:rPr lang="zh-CN" altLang="en-US" dirty="0"/>
              <a:t>许多顶级科技公司（如</a:t>
            </a:r>
            <a:r>
              <a:rPr lang="en-US" altLang="zh-CN" dirty="0"/>
              <a:t> Netflix</a:t>
            </a:r>
            <a:r>
              <a:rPr lang="zh-CN" altLang="en-US" dirty="0"/>
              <a:t>）已转向分析开发者的开源贡献模式来优化招聘。研究表明，在</a:t>
            </a:r>
            <a:r>
              <a:rPr lang="en-US" altLang="zh-CN" dirty="0"/>
              <a:t> GitHub </a:t>
            </a:r>
            <a:r>
              <a:rPr lang="zh-CN" altLang="en-US" dirty="0"/>
              <a:t>上每周保持</a:t>
            </a:r>
            <a:r>
              <a:rPr lang="en-US" altLang="zh-CN" dirty="0"/>
              <a:t> 3 </a:t>
            </a:r>
            <a:r>
              <a:rPr lang="zh-CN" altLang="en-US" dirty="0"/>
              <a:t>次以上活跃提交的开发者，入职后的</a:t>
            </a:r>
            <a:r>
              <a:rPr lang="en-US" altLang="zh-CN" dirty="0"/>
              <a:t>**</a:t>
            </a:r>
            <a:r>
              <a:rPr lang="zh-CN" altLang="en-US" dirty="0"/>
              <a:t>留存率高出</a:t>
            </a:r>
            <a:r>
              <a:rPr lang="en-US" altLang="zh-CN" dirty="0"/>
              <a:t> 68%</a:t>
            </a:r>
            <a:r>
              <a:rPr lang="zh-CN" altLang="en-US" dirty="0"/>
              <a:t>。</a:t>
            </a:r>
          </a:p>
          <a:p>
            <a:pPr indent="457200"/>
            <a:r>
              <a:rPr lang="en-US" altLang="zh-CN" dirty="0" err="1"/>
              <a:t>DevScope</a:t>
            </a:r>
            <a:r>
              <a:rPr lang="en-US" altLang="zh-CN" dirty="0"/>
              <a:t> </a:t>
            </a:r>
            <a:r>
              <a:rPr lang="zh-CN" altLang="en-US" dirty="0"/>
              <a:t>的</a:t>
            </a:r>
            <a:r>
              <a:rPr lang="en-US" altLang="zh-CN" dirty="0"/>
              <a:t> Weibull </a:t>
            </a:r>
            <a:r>
              <a:rPr lang="zh-CN" altLang="en-US" dirty="0"/>
              <a:t>分布模型可以量化这种</a:t>
            </a:r>
            <a:r>
              <a:rPr lang="en-US" altLang="zh-CN" dirty="0"/>
              <a:t>“</a:t>
            </a:r>
            <a:r>
              <a:rPr lang="zh-CN" altLang="en-US" dirty="0"/>
              <a:t>活跃持续性</a:t>
            </a:r>
            <a:r>
              <a:rPr lang="en-US" altLang="zh-CN" dirty="0"/>
              <a:t>”</a:t>
            </a:r>
            <a:r>
              <a:rPr lang="zh-CN" altLang="en-US" dirty="0"/>
              <a:t>，帮助招聘者判断：这位开发者下个月是否还有空？他最近的技术重心是否正在向我们的岗位靠近？</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5762307" y="1219200"/>
            <a:ext cx="6005830" cy="2114550"/>
          </a:xfrm>
          <a:prstGeom prst="rect">
            <a:avLst/>
          </a:prstGeom>
        </p:spPr>
      </p:pic>
      <p:sp>
        <p:nvSpPr>
          <p:cNvPr id="10" name="文本框 9">
            <a:extLst>
              <a:ext uri="{FF2B5EF4-FFF2-40B4-BE49-F238E27FC236}">
                <a16:creationId xmlns:a16="http://schemas.microsoft.com/office/drawing/2014/main" id="{8EDCB500-E933-468D-76D7-07A446DD53F0}"/>
              </a:ext>
            </a:extLst>
          </p:cNvPr>
          <p:cNvSpPr txBox="1"/>
          <p:nvPr/>
        </p:nvSpPr>
        <p:spPr>
          <a:xfrm>
            <a:off x="5854920" y="3333750"/>
            <a:ext cx="6346605" cy="523220"/>
          </a:xfrm>
          <a:prstGeom prst="rect">
            <a:avLst/>
          </a:prstGeom>
          <a:noFill/>
        </p:spPr>
        <p:txBody>
          <a:bodyPr wrap="square">
            <a:spAutoFit/>
          </a:bodyPr>
          <a:lstStyle/>
          <a:p>
            <a:r>
              <a:rPr lang="en-US" altLang="zh-CN" sz="1400" dirty="0">
                <a:hlinkClick r:id="rId3"/>
              </a:rPr>
              <a:t>Turning GitHub Activity Into Actionable Business Insights | by Debra Ray | Medium</a:t>
            </a:r>
            <a:endParaRPr lang="zh-CN" alt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2</a:t>
            </a:r>
            <a:r>
              <a:rPr lang="zh-CN" altLang="en-US" sz="2800" b="1" i="0" u="none">
                <a:solidFill>
                  <a:srgbClr val="000000"/>
                </a:solidFill>
                <a:ea typeface="微软雅黑" panose="020B0503020204020204" charset="-122"/>
              </a:rPr>
              <a:t>：开源社区的</a:t>
            </a:r>
            <a:r>
              <a:rPr lang="en-US" altLang="zh-CN" sz="2800" b="1" i="0" u="none">
                <a:solidFill>
                  <a:srgbClr val="000000"/>
                </a:solidFill>
                <a:ea typeface="微软雅黑" panose="020B0503020204020204" charset="-122"/>
              </a:rPr>
              <a:t>“</a:t>
            </a:r>
            <a:r>
              <a:rPr lang="zh-CN" altLang="en-US" sz="2800" b="1" i="0" u="none">
                <a:solidFill>
                  <a:srgbClr val="000000"/>
                </a:solidFill>
                <a:ea typeface="微软雅黑" panose="020B0503020204020204" charset="-122"/>
              </a:rPr>
              <a:t>流失预警</a:t>
            </a:r>
            <a:r>
              <a:rPr lang="en-US" altLang="zh-CN" sz="2800" b="1" i="0" u="none">
                <a:solidFill>
                  <a:srgbClr val="000000"/>
                </a:solidFill>
                <a:ea typeface="微软雅黑" panose="020B0503020204020204" charset="-122"/>
              </a:rPr>
              <a:t>”</a:t>
            </a:r>
            <a:r>
              <a:rPr lang="zh-CN" altLang="en-US" sz="2800" b="1" i="0" u="none">
                <a:solidFill>
                  <a:srgbClr val="000000"/>
                </a:solidFill>
                <a:ea typeface="微软雅黑" panose="020B0503020204020204" charset="-122"/>
              </a:rPr>
              <a:t>与维护者决策</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7" name="文本框 6"/>
          <p:cNvSpPr txBox="1"/>
          <p:nvPr/>
        </p:nvSpPr>
        <p:spPr>
          <a:xfrm>
            <a:off x="499745" y="1466215"/>
            <a:ext cx="5600700" cy="4083685"/>
          </a:xfrm>
          <a:prstGeom prst="rect">
            <a:avLst/>
          </a:prstGeom>
          <a:noFill/>
        </p:spPr>
        <p:txBody>
          <a:bodyPr wrap="square" rtlCol="0">
            <a:noAutofit/>
          </a:bodyPr>
          <a:lstStyle/>
          <a:p>
            <a:pPr indent="457200"/>
            <a:r>
              <a:rPr lang="zh-CN" altLang="en-US"/>
              <a:t>开源项目最大的风险是</a:t>
            </a:r>
            <a:r>
              <a:rPr lang="en-US" altLang="zh-CN"/>
              <a:t>“</a:t>
            </a:r>
            <a:r>
              <a:rPr lang="zh-CN" altLang="en-US"/>
              <a:t>开发者流失</a:t>
            </a:r>
            <a:r>
              <a:rPr lang="en-US" altLang="zh-CN"/>
              <a:t>”</a:t>
            </a:r>
            <a:r>
              <a:rPr lang="zh-CN" altLang="en-US"/>
              <a:t>。如果维护者能提前知道核心贡献者可能在未来</a:t>
            </a:r>
            <a:r>
              <a:rPr lang="en-US" altLang="zh-CN"/>
              <a:t> 30 </a:t>
            </a:r>
            <a:r>
              <a:rPr lang="zh-CN" altLang="en-US"/>
              <a:t>天变得不活跃，就能提前进行知识传递或招募新成员。</a:t>
            </a:r>
          </a:p>
          <a:p>
            <a:pPr indent="457200"/>
            <a:r>
              <a:rPr lang="en-US" altLang="zh-CN"/>
              <a:t>DevScope </a:t>
            </a:r>
            <a:r>
              <a:rPr lang="zh-CN" altLang="en-US"/>
              <a:t>的</a:t>
            </a:r>
            <a:r>
              <a:rPr lang="en-US" altLang="zh-CN"/>
              <a:t>“</a:t>
            </a:r>
            <a:r>
              <a:rPr lang="zh-CN" altLang="en-US"/>
              <a:t>未来</a:t>
            </a:r>
            <a:r>
              <a:rPr lang="en-US" altLang="zh-CN"/>
              <a:t> 30 </a:t>
            </a:r>
            <a:r>
              <a:rPr lang="zh-CN" altLang="en-US"/>
              <a:t>天活跃概率预测</a:t>
            </a:r>
            <a:r>
              <a:rPr lang="en-US" altLang="zh-CN"/>
              <a:t>”</a:t>
            </a:r>
            <a:r>
              <a:rPr lang="zh-CN" altLang="en-US"/>
              <a:t>直接解决了社区可持续性问题。</a:t>
            </a:r>
          </a:p>
          <a:p>
            <a:pPr indent="457200"/>
            <a:r>
              <a:rPr lang="en-US" altLang="zh-CN"/>
              <a:t>Linux </a:t>
            </a:r>
            <a:r>
              <a:rPr lang="zh-CN" altLang="en-US"/>
              <a:t>基金会的</a:t>
            </a:r>
            <a:r>
              <a:rPr lang="en-US" altLang="zh-CN"/>
              <a:t> CHAOSS </a:t>
            </a:r>
            <a:r>
              <a:rPr lang="zh-CN" altLang="en-US"/>
              <a:t>项目（社区健康分析开源软件）专门制定了</a:t>
            </a:r>
            <a:r>
              <a:rPr lang="en-US" altLang="zh-CN"/>
              <a:t>“</a:t>
            </a:r>
            <a:r>
              <a:rPr lang="zh-CN" altLang="en-US"/>
              <a:t>吸引力与留存</a:t>
            </a:r>
            <a:r>
              <a:rPr lang="en-US" altLang="zh-CN"/>
              <a:t>”</a:t>
            </a:r>
            <a:r>
              <a:rPr lang="zh-CN" altLang="en-US"/>
              <a:t>指标。学术研究（如</a:t>
            </a:r>
            <a:r>
              <a:rPr lang="en-US" altLang="zh-CN"/>
              <a:t> arXiv </a:t>
            </a:r>
            <a:r>
              <a:rPr lang="zh-CN" altLang="en-US"/>
              <a:t>上的共编辑网络分析）证明，通过分析开发者提交的时间间隔（</a:t>
            </a:r>
            <a:r>
              <a:rPr lang="en-US" altLang="zh-CN"/>
              <a:t>Burstiness</a:t>
            </a:r>
            <a:r>
              <a:rPr lang="zh-CN" altLang="en-US"/>
              <a:t>），可以有效地预测其</a:t>
            </a:r>
            <a:r>
              <a:rPr lang="en-US" altLang="zh-CN"/>
              <a:t>“</a:t>
            </a:r>
            <a:r>
              <a:rPr lang="zh-CN" altLang="en-US"/>
              <a:t>流失风险</a:t>
            </a:r>
            <a:r>
              <a:rPr lang="en-US" altLang="zh-CN"/>
              <a:t>”</a:t>
            </a:r>
            <a:r>
              <a:rPr lang="zh-CN" altLang="en-US"/>
              <a:t>。</a:t>
            </a:r>
          </a:p>
          <a:p>
            <a:pPr indent="457200"/>
            <a:r>
              <a:rPr lang="en-US" altLang="zh-CN"/>
              <a:t>DevScope </a:t>
            </a:r>
            <a:r>
              <a:rPr lang="zh-CN" altLang="en-US"/>
              <a:t>使用的</a:t>
            </a:r>
            <a:r>
              <a:rPr lang="en-US" altLang="zh-CN"/>
              <a:t> Weibull </a:t>
            </a:r>
            <a:r>
              <a:rPr lang="zh-CN" altLang="en-US"/>
              <a:t>分布和拉普拉斯平滑，正是为了处理这种</a:t>
            </a:r>
            <a:r>
              <a:rPr lang="en-US" altLang="zh-CN"/>
              <a:t>“</a:t>
            </a:r>
            <a:r>
              <a:rPr lang="zh-CN" altLang="en-US"/>
              <a:t>爆发性</a:t>
            </a:r>
            <a:r>
              <a:rPr lang="en-US" altLang="zh-CN"/>
              <a:t>”</a:t>
            </a:r>
            <a:r>
              <a:rPr lang="zh-CN" altLang="en-US"/>
              <a:t>行为，将复杂的数学模型转化为维护者看得懂的</a:t>
            </a:r>
            <a:r>
              <a:rPr lang="en-US" altLang="zh-CN"/>
              <a:t>“</a:t>
            </a:r>
            <a:r>
              <a:rPr lang="zh-CN" altLang="en-US"/>
              <a:t>健康预测报告</a:t>
            </a:r>
            <a:r>
              <a:rPr lang="en-US" altLang="zh-CN"/>
              <a:t>”</a:t>
            </a:r>
            <a:r>
              <a:rPr lang="zh-CN" altLang="en-US"/>
              <a:t>。</a:t>
            </a:r>
          </a:p>
          <a:p>
            <a:pPr indent="457200"/>
            <a:endParaRPr lang="zh-CN" altLang="en-US"/>
          </a:p>
        </p:txBody>
      </p:sp>
      <p:pic>
        <p:nvPicPr>
          <p:cNvPr id="2" name="图片 1"/>
          <p:cNvPicPr>
            <a:picLocks noChangeAspect="1"/>
          </p:cNvPicPr>
          <p:nvPr/>
        </p:nvPicPr>
        <p:blipFill>
          <a:blip r:embed="rId2"/>
          <a:stretch>
            <a:fillRect/>
          </a:stretch>
        </p:blipFill>
        <p:spPr>
          <a:xfrm>
            <a:off x="6022007" y="1285997"/>
            <a:ext cx="5830570" cy="3247390"/>
          </a:xfrm>
          <a:prstGeom prst="rect">
            <a:avLst/>
          </a:prstGeom>
        </p:spPr>
      </p:pic>
      <p:sp>
        <p:nvSpPr>
          <p:cNvPr id="6" name="文本框 5">
            <a:extLst>
              <a:ext uri="{FF2B5EF4-FFF2-40B4-BE49-F238E27FC236}">
                <a16:creationId xmlns:a16="http://schemas.microsoft.com/office/drawing/2014/main" id="{EBD24DA9-FC60-B88E-213D-39FC335F5D0B}"/>
              </a:ext>
            </a:extLst>
          </p:cNvPr>
          <p:cNvSpPr txBox="1"/>
          <p:nvPr/>
        </p:nvSpPr>
        <p:spPr>
          <a:xfrm>
            <a:off x="6074220" y="4644511"/>
            <a:ext cx="5864860" cy="430887"/>
          </a:xfrm>
          <a:prstGeom prst="rect">
            <a:avLst/>
          </a:prstGeom>
          <a:noFill/>
        </p:spPr>
        <p:txBody>
          <a:bodyPr wrap="square">
            <a:spAutoFit/>
          </a:bodyPr>
          <a:lstStyle/>
          <a:p>
            <a:r>
              <a:rPr lang="en-US" altLang="zh-CN" sz="1100" dirty="0">
                <a:hlinkClick r:id="rId3"/>
              </a:rPr>
              <a:t>If You Can't Measure It, You Can't Improve It: CHAOSS Project Creates Tools to Analyze Software Development and Measure Open Source Community Health - Linux Foundation</a:t>
            </a:r>
            <a:endParaRPr lang="zh-CN" alt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a:solidFill>
                  <a:srgbClr val="000000"/>
                </a:solidFill>
                <a:ea typeface="微软雅黑" panose="020B0503020204020204" charset="-122"/>
              </a:rPr>
              <a:t>案例</a:t>
            </a:r>
            <a:r>
              <a:rPr lang="en-US" altLang="zh-CN" sz="2800" b="1" i="0" u="none">
                <a:solidFill>
                  <a:srgbClr val="000000"/>
                </a:solidFill>
                <a:ea typeface="微软雅黑" panose="020B0503020204020204" charset="-122"/>
              </a:rPr>
              <a:t>3</a:t>
            </a:r>
            <a:r>
              <a:rPr lang="zh-CN" altLang="en-US" sz="2800" b="1" i="0" u="none">
                <a:solidFill>
                  <a:srgbClr val="000000"/>
                </a:solidFill>
                <a:ea typeface="微软雅黑" panose="020B0503020204020204" charset="-122"/>
              </a:rPr>
              <a:t>：企业竞争情报与技术栈演进分析</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文本框 2"/>
          <p:cNvSpPr txBox="1"/>
          <p:nvPr/>
        </p:nvSpPr>
        <p:spPr>
          <a:xfrm>
            <a:off x="386715" y="1320165"/>
            <a:ext cx="5361940" cy="4246245"/>
          </a:xfrm>
          <a:prstGeom prst="rect">
            <a:avLst/>
          </a:prstGeom>
          <a:noFill/>
        </p:spPr>
        <p:txBody>
          <a:bodyPr wrap="square" rtlCol="0">
            <a:spAutoFit/>
          </a:bodyPr>
          <a:lstStyle/>
          <a:p>
            <a:pPr indent="457200"/>
            <a:r>
              <a:rPr lang="zh-CN" altLang="en-US"/>
              <a:t>企业需要监控竞争对手或市场中的开发者都在往哪个技术方向</a:t>
            </a:r>
            <a:r>
              <a:rPr lang="en-US" altLang="zh-CN"/>
              <a:t>“</a:t>
            </a:r>
            <a:r>
              <a:rPr lang="zh-CN" altLang="en-US"/>
              <a:t>扎堆</a:t>
            </a:r>
            <a:r>
              <a:rPr lang="en-US" altLang="zh-CN"/>
              <a:t>”</a:t>
            </a:r>
            <a:r>
              <a:rPr lang="zh-CN" altLang="en-US"/>
              <a:t>，以便调整自己的技术选型或投融资决策。</a:t>
            </a:r>
          </a:p>
          <a:p>
            <a:pPr indent="457200"/>
            <a:r>
              <a:rPr lang="en-US" altLang="zh-CN"/>
              <a:t>DevScope </a:t>
            </a:r>
            <a:r>
              <a:rPr lang="zh-CN" altLang="en-US"/>
              <a:t>的</a:t>
            </a:r>
            <a:r>
              <a:rPr lang="en-US" altLang="zh-CN"/>
              <a:t>“</a:t>
            </a:r>
            <a:r>
              <a:rPr lang="zh-CN" altLang="en-US"/>
              <a:t>技术关系引力图</a:t>
            </a:r>
            <a:r>
              <a:rPr lang="en-US" altLang="zh-CN"/>
              <a:t>”</a:t>
            </a:r>
            <a:r>
              <a:rPr lang="zh-CN" altLang="en-US"/>
              <a:t>和</a:t>
            </a:r>
            <a:r>
              <a:rPr lang="en-US" altLang="zh-CN"/>
              <a:t>“</a:t>
            </a:r>
            <a:r>
              <a:rPr lang="zh-CN" altLang="en-US"/>
              <a:t>下一次提交预测</a:t>
            </a:r>
            <a:r>
              <a:rPr lang="en-US" altLang="zh-CN"/>
              <a:t>”</a:t>
            </a:r>
            <a:r>
              <a:rPr lang="zh-CN" altLang="en-US"/>
              <a:t>能揭示技术趋势的微观演变。</a:t>
            </a:r>
          </a:p>
          <a:p>
            <a:pPr indent="457200"/>
            <a:r>
              <a:rPr lang="zh-CN" altLang="en-US"/>
              <a:t>根据</a:t>
            </a:r>
            <a:r>
              <a:rPr lang="en-US" altLang="zh-CN"/>
              <a:t> Medium </a:t>
            </a:r>
            <a:r>
              <a:rPr lang="zh-CN" altLang="en-US"/>
              <a:t>上的商业观察分析，</a:t>
            </a:r>
            <a:r>
              <a:rPr lang="en-US" altLang="zh-CN"/>
              <a:t>GitHub </a:t>
            </a:r>
            <a:r>
              <a:rPr lang="zh-CN" altLang="en-US"/>
              <a:t>数据已被用于竞争情报（</a:t>
            </a:r>
            <a:r>
              <a:rPr lang="en-US" altLang="zh-CN"/>
              <a:t>Competitive Intelligence</a:t>
            </a:r>
            <a:r>
              <a:rPr lang="zh-CN" altLang="en-US"/>
              <a:t>）。通过追踪开发者在特定</a:t>
            </a:r>
            <a:r>
              <a:rPr lang="en-US" altLang="zh-CN"/>
              <a:t> Topic</a:t>
            </a:r>
            <a:r>
              <a:rPr lang="zh-CN" altLang="en-US"/>
              <a:t>（如</a:t>
            </a:r>
            <a:r>
              <a:rPr lang="en-US" altLang="zh-CN"/>
              <a:t> LLM, Rust</a:t>
            </a:r>
            <a:r>
              <a:rPr lang="zh-CN" altLang="en-US"/>
              <a:t>）上的权重变化，企业可以比市场报告提前</a:t>
            </a:r>
            <a:r>
              <a:rPr lang="en-US" altLang="zh-CN"/>
              <a:t> 3-6 </a:t>
            </a:r>
            <a:r>
              <a:rPr lang="zh-CN" altLang="en-US"/>
              <a:t>个月感知到新兴生态的崛起。</a:t>
            </a:r>
          </a:p>
          <a:p>
            <a:pPr indent="457200"/>
            <a:r>
              <a:rPr lang="en-US" altLang="zh-CN"/>
              <a:t>DevScope </a:t>
            </a:r>
            <a:r>
              <a:rPr lang="zh-CN" altLang="en-US"/>
              <a:t>能够对特定用户的技术重心进行贝叶斯融合处理（冷启动优化），即便对数据较少的新兴领域开发者，也能给出相对可信的倾向性评估，这在早期技术选型中极具价值。</a:t>
            </a:r>
          </a:p>
          <a:p>
            <a:endParaRPr lang="zh-CN" altLang="en-US"/>
          </a:p>
        </p:txBody>
      </p:sp>
      <p:pic>
        <p:nvPicPr>
          <p:cNvPr id="8" name="图片 7"/>
          <p:cNvPicPr>
            <a:picLocks noChangeAspect="1"/>
          </p:cNvPicPr>
          <p:nvPr/>
        </p:nvPicPr>
        <p:blipFill>
          <a:blip r:embed="rId2"/>
          <a:stretch>
            <a:fillRect/>
          </a:stretch>
        </p:blipFill>
        <p:spPr>
          <a:xfrm>
            <a:off x="5977572" y="1458276"/>
            <a:ext cx="5638800" cy="2077720"/>
          </a:xfrm>
          <a:prstGeom prst="rect">
            <a:avLst/>
          </a:prstGeom>
        </p:spPr>
      </p:pic>
      <p:sp>
        <p:nvSpPr>
          <p:cNvPr id="9" name="文本框 8">
            <a:extLst>
              <a:ext uri="{FF2B5EF4-FFF2-40B4-BE49-F238E27FC236}">
                <a16:creationId xmlns:a16="http://schemas.microsoft.com/office/drawing/2014/main" id="{A1D436E3-E087-7DEC-5425-5327DD9ECF05}"/>
              </a:ext>
            </a:extLst>
          </p:cNvPr>
          <p:cNvSpPr txBox="1"/>
          <p:nvPr/>
        </p:nvSpPr>
        <p:spPr>
          <a:xfrm>
            <a:off x="7297025" y="3755680"/>
            <a:ext cx="6094990" cy="307777"/>
          </a:xfrm>
          <a:prstGeom prst="rect">
            <a:avLst/>
          </a:prstGeom>
          <a:noFill/>
        </p:spPr>
        <p:txBody>
          <a:bodyPr wrap="square">
            <a:spAutoFit/>
          </a:bodyPr>
          <a:lstStyle/>
          <a:p>
            <a:r>
              <a:rPr lang="en-US" altLang="zh-CN" sz="1400" dirty="0">
                <a:solidFill>
                  <a:srgbClr val="0070C0"/>
                </a:solidFill>
              </a:rPr>
              <a:t>https://arxiv.org/html/2509.26173v1</a:t>
            </a:r>
            <a:endParaRPr lang="zh-CN" altLang="en-US" sz="1400"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019d5a39-64ee-419a-a374-09444675d919.source.4.zh-Hans.pptx" descr="68560111-73b7-4754-b245-a9b88f655b7e"/>
          <p:cNvGrpSpPr/>
          <p:nvPr/>
        </p:nvGrpSpPr>
        <p:grpSpPr>
          <a:xfrm>
            <a:off x="660399" y="884781"/>
            <a:ext cx="10858500" cy="143919"/>
            <a:chOff x="660399" y="884781"/>
            <a:chExt cx="10858500" cy="143919"/>
          </a:xfrm>
        </p:grpSpPr>
        <p:sp>
          <p:nvSpPr>
            <p:cNvPr id="1048699" name="任意多边形: 形状 3" descr="ef79a1c0-c886-4d9e-96d4-63492f165e28"/>
            <p:cNvSpPr/>
            <p:nvPr/>
          </p:nvSpPr>
          <p:spPr>
            <a:xfrm>
              <a:off x="770847" y="884781"/>
              <a:ext cx="1058129" cy="107213"/>
            </a:xfrm>
            <a:custGeom>
              <a:avLst/>
              <a:gdLst>
                <a:gd name="connsiteX0" fmla="*/ 856106 w 1058129"/>
                <a:gd name="connsiteY0" fmla="*/ 0 h 107213"/>
                <a:gd name="connsiteX1" fmla="*/ 1058129 w 1058129"/>
                <a:gd name="connsiteY1" fmla="*/ 0 h 107213"/>
                <a:gd name="connsiteX2" fmla="*/ 887698 w 1058129"/>
                <a:gd name="connsiteY2" fmla="*/ 107213 h 107213"/>
                <a:gd name="connsiteX3" fmla="*/ 685674 w 1058129"/>
                <a:gd name="connsiteY3" fmla="*/ 107213 h 107213"/>
                <a:gd name="connsiteX4" fmla="*/ 513164 w 1058129"/>
                <a:gd name="connsiteY4" fmla="*/ 0 h 107213"/>
                <a:gd name="connsiteX5" fmla="*/ 715187 w 1058129"/>
                <a:gd name="connsiteY5" fmla="*/ 0 h 107213"/>
                <a:gd name="connsiteX6" fmla="*/ 544756 w 1058129"/>
                <a:gd name="connsiteY6" fmla="*/ 107213 h 107213"/>
                <a:gd name="connsiteX7" fmla="*/ 342732 w 1058129"/>
                <a:gd name="connsiteY7" fmla="*/ 107213 h 107213"/>
                <a:gd name="connsiteX8" fmla="*/ 170432 w 1058129"/>
                <a:gd name="connsiteY8" fmla="*/ 0 h 107213"/>
                <a:gd name="connsiteX9" fmla="*/ 372455 w 1058129"/>
                <a:gd name="connsiteY9" fmla="*/ 0 h 107213"/>
                <a:gd name="connsiteX10" fmla="*/ 202024 w 1058129"/>
                <a:gd name="connsiteY10" fmla="*/ 107213 h 107213"/>
                <a:gd name="connsiteX11" fmla="*/ 0 w 1058129"/>
                <a:gd name="connsiteY11" fmla="*/ 107213 h 10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8129" h="107213">
                  <a:moveTo>
                    <a:pt x="856106" y="0"/>
                  </a:moveTo>
                  <a:lnTo>
                    <a:pt x="1058129" y="0"/>
                  </a:lnTo>
                  <a:lnTo>
                    <a:pt x="887698" y="107213"/>
                  </a:lnTo>
                  <a:lnTo>
                    <a:pt x="685674" y="107213"/>
                  </a:lnTo>
                  <a:close/>
                  <a:moveTo>
                    <a:pt x="513164" y="0"/>
                  </a:moveTo>
                  <a:lnTo>
                    <a:pt x="715187" y="0"/>
                  </a:lnTo>
                  <a:lnTo>
                    <a:pt x="544756" y="107213"/>
                  </a:lnTo>
                  <a:lnTo>
                    <a:pt x="342732" y="107213"/>
                  </a:lnTo>
                  <a:close/>
                  <a:moveTo>
                    <a:pt x="170432" y="0"/>
                  </a:moveTo>
                  <a:lnTo>
                    <a:pt x="372455" y="0"/>
                  </a:lnTo>
                  <a:lnTo>
                    <a:pt x="202024" y="107213"/>
                  </a:lnTo>
                  <a:lnTo>
                    <a:pt x="0" y="107213"/>
                  </a:lnTo>
                  <a:close/>
                </a:path>
              </a:pathLst>
            </a:custGeom>
            <a:solidFill>
              <a:schemeClr val="accent1">
                <a:alpha val="30000"/>
              </a:schemeClr>
            </a:solidFill>
            <a:ln w="9525" cap="flat">
              <a:noFill/>
              <a:prstDash val="solid"/>
              <a:miter/>
            </a:ln>
          </p:spPr>
          <p:txBody>
            <a:bodyPr rtlCol="0" anchor="ctr" anchorCtr="0"/>
            <a:lstStyle/>
            <a:p>
              <a:pPr algn="l"/>
              <a:endParaRPr/>
            </a:p>
          </p:txBody>
        </p:sp>
        <p:cxnSp>
          <p:nvCxnSpPr>
            <p:cNvPr id="3145738" name="直接连接符 4" descr="f0605bb2-9772-4c57-98cd-dd3e16780251"/>
            <p:cNvCxnSpPr/>
            <p:nvPr/>
          </p:nvCxnSpPr>
          <p:spPr>
            <a:xfrm>
              <a:off x="660399" y="1028700"/>
              <a:ext cx="10858500" cy="0"/>
            </a:xfrm>
            <a:prstGeom prst="line">
              <a:avLst/>
            </a:prstGeom>
            <a:ln>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grpSp>
      <p:sp>
        <p:nvSpPr>
          <p:cNvPr id="1048728" name="标题 1048727" descr="ba5c3d0b-a165-4d08-9745-ddaee62d2520"/>
          <p:cNvSpPr>
            <a:spLocks noGrp="1"/>
          </p:cNvSpPr>
          <p:nvPr>
            <p:ph type="title" hasCustomPrompt="1"/>
          </p:nvPr>
        </p:nvSpPr>
        <p:spPr/>
        <p:txBody>
          <a:bodyPr anchorCtr="0"/>
          <a:lstStyle/>
          <a:p>
            <a:pPr algn="l">
              <a:lnSpc>
                <a:spcPct val="100000"/>
              </a:lnSpc>
              <a:spcBef>
                <a:spcPct val="0"/>
              </a:spcBef>
            </a:pPr>
            <a:r>
              <a:rPr lang="zh-CN" altLang="en-US" sz="2800" b="1" i="0" u="none" dirty="0">
                <a:solidFill>
                  <a:srgbClr val="000000"/>
                </a:solidFill>
                <a:ea typeface="微软雅黑" panose="020B0503020204020204" charset="-122"/>
              </a:rPr>
              <a:t>结论</a:t>
            </a:r>
          </a:p>
        </p:txBody>
      </p:sp>
      <p:sp>
        <p:nvSpPr>
          <p:cNvPr id="4" name="矩形 3"/>
          <p:cNvSpPr/>
          <p:nvPr/>
        </p:nvSpPr>
        <p:spPr>
          <a:xfrm>
            <a:off x="231140" y="1139825"/>
            <a:ext cx="11614150" cy="4850765"/>
          </a:xfrm>
          <a:prstGeom prst="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5" name="对角圆角矩形 4"/>
          <p:cNvSpPr/>
          <p:nvPr/>
        </p:nvSpPr>
        <p:spPr>
          <a:xfrm>
            <a:off x="434975"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 name="对角圆角矩形 1"/>
          <p:cNvSpPr/>
          <p:nvPr/>
        </p:nvSpPr>
        <p:spPr>
          <a:xfrm>
            <a:off x="4328160"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3" name="对角圆角矩形 2"/>
          <p:cNvSpPr/>
          <p:nvPr/>
        </p:nvSpPr>
        <p:spPr>
          <a:xfrm>
            <a:off x="8221345" y="1518285"/>
            <a:ext cx="3429000" cy="4093845"/>
          </a:xfrm>
          <a:prstGeom prst="round2DiagRect">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6" name="直角三角形 5"/>
          <p:cNvSpPr/>
          <p:nvPr/>
        </p:nvSpPr>
        <p:spPr>
          <a:xfrm rot="10800000">
            <a:off x="3385185"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直角三角形 7"/>
          <p:cNvSpPr/>
          <p:nvPr/>
        </p:nvSpPr>
        <p:spPr>
          <a:xfrm rot="10800000">
            <a:off x="7278370"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直角三角形 8"/>
          <p:cNvSpPr/>
          <p:nvPr/>
        </p:nvSpPr>
        <p:spPr>
          <a:xfrm rot="10800000">
            <a:off x="11171555" y="151828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直角三角形 9"/>
          <p:cNvSpPr/>
          <p:nvPr/>
        </p:nvSpPr>
        <p:spPr>
          <a:xfrm>
            <a:off x="434975"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1" name="直角三角形 10"/>
          <p:cNvSpPr/>
          <p:nvPr/>
        </p:nvSpPr>
        <p:spPr>
          <a:xfrm>
            <a:off x="4328160"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直角三角形 11"/>
          <p:cNvSpPr/>
          <p:nvPr/>
        </p:nvSpPr>
        <p:spPr>
          <a:xfrm>
            <a:off x="8221345" y="5065395"/>
            <a:ext cx="478790" cy="546735"/>
          </a:xfrm>
          <a:prstGeom prst="rtTriangl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p:cNvSpPr txBox="1"/>
          <p:nvPr/>
        </p:nvSpPr>
        <p:spPr>
          <a:xfrm>
            <a:off x="674370" y="1711040"/>
            <a:ext cx="3007995" cy="3382645"/>
          </a:xfrm>
          <a:prstGeom prst="rect">
            <a:avLst/>
          </a:prstGeom>
          <a:noFill/>
        </p:spPr>
        <p:txBody>
          <a:bodyPr wrap="square" rtlCol="0">
            <a:noAutofit/>
          </a:bodyPr>
          <a:lstStyle/>
          <a:p>
            <a:r>
              <a:rPr lang="zh-CN" altLang="en-US" sz="2000" b="1" dirty="0"/>
              <a:t>人才招聘：</a:t>
            </a:r>
          </a:p>
          <a:p>
            <a:r>
              <a:rPr lang="en-US" altLang="zh-CN" sz="2000" dirty="0" err="1"/>
              <a:t>DevScope</a:t>
            </a:r>
            <a:r>
              <a:rPr lang="en-US" altLang="zh-CN" sz="2000" dirty="0"/>
              <a:t> </a:t>
            </a:r>
            <a:r>
              <a:rPr lang="zh-CN" altLang="en-US" sz="2000" dirty="0"/>
              <a:t>通过对开发者真实行为数据的持续建模，有效突破了传统静态简历在</a:t>
            </a:r>
            <a:r>
              <a:rPr lang="en-US" altLang="zh-CN" sz="2000" dirty="0"/>
              <a:t>“</a:t>
            </a:r>
            <a:r>
              <a:rPr lang="zh-CN" altLang="en-US" sz="2000" dirty="0"/>
              <a:t>时效性</a:t>
            </a:r>
            <a:r>
              <a:rPr lang="en-US" altLang="zh-CN" sz="2000" dirty="0"/>
              <a:t>”</a:t>
            </a:r>
            <a:r>
              <a:rPr lang="zh-CN" altLang="en-US" sz="2000" dirty="0"/>
              <a:t>和</a:t>
            </a:r>
            <a:r>
              <a:rPr lang="en-US" altLang="zh-CN" sz="2000" dirty="0"/>
              <a:t>“</a:t>
            </a:r>
            <a:r>
              <a:rPr lang="zh-CN" altLang="en-US" sz="2000" dirty="0"/>
              <a:t>潜力评估</a:t>
            </a:r>
            <a:r>
              <a:rPr lang="en-US" altLang="zh-CN" sz="2000" dirty="0"/>
              <a:t>”</a:t>
            </a:r>
            <a:r>
              <a:rPr lang="zh-CN" altLang="en-US" sz="2000" dirty="0"/>
              <a:t>上的局限，实现了从结果导向筛选向趋势导向判断的能力升级。系统基于活跃度持续性与技术倾向演化的预测模型，为企业提供了更具前瞻性的候选人评估依据。</a:t>
            </a:r>
          </a:p>
        </p:txBody>
      </p:sp>
      <p:sp>
        <p:nvSpPr>
          <p:cNvPr id="14" name="文本框 13"/>
          <p:cNvSpPr txBox="1"/>
          <p:nvPr/>
        </p:nvSpPr>
        <p:spPr>
          <a:xfrm>
            <a:off x="4693920" y="1715135"/>
            <a:ext cx="2584450" cy="3475990"/>
          </a:xfrm>
          <a:prstGeom prst="rect">
            <a:avLst/>
          </a:prstGeom>
          <a:noFill/>
        </p:spPr>
        <p:txBody>
          <a:bodyPr wrap="square" rtlCol="0">
            <a:spAutoFit/>
          </a:bodyPr>
          <a:lstStyle/>
          <a:p>
            <a:r>
              <a:rPr lang="zh-CN" altLang="en-US" sz="2000" b="1" dirty="0"/>
              <a:t>开源社区可持续性：</a:t>
            </a:r>
          </a:p>
          <a:p>
            <a:r>
              <a:rPr lang="en-US" altLang="zh-CN" sz="2000" dirty="0" err="1"/>
              <a:t>DevScope</a:t>
            </a:r>
            <a:r>
              <a:rPr lang="en-US" altLang="zh-CN" sz="2000" dirty="0"/>
              <a:t> </a:t>
            </a:r>
            <a:r>
              <a:rPr lang="zh-CN" altLang="en-US" sz="2000" dirty="0"/>
              <a:t>指标化开发者行为时序，使开源社区具备了</a:t>
            </a:r>
            <a:r>
              <a:rPr lang="en-US" altLang="zh-CN" sz="2000" dirty="0"/>
              <a:t>“</a:t>
            </a:r>
            <a:r>
              <a:rPr lang="zh-CN" altLang="en-US" sz="2000" dirty="0"/>
              <a:t>流失前预警</a:t>
            </a:r>
            <a:r>
              <a:rPr lang="en-US" altLang="zh-CN" sz="2000" dirty="0"/>
              <a:t>”</a:t>
            </a:r>
            <a:r>
              <a:rPr lang="zh-CN" altLang="en-US" sz="2000" dirty="0"/>
              <a:t>能力。该能力帮助维护者从被动应对开发者流失，转向主动干预与资源调度，从而显著增强社区运行的稳定性与知识传承的连续性。</a:t>
            </a:r>
          </a:p>
        </p:txBody>
      </p:sp>
      <p:sp>
        <p:nvSpPr>
          <p:cNvPr id="16" name="文本框 15"/>
          <p:cNvSpPr txBox="1"/>
          <p:nvPr/>
        </p:nvSpPr>
        <p:spPr>
          <a:xfrm>
            <a:off x="8480425" y="1708894"/>
            <a:ext cx="2764790" cy="3785652"/>
          </a:xfrm>
          <a:prstGeom prst="rect">
            <a:avLst/>
          </a:prstGeom>
          <a:noFill/>
        </p:spPr>
        <p:txBody>
          <a:bodyPr wrap="square" rtlCol="0">
            <a:spAutoFit/>
          </a:bodyPr>
          <a:lstStyle/>
          <a:p>
            <a:r>
              <a:rPr lang="zh-CN" altLang="en-US" sz="2000" b="1" dirty="0"/>
              <a:t>企业技术决策：</a:t>
            </a:r>
          </a:p>
          <a:p>
            <a:r>
              <a:rPr lang="en-US" altLang="zh-CN" sz="2000" dirty="0" err="1"/>
              <a:t>DevScope</a:t>
            </a:r>
            <a:r>
              <a:rPr lang="en-US" altLang="zh-CN" sz="2000" dirty="0"/>
              <a:t> </a:t>
            </a:r>
            <a:r>
              <a:rPr lang="zh-CN" altLang="en-US" sz="2000" dirty="0"/>
              <a:t>通过对开发者技术重心迁移的持续分析，为企业提供了一种基于行为数据的微观技术趋势洞察能力。相较于传统报告，该系统能够更早识别技术生态的变化信号，为企业在技术选型与竞争分析中提供更具时效性和可信度的决策依据。</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标题 1048742"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技术架构</a:t>
            </a:r>
          </a:p>
        </p:txBody>
      </p:sp>
      <p:sp>
        <p:nvSpPr>
          <p:cNvPr id="1048744" name="文本占位符 1048743" descr="fbdebbe7-0a93-4150-bd5a-7e44e3ee5219"/>
          <p:cNvSpPr>
            <a:spLocks noGrp="1"/>
          </p:cNvSpPr>
          <p:nvPr>
            <p:ph type="body" idx="1" hasCustomPrompt="1"/>
          </p:nvPr>
        </p:nvSpPr>
        <p:spPr/>
        <p:txBody>
          <a:bodyPr anchorCtr="0">
            <a:normAutofit/>
          </a:bodyPr>
          <a:lstStyle/>
          <a:p>
            <a:pPr algn="l">
              <a:lnSpc>
                <a:spcPct val="120000"/>
              </a:lnSpc>
              <a:spcBef>
                <a:spcPts val="1000"/>
              </a:spcBef>
            </a:pPr>
            <a:r>
              <a:rPr lang="en-US" sz="1800" b="0" i="0" u="none" dirty="0" err="1">
                <a:solidFill>
                  <a:srgbClr val="000000"/>
                </a:solidFill>
                <a:ea typeface="微软雅黑" panose="020B0503020204020204" charset="-122"/>
              </a:rPr>
              <a:t>说明系统的数据层、模型层和展示层架构</a:t>
            </a:r>
            <a:endParaRPr lang="en-US" sz="1800" b="0" i="0" u="none" dirty="0">
              <a:solidFill>
                <a:srgbClr val="000000"/>
              </a:solidFill>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 name="6d649ebf-74bc-446c-add3-cfd664cd660c.source.5.zh-Hans.pptx" descr="6d7fe80a-d3c0-4f90-8fd3-6f3610870e11"/>
          <p:cNvGrpSpPr/>
          <p:nvPr/>
        </p:nvGrpSpPr>
        <p:grpSpPr>
          <a:xfrm>
            <a:off x="1" y="1130300"/>
            <a:ext cx="12191999" cy="5727700"/>
            <a:chOff x="1" y="1130300"/>
            <a:chExt cx="12191999" cy="5727700"/>
          </a:xfrm>
        </p:grpSpPr>
        <p:sp>
          <p:nvSpPr>
            <p:cNvPr id="1048745" name="PictureMisc1" descr="aa6ce5fb-21e2-4a7e-aa44-1ed2fcafc31f"/>
            <p:cNvSpPr/>
            <p:nvPr/>
          </p:nvSpPr>
          <p:spPr>
            <a:xfrm>
              <a:off x="1" y="4454604"/>
              <a:ext cx="12191999" cy="2403396"/>
            </a:xfrm>
            <a:prstGeom prst="rect">
              <a:avLst/>
            </a:prstGeom>
            <a:blipFill rotWithShape="1">
              <a:blip r:embed="rId2"/>
              <a:srcRect/>
              <a:stretch>
                <a:fillRect t="-5341" b="-18453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46" name="c" descr="c7f043c2-c98b-4e97-9bf2-60f4a7b4ee69"/>
            <p:cNvSpPr/>
            <p:nvPr/>
          </p:nvSpPr>
          <p:spPr>
            <a:xfrm>
              <a:off x="598591" y="1824048"/>
              <a:ext cx="10994819" cy="4310052"/>
            </a:xfrm>
            <a:prstGeom prst="roundRect">
              <a:avLst>
                <a:gd name="adj" fmla="val 3015"/>
              </a:avLst>
            </a:prstGeom>
            <a:gradFill flip="none" rotWithShape="1">
              <a:gsLst>
                <a:gs pos="0">
                  <a:schemeClr val="bg1"/>
                </a:gs>
                <a:gs pos="100000">
                  <a:schemeClr val="bg1">
                    <a:alpha val="90000"/>
                  </a:schemeClr>
                </a:gs>
              </a:gsLst>
              <a:lin ang="5400000" scaled="1"/>
            </a:gradFill>
            <a:ln w="6350">
              <a:gradFill flip="none" rotWithShape="1">
                <a:gsLst>
                  <a:gs pos="0">
                    <a:schemeClr val="tx1">
                      <a:alpha val="50000"/>
                    </a:schemeClr>
                  </a:gs>
                  <a:gs pos="100000">
                    <a:schemeClr val="tx1">
                      <a:alpha val="0"/>
                    </a:schemeClr>
                  </a:gs>
                </a:gsLst>
                <a:lin ang="162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p>
              <a:pPr algn="ctr">
                <a:lnSpc>
                  <a:spcPct val="120000"/>
                </a:lnSpc>
              </a:pPr>
              <a:endParaRPr/>
            </a:p>
          </p:txBody>
        </p:sp>
        <p:cxnSp>
          <p:nvCxnSpPr>
            <p:cNvPr id="3145739" name="直接连接符 14" descr="6aeadf92-db21-4171-905d-0c21c12d87ba"/>
            <p:cNvCxnSpPr>
              <a:stCxn id="1048762" idx="1"/>
              <a:endCxn id="1048759" idx="3"/>
            </p:cNvCxnSpPr>
            <p:nvPr/>
          </p:nvCxnSpPr>
          <p:spPr>
            <a:xfrm>
              <a:off x="3379733" y="4176507"/>
              <a:ext cx="5306516"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cxnSp>
          <p:nvCxnSpPr>
            <p:cNvPr id="3145740" name="直接连接符 15" descr="db641f3d-655e-4566-a22a-98766ffd2fb4"/>
            <p:cNvCxnSpPr>
              <a:stCxn id="1048750" idx="3"/>
            </p:cNvCxnSpPr>
            <p:nvPr/>
          </p:nvCxnSpPr>
          <p:spPr>
            <a:xfrm>
              <a:off x="2868646" y="2158127"/>
              <a:ext cx="6931611" cy="0"/>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
          <p:nvSpPr>
            <p:cNvPr id="1048747" name="Title" descr="7661db39-60bf-4646-8df8-28e4a7d2d7e9"/>
            <p:cNvSpPr/>
            <p:nvPr/>
          </p:nvSpPr>
          <p:spPr>
            <a:xfrm>
              <a:off x="660399" y="1130300"/>
              <a:ext cx="10858500" cy="608093"/>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r>
                <a:rPr lang="en-US" sz="2400" b="1" i="0" u="none">
                  <a:solidFill>
                    <a:srgbClr val="000000"/>
                  </a:solidFill>
                  <a:ea typeface="微软雅黑" panose="020B0503020204020204" charset="-122"/>
                </a:rPr>
                <a:t>介绍数据来源、处理流程及存储方案</a:t>
              </a:r>
            </a:p>
          </p:txBody>
        </p:sp>
        <p:grpSp>
          <p:nvGrpSpPr>
            <p:cNvPr id="114" name="组合 44" descr="d6b04e63-cdc4-485f-b781-a6de7bf41558"/>
            <p:cNvGrpSpPr/>
            <p:nvPr/>
          </p:nvGrpSpPr>
          <p:grpSpPr>
            <a:xfrm>
              <a:off x="660399" y="2008394"/>
              <a:ext cx="3520042" cy="1812250"/>
              <a:chOff x="660399" y="2008394"/>
              <a:chExt cx="3520042" cy="1812250"/>
            </a:xfrm>
          </p:grpSpPr>
          <p:sp>
            <p:nvSpPr>
              <p:cNvPr id="1048748" name="Bullet1" descr="63a985e9-225b-4530-ae46-40972af6aa8b"/>
              <p:cNvSpPr txBox="1"/>
              <p:nvPr/>
            </p:nvSpPr>
            <p:spPr>
              <a:xfrm>
                <a:off x="666750" y="2428129"/>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数据来源 - GitHub 公开 API</a:t>
                </a:r>
              </a:p>
            </p:txBody>
          </p:sp>
          <p:sp>
            <p:nvSpPr>
              <p:cNvPr id="1048749" name="Text1" descr="972b2600-40fd-4367-ad4a-dd34bca43e29"/>
              <p:cNvSpPr txBox="1"/>
              <p:nvPr/>
            </p:nvSpPr>
            <p:spPr>
              <a:xfrm>
                <a:off x="660399" y="2911940"/>
                <a:ext cx="3513691" cy="908704"/>
              </a:xfrm>
              <a:prstGeom prst="rect">
                <a:avLst/>
              </a:prstGeom>
              <a:noFill/>
              <a:ln>
                <a:noFill/>
              </a:ln>
            </p:spPr>
            <p:txBody>
              <a:bodyPr wrap="square" lIns="91440" tIns="45720" rIns="91440" bIns="45720" anchor="t" anchorCtr="0">
                <a:normAutofit fontScale="62500" lnSpcReduction="20000"/>
              </a:bodyPr>
              <a:lstStyle/>
              <a:p>
                <a:pPr>
                  <a:lnSpc>
                    <a:spcPct val="120000"/>
                  </a:lnSpc>
                  <a:spcBef>
                    <a:spcPct val="0"/>
                  </a:spcBef>
                  <a:spcAft>
                    <a:spcPct val="0"/>
                  </a:spcAft>
                </a:pPr>
                <a:r>
                  <a:rPr lang="zh-CN" altLang="en-US" dirty="0"/>
                  <a:t>作为核心行为数据源，爬取开发者的 </a:t>
                </a:r>
                <a:r>
                  <a:rPr lang="zh-CN" altLang="en-US" b="1" dirty="0"/>
                  <a:t>基础信息</a:t>
                </a:r>
                <a:r>
                  <a:rPr lang="zh-CN" altLang="en-US" dirty="0"/>
                  <a:t> </a:t>
                </a:r>
                <a:r>
                  <a:rPr lang="en-US" altLang="zh-CN" dirty="0"/>
                  <a:t>(Profile)</a:t>
                </a:r>
                <a:r>
                  <a:rPr lang="zh-CN" altLang="en-US" dirty="0"/>
                  <a:t>、</a:t>
                </a:r>
                <a:r>
                  <a:rPr lang="zh-CN" altLang="en-US" b="1" dirty="0"/>
                  <a:t>仓库元数据</a:t>
                </a:r>
                <a:r>
                  <a:rPr lang="zh-CN" altLang="en-US" dirty="0"/>
                  <a:t> </a:t>
                </a:r>
                <a:r>
                  <a:rPr lang="en-US" altLang="zh-CN" dirty="0"/>
                  <a:t>(Repositories, Stars, Topics) </a:t>
                </a:r>
                <a:r>
                  <a:rPr lang="zh-CN" altLang="en-US" dirty="0"/>
                  <a:t>以及 </a:t>
                </a:r>
                <a:r>
                  <a:rPr lang="zh-CN" altLang="en-US" b="1" dirty="0"/>
                  <a:t>提交活动记录</a:t>
                </a:r>
                <a:r>
                  <a:rPr lang="zh-CN" altLang="en-US" dirty="0"/>
                  <a:t> </a:t>
                </a:r>
                <a:r>
                  <a:rPr lang="en-US" altLang="zh-CN" dirty="0"/>
                  <a:t>(Commit Timestamps, Messages)</a:t>
                </a:r>
                <a:r>
                  <a:rPr lang="zh-CN" altLang="en-US" dirty="0"/>
                  <a:t>。采用 </a:t>
                </a:r>
                <a:r>
                  <a:rPr lang="en-US" altLang="zh-CN" dirty="0"/>
                  <a:t>Rolling 12 Months </a:t>
                </a:r>
                <a:r>
                  <a:rPr lang="zh-CN" altLang="en-US" dirty="0"/>
                  <a:t>窗口获取最近一年的活跃数据。</a:t>
                </a:r>
                <a:endParaRPr lang="en-US" sz="1200" b="0" i="0" u="none" strike="noStrike" dirty="0">
                  <a:solidFill>
                    <a:srgbClr val="000000"/>
                  </a:solidFill>
                  <a:ea typeface="微软雅黑" panose="020B0503020204020204" charset="-122"/>
                </a:endParaRPr>
              </a:p>
            </p:txBody>
          </p:sp>
          <p:sp>
            <p:nvSpPr>
              <p:cNvPr id="1048750" name="Number1" descr="cb5a9482-dd7b-48c3-b267-d0acb23dd1ab"/>
              <p:cNvSpPr txBox="1"/>
              <p:nvPr/>
            </p:nvSpPr>
            <p:spPr>
              <a:xfrm>
                <a:off x="1965844"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1</a:t>
                </a:r>
              </a:p>
            </p:txBody>
          </p:sp>
        </p:grpSp>
        <p:grpSp>
          <p:nvGrpSpPr>
            <p:cNvPr id="115" name="组合 45" descr="a8ef9746-64a1-450c-a1d6-2071045d2e7e"/>
            <p:cNvGrpSpPr/>
            <p:nvPr/>
          </p:nvGrpSpPr>
          <p:grpSpPr>
            <a:xfrm>
              <a:off x="4335980" y="2008394"/>
              <a:ext cx="3516865" cy="1818204"/>
              <a:chOff x="4335980" y="2008394"/>
              <a:chExt cx="3516865" cy="1818204"/>
            </a:xfrm>
          </p:grpSpPr>
          <p:sp>
            <p:nvSpPr>
              <p:cNvPr id="1048751" name="Bullet2" descr="b4a03a2d-2661-476e-9f2e-ccba69d31cc2"/>
              <p:cNvSpPr txBox="1"/>
              <p:nvPr/>
            </p:nvSpPr>
            <p:spPr>
              <a:xfrm>
                <a:off x="4335980" y="2428129"/>
                <a:ext cx="3513691" cy="657967"/>
              </a:xfrm>
              <a:prstGeom prst="rect">
                <a:avLst/>
              </a:prstGeom>
              <a:noFill/>
              <a:ln>
                <a:noFill/>
              </a:ln>
            </p:spPr>
            <p:txBody>
              <a:bodyPr wrap="square" lIns="91440" tIns="45720" rIns="91440" bIns="45720" anchor="t" anchorCtr="0">
                <a:normAutofit fontScale="94444"/>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数据来源 - OpenDigger 工具集成</a:t>
                </a:r>
              </a:p>
            </p:txBody>
          </p:sp>
          <p:sp>
            <p:nvSpPr>
              <p:cNvPr id="1048752" name="Text2" descr="7d698d8d-a788-4c04-8bea-00a9de5dd8dd"/>
              <p:cNvSpPr txBox="1"/>
              <p:nvPr/>
            </p:nvSpPr>
            <p:spPr>
              <a:xfrm>
                <a:off x="4339154" y="2917894"/>
                <a:ext cx="3513691" cy="908704"/>
              </a:xfrm>
              <a:prstGeom prst="rect">
                <a:avLst/>
              </a:prstGeom>
              <a:noFill/>
              <a:ln>
                <a:noFill/>
              </a:ln>
            </p:spPr>
            <p:txBody>
              <a:bodyPr wrap="square" lIns="91440" tIns="45720" rIns="91440" bIns="45720" anchor="t" anchorCtr="0">
                <a:normAutofit fontScale="62500" lnSpcReduction="20000"/>
              </a:bodyPr>
              <a:lstStyle/>
              <a:p>
                <a:pPr>
                  <a:lnSpc>
                    <a:spcPct val="120000"/>
                  </a:lnSpc>
                  <a:spcBef>
                    <a:spcPct val="0"/>
                  </a:spcBef>
                  <a:spcAft>
                    <a:spcPct val="0"/>
                  </a:spcAft>
                </a:pPr>
                <a:r>
                  <a:rPr lang="zh-CN" altLang="en-US" dirty="0"/>
                  <a:t>集成 </a:t>
                </a:r>
                <a:r>
                  <a:rPr lang="en-US" altLang="zh-CN" dirty="0" err="1"/>
                  <a:t>OpenDigger</a:t>
                </a:r>
                <a:r>
                  <a:rPr lang="en-US" altLang="zh-CN" dirty="0"/>
                  <a:t> </a:t>
                </a:r>
                <a:r>
                  <a:rPr lang="zh-CN" altLang="en-US" dirty="0"/>
                  <a:t>开源生态数据，重点获取 </a:t>
                </a:r>
                <a:r>
                  <a:rPr lang="en-US" altLang="zh-CN" b="1" dirty="0" err="1"/>
                  <a:t>OpenRank</a:t>
                </a:r>
                <a:r>
                  <a:rPr lang="en-US" altLang="zh-CN" b="1" dirty="0"/>
                  <a:t> </a:t>
                </a:r>
                <a:r>
                  <a:rPr lang="zh-CN" altLang="en-US" b="1" dirty="0"/>
                  <a:t>影响力评分</a:t>
                </a:r>
                <a:r>
                  <a:rPr lang="zh-CN" altLang="en-US" dirty="0"/>
                  <a:t>。通过解析官方静态 </a:t>
                </a:r>
                <a:r>
                  <a:rPr lang="en-US" altLang="zh-CN" dirty="0"/>
                  <a:t>JSON API</a:t>
                </a:r>
                <a:r>
                  <a:rPr lang="zh-CN" altLang="en-US" dirty="0"/>
                  <a:t>，获取开发者年度 </a:t>
                </a:r>
                <a:r>
                  <a:rPr lang="en-US" altLang="zh-CN" dirty="0" err="1"/>
                  <a:t>OpenRank</a:t>
                </a:r>
                <a:r>
                  <a:rPr lang="en-US" altLang="zh-CN" dirty="0"/>
                  <a:t> </a:t>
                </a:r>
                <a:r>
                  <a:rPr lang="zh-CN" altLang="en-US" dirty="0"/>
                  <a:t>值及仓库维度的影响力评分，作为宏观能力评估的权威参考。</a:t>
                </a:r>
                <a:endParaRPr lang="en-US" sz="1200" b="0" i="0" u="none" strike="noStrike" dirty="0">
                  <a:solidFill>
                    <a:srgbClr val="000000"/>
                  </a:solidFill>
                  <a:ea typeface="微软雅黑" panose="020B0503020204020204" charset="-122"/>
                </a:endParaRPr>
              </a:p>
            </p:txBody>
          </p:sp>
          <p:sp>
            <p:nvSpPr>
              <p:cNvPr id="1048753" name="Number2" descr="33303b4d-75b8-43fb-9107-811eb522960e"/>
              <p:cNvSpPr txBox="1"/>
              <p:nvPr/>
            </p:nvSpPr>
            <p:spPr>
              <a:xfrm>
                <a:off x="5638248"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2</a:t>
                </a:r>
              </a:p>
            </p:txBody>
          </p:sp>
        </p:grpSp>
        <p:grpSp>
          <p:nvGrpSpPr>
            <p:cNvPr id="116" name="组合 46" descr="c7974719-d37e-466b-8727-f1591792a42c"/>
            <p:cNvGrpSpPr/>
            <p:nvPr/>
          </p:nvGrpSpPr>
          <p:grpSpPr>
            <a:xfrm>
              <a:off x="7998859" y="2008394"/>
              <a:ext cx="3520041" cy="1784780"/>
              <a:chOff x="7998859" y="2008394"/>
              <a:chExt cx="3520041" cy="1784780"/>
            </a:xfrm>
          </p:grpSpPr>
          <p:sp>
            <p:nvSpPr>
              <p:cNvPr id="1048754" name="Bullet3" descr="25b8f82b-dca0-4461-980e-c00d40026f51"/>
              <p:cNvSpPr txBox="1"/>
              <p:nvPr/>
            </p:nvSpPr>
            <p:spPr>
              <a:xfrm>
                <a:off x="8005209" y="2428129"/>
                <a:ext cx="3513691"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爬取模块</a:t>
                </a:r>
              </a:p>
            </p:txBody>
          </p:sp>
          <p:sp>
            <p:nvSpPr>
              <p:cNvPr id="1048755" name="Text3" descr="d5e650db-2fcc-4c79-b386-8b93282e4c92"/>
              <p:cNvSpPr txBox="1"/>
              <p:nvPr/>
            </p:nvSpPr>
            <p:spPr>
              <a:xfrm>
                <a:off x="7998859" y="2884470"/>
                <a:ext cx="3513691" cy="908704"/>
              </a:xfrm>
              <a:prstGeom prst="rect">
                <a:avLst/>
              </a:prstGeom>
              <a:noFill/>
              <a:ln>
                <a:noFill/>
              </a:ln>
            </p:spPr>
            <p:txBody>
              <a:bodyPr wrap="square" lIns="91440" tIns="45720" rIns="91440" bIns="45720" anchor="t" anchorCtr="0">
                <a:normAutofit fontScale="53333" lnSpcReduction="20000"/>
              </a:bodyPr>
              <a:lstStyle/>
              <a:p>
                <a:pPr>
                  <a:lnSpc>
                    <a:spcPct val="120000"/>
                  </a:lnSpc>
                  <a:spcBef>
                    <a:spcPct val="0"/>
                  </a:spcBef>
                  <a:spcAft>
                    <a:spcPct val="0"/>
                  </a:spcAft>
                </a:pPr>
                <a:r>
                  <a:rPr lang="zh-CN" altLang="en-US" dirty="0"/>
                  <a:t>基于 </a:t>
                </a:r>
                <a:r>
                  <a:rPr lang="en-US" altLang="zh-CN" dirty="0">
                    <a:hlinkClick r:id="rId3"/>
                  </a:rPr>
                  <a:t>requests</a:t>
                </a:r>
                <a:r>
                  <a:rPr lang="en-US" altLang="zh-CN" dirty="0"/>
                  <a:t> </a:t>
                </a:r>
                <a:r>
                  <a:rPr lang="zh-CN" altLang="en-US" dirty="0"/>
                  <a:t>库封装 </a:t>
                </a:r>
                <a:r>
                  <a:rPr lang="en-US" altLang="zh-CN" dirty="0"/>
                  <a:t>GitHub API </a:t>
                </a:r>
                <a:r>
                  <a:rPr lang="zh-CN" altLang="en-US" dirty="0"/>
                  <a:t>客户端，实现 </a:t>
                </a:r>
                <a:r>
                  <a:rPr lang="zh-CN" altLang="en-US" b="1" dirty="0"/>
                  <a:t>自动分页 </a:t>
                </a:r>
                <a:r>
                  <a:rPr lang="en-US" altLang="zh-CN" b="1" dirty="0"/>
                  <a:t>(Pagination)</a:t>
                </a:r>
                <a:r>
                  <a:rPr lang="en-US" altLang="zh-CN" dirty="0"/>
                  <a:t> </a:t>
                </a:r>
                <a:r>
                  <a:rPr lang="zh-CN" altLang="en-US" dirty="0"/>
                  <a:t>与 </a:t>
                </a:r>
                <a:r>
                  <a:rPr lang="zh-CN" altLang="en-US" b="1" dirty="0"/>
                  <a:t>速率限制处理 </a:t>
                </a:r>
                <a:r>
                  <a:rPr lang="en-US" altLang="zh-CN" b="1" dirty="0"/>
                  <a:t>(Rate Limiting)</a:t>
                </a:r>
                <a:r>
                  <a:rPr lang="zh-CN" altLang="en-US" dirty="0"/>
                  <a:t>；集成 </a:t>
                </a:r>
                <a:r>
                  <a:rPr lang="en-US" altLang="zh-CN" dirty="0"/>
                  <a:t>.env </a:t>
                </a:r>
                <a:r>
                  <a:rPr lang="zh-CN" altLang="en-US" dirty="0"/>
                  <a:t>环境配置管理 </a:t>
                </a:r>
                <a:r>
                  <a:rPr lang="en-US" altLang="zh-CN" dirty="0"/>
                  <a:t>Token</a:t>
                </a:r>
                <a:r>
                  <a:rPr lang="zh-CN" altLang="en-US" dirty="0"/>
                  <a:t>；针对 </a:t>
                </a:r>
                <a:r>
                  <a:rPr lang="en-US" altLang="zh-CN" dirty="0" err="1"/>
                  <a:t>OpenDigger</a:t>
                </a:r>
                <a:r>
                  <a:rPr lang="en-US" altLang="zh-CN" dirty="0"/>
                  <a:t> </a:t>
                </a:r>
                <a:r>
                  <a:rPr lang="zh-CN" altLang="en-US" dirty="0"/>
                  <a:t>数据实现远程 </a:t>
                </a:r>
                <a:r>
                  <a:rPr lang="en-US" altLang="zh-CN" dirty="0"/>
                  <a:t>JSON </a:t>
                </a:r>
                <a:r>
                  <a:rPr lang="zh-CN" altLang="en-US" dirty="0"/>
                  <a:t>自动拉取与解析，确保数据获取的稳定性与合规性。</a:t>
                </a:r>
                <a:endParaRPr lang="en-US" sz="1200" b="0" i="0" u="none" strike="noStrike" dirty="0">
                  <a:solidFill>
                    <a:srgbClr val="000000"/>
                  </a:solidFill>
                  <a:ea typeface="微软雅黑" panose="020B0503020204020204" charset="-122"/>
                </a:endParaRPr>
              </a:p>
            </p:txBody>
          </p:sp>
          <p:sp>
            <p:nvSpPr>
              <p:cNvPr id="1048756" name="Number3" descr="c0a49732-a4c3-4d1a-a2f1-796979f425d8"/>
              <p:cNvSpPr txBox="1"/>
              <p:nvPr/>
            </p:nvSpPr>
            <p:spPr>
              <a:xfrm>
                <a:off x="9310653" y="200839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3</a:t>
                </a:r>
              </a:p>
            </p:txBody>
          </p:sp>
        </p:grpSp>
        <p:grpSp>
          <p:nvGrpSpPr>
            <p:cNvPr id="117" name="组合 47" descr="2a10a9d3-5c28-46d0-a330-e823e7a52646"/>
            <p:cNvGrpSpPr/>
            <p:nvPr/>
          </p:nvGrpSpPr>
          <p:grpSpPr>
            <a:xfrm>
              <a:off x="6750050" y="4026774"/>
              <a:ext cx="4768850" cy="1797457"/>
              <a:chOff x="6750050" y="4026774"/>
              <a:chExt cx="4768850" cy="1797457"/>
            </a:xfrm>
          </p:grpSpPr>
          <p:sp>
            <p:nvSpPr>
              <p:cNvPr id="1048757" name="Bullet4" descr="3cb080ea-7a29-4d7c-8e4c-06310220d618"/>
              <p:cNvSpPr txBox="1"/>
              <p:nvPr/>
            </p:nvSpPr>
            <p:spPr>
              <a:xfrm>
                <a:off x="6756400" y="4446509"/>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清洗与标准化</a:t>
                </a:r>
              </a:p>
            </p:txBody>
          </p:sp>
          <p:sp>
            <p:nvSpPr>
              <p:cNvPr id="1048758" name="Text4" descr="e70569e8-ba8f-4b10-a5e3-b7809cbaa1af"/>
              <p:cNvSpPr txBox="1"/>
              <p:nvPr/>
            </p:nvSpPr>
            <p:spPr>
              <a:xfrm>
                <a:off x="6750050" y="4915527"/>
                <a:ext cx="4762500" cy="908704"/>
              </a:xfrm>
              <a:prstGeom prst="rect">
                <a:avLst/>
              </a:prstGeom>
              <a:noFill/>
              <a:ln>
                <a:noFill/>
              </a:ln>
            </p:spPr>
            <p:txBody>
              <a:bodyPr wrap="square" lIns="91440" tIns="45720" rIns="91440" bIns="45720" anchor="t" anchorCtr="0">
                <a:normAutofit fontScale="69167" lnSpcReduction="20000"/>
              </a:bodyPr>
              <a:lstStyle/>
              <a:p>
                <a:r>
                  <a:rPr lang="zh-CN" altLang="en-US" b="1" dirty="0"/>
                  <a:t>时间标准化</a:t>
                </a:r>
                <a:r>
                  <a:rPr lang="zh-CN" altLang="en-US" dirty="0"/>
                  <a:t>：将 </a:t>
                </a:r>
                <a:r>
                  <a:rPr lang="en-US" altLang="zh-CN" dirty="0"/>
                  <a:t>GitHub </a:t>
                </a:r>
                <a:r>
                  <a:rPr lang="zh-CN" altLang="en-US" dirty="0"/>
                  <a:t>时间戳解析为 </a:t>
                </a:r>
                <a:r>
                  <a:rPr lang="en-US" altLang="zh-CN" dirty="0"/>
                  <a:t>Python Datetime </a:t>
                </a:r>
                <a:r>
                  <a:rPr lang="zh-CN" altLang="en-US" dirty="0"/>
                  <a:t>对象，并转换为以“天”为单位的间隔序列，用于 </a:t>
                </a:r>
                <a:r>
                  <a:rPr lang="en-US" altLang="zh-CN" dirty="0"/>
                  <a:t>Weibull </a:t>
                </a:r>
                <a:r>
                  <a:rPr lang="zh-CN" altLang="en-US" dirty="0"/>
                  <a:t>分布拟合。</a:t>
                </a:r>
              </a:p>
              <a:p>
                <a:r>
                  <a:rPr lang="zh-CN" altLang="en-US" b="1" dirty="0"/>
                  <a:t>特征提取</a:t>
                </a:r>
                <a:r>
                  <a:rPr lang="zh-CN" altLang="en-US" dirty="0"/>
                  <a:t>：从仓库元数据中清洗并聚合 </a:t>
                </a:r>
                <a:r>
                  <a:rPr lang="en-US" altLang="zh-CN" dirty="0"/>
                  <a:t>Language</a:t>
                </a:r>
                <a:r>
                  <a:rPr lang="zh-CN" altLang="en-US" dirty="0"/>
                  <a:t> 与 </a:t>
                </a:r>
                <a:r>
                  <a:rPr lang="en-US" altLang="zh-CN" dirty="0"/>
                  <a:t>Topics</a:t>
                </a:r>
                <a:r>
                  <a:rPr lang="zh-CN" altLang="en-US" dirty="0"/>
                  <a:t> 标签，构建技术倾向特征；提取 </a:t>
                </a:r>
                <a:r>
                  <a:rPr lang="en-US" altLang="zh-CN" dirty="0"/>
                  <a:t>Commit Message </a:t>
                </a:r>
                <a:r>
                  <a:rPr lang="zh-CN" altLang="en-US" dirty="0"/>
                  <a:t>文本供 </a:t>
                </a:r>
                <a:r>
                  <a:rPr lang="en-US" altLang="zh-CN" dirty="0"/>
                  <a:t>LLM </a:t>
                </a:r>
                <a:r>
                  <a:rPr lang="zh-CN" altLang="en-US" dirty="0"/>
                  <a:t>进行语义分析。</a:t>
                </a:r>
              </a:p>
            </p:txBody>
          </p:sp>
          <p:sp>
            <p:nvSpPr>
              <p:cNvPr id="1048759" name="Number4" descr="982ba4fa-0764-486a-a143-c10254addd2a"/>
              <p:cNvSpPr txBox="1"/>
              <p:nvPr/>
            </p:nvSpPr>
            <p:spPr>
              <a:xfrm flipH="1">
                <a:off x="8686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4</a:t>
                </a:r>
              </a:p>
            </p:txBody>
          </p:sp>
        </p:grpSp>
        <p:grpSp>
          <p:nvGrpSpPr>
            <p:cNvPr id="118" name="组合 48" descr="6316730a-dabb-467d-b8a7-8b427d5ad165"/>
            <p:cNvGrpSpPr/>
            <p:nvPr/>
          </p:nvGrpSpPr>
          <p:grpSpPr>
            <a:xfrm>
              <a:off x="660399" y="4026774"/>
              <a:ext cx="4762501" cy="1803932"/>
              <a:chOff x="660399" y="4026774"/>
              <a:chExt cx="4762501" cy="1803932"/>
            </a:xfrm>
          </p:grpSpPr>
          <p:sp>
            <p:nvSpPr>
              <p:cNvPr id="1048760" name="Bullet5" descr="64fc552d-72b6-4746-960e-4d2903703d83"/>
              <p:cNvSpPr txBox="1"/>
              <p:nvPr/>
            </p:nvSpPr>
            <p:spPr>
              <a:xfrm>
                <a:off x="660400" y="4446509"/>
                <a:ext cx="4762500" cy="657967"/>
              </a:xfrm>
              <a:prstGeom prst="rect">
                <a:avLst/>
              </a:prstGeom>
              <a:noFill/>
              <a:ln>
                <a:noFill/>
              </a:ln>
            </p:spPr>
            <p:txBody>
              <a:bodyPr wrap="square" lIns="91440" tIns="45720" rIns="91440" bIns="45720" anchor="t"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数据处理流程 - 存储方案</a:t>
                </a:r>
              </a:p>
            </p:txBody>
          </p:sp>
          <p:sp>
            <p:nvSpPr>
              <p:cNvPr id="1048761" name="Text5" descr="5b550606-85a4-45b4-9761-c55c6d207fd0"/>
              <p:cNvSpPr txBox="1"/>
              <p:nvPr/>
            </p:nvSpPr>
            <p:spPr>
              <a:xfrm>
                <a:off x="660399" y="4922002"/>
                <a:ext cx="4762500" cy="908704"/>
              </a:xfrm>
              <a:prstGeom prst="rect">
                <a:avLst/>
              </a:prstGeom>
              <a:noFill/>
              <a:ln>
                <a:noFill/>
              </a:ln>
            </p:spPr>
            <p:txBody>
              <a:bodyPr wrap="square" lIns="91440" tIns="45720" rIns="91440" bIns="45720" anchor="t" anchorCtr="0">
                <a:normAutofit fontScale="69167" lnSpcReduction="20000"/>
              </a:bodyPr>
              <a:lstStyle/>
              <a:p>
                <a:pPr>
                  <a:lnSpc>
                    <a:spcPct val="120000"/>
                  </a:lnSpc>
                  <a:spcBef>
                    <a:spcPct val="0"/>
                  </a:spcBef>
                  <a:spcAft>
                    <a:spcPct val="0"/>
                  </a:spcAft>
                </a:pPr>
                <a:r>
                  <a:rPr lang="zh-CN" altLang="en-US" dirty="0"/>
                  <a:t>采用 </a:t>
                </a:r>
                <a:r>
                  <a:rPr lang="zh-CN" altLang="en-US" b="1" dirty="0"/>
                  <a:t>轻量级 </a:t>
                </a:r>
                <a:r>
                  <a:rPr lang="en-US" altLang="zh-CN" b="1" dirty="0"/>
                  <a:t>JSON </a:t>
                </a:r>
                <a:r>
                  <a:rPr lang="zh-CN" altLang="en-US" b="1" dirty="0"/>
                  <a:t>文件存储</a:t>
                </a:r>
                <a:r>
                  <a:rPr lang="zh-CN" altLang="en-US" dirty="0"/>
                  <a:t> 方案，摒弃沉重的数据库依赖。核心数据（如预置的 </a:t>
                </a:r>
                <a:r>
                  <a:rPr lang="en-US" altLang="zh-CN" dirty="0"/>
                  <a:t>Top </a:t>
                </a:r>
                <a:r>
                  <a:rPr lang="zh-CN" altLang="en-US" dirty="0"/>
                  <a:t>开发者画像、社区平均分布参数）存储于 </a:t>
                </a:r>
                <a:r>
                  <a:rPr lang="en-US" altLang="zh-CN" dirty="0" err="1">
                    <a:hlinkClick r:id="rId3"/>
                  </a:rPr>
                  <a:t>seed_developers.json</a:t>
                </a:r>
                <a:r>
                  <a:rPr lang="zh-CN" altLang="en-US" dirty="0"/>
                  <a:t>，支持快速读取与热更新，完美适配演示与冷启动场景。</a:t>
                </a:r>
                <a:endParaRPr lang="en-US" sz="1200" b="0" i="0" u="none" strike="noStrike" dirty="0">
                  <a:solidFill>
                    <a:srgbClr val="000000"/>
                  </a:solidFill>
                  <a:ea typeface="微软雅黑" panose="020B0503020204020204" charset="-122"/>
                </a:endParaRPr>
              </a:p>
            </p:txBody>
          </p:sp>
          <p:sp>
            <p:nvSpPr>
              <p:cNvPr id="1048762" name="Number5" descr="d413707b-19f7-439a-adef-0dfa5e0b9a10"/>
              <p:cNvSpPr txBox="1"/>
              <p:nvPr/>
            </p:nvSpPr>
            <p:spPr>
              <a:xfrm flipH="1">
                <a:off x="2590249" y="4026774"/>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5</a:t>
                </a:r>
              </a:p>
            </p:txBody>
          </p:sp>
        </p:grpSp>
      </p:grpSp>
      <p:sp>
        <p:nvSpPr>
          <p:cNvPr id="1048763" name="标题 1048762"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数据层：多源数据采集与处理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0" name="37e9254f-cd01-4222-a8b3-518de6c71795.source.6.zh-Hans.pptx" descr="c9592884-cb24-4669-9ab8-543937e80a9a"/>
          <p:cNvGrpSpPr/>
          <p:nvPr/>
        </p:nvGrpSpPr>
        <p:grpSpPr>
          <a:xfrm>
            <a:off x="660399" y="1130301"/>
            <a:ext cx="10858501" cy="4737346"/>
            <a:chOff x="660399" y="1130301"/>
            <a:chExt cx="10858501" cy="4737346"/>
          </a:xfrm>
        </p:grpSpPr>
        <p:sp>
          <p:nvSpPr>
            <p:cNvPr id="1048764" name="Title" descr="08bcd0e8-ee77-4762-86ce-2c0b59ab6e20"/>
            <p:cNvSpPr/>
            <p:nvPr/>
          </p:nvSpPr>
          <p:spPr>
            <a:xfrm>
              <a:off x="660399" y="1130301"/>
              <a:ext cx="10858500" cy="586098"/>
            </a:xfrm>
            <a:prstGeom prst="rect">
              <a:avLst/>
            </a:prstGeom>
            <a:noFill/>
            <a:ln w="76200">
              <a:noFill/>
              <a:prstDash val="solid"/>
            </a:ln>
          </p:spPr>
          <p:style>
            <a:lnRef idx="2">
              <a:schemeClr val="accent1">
                <a:shade val="50000"/>
              </a:schemeClr>
            </a:lnRef>
            <a:fillRef idx="1">
              <a:schemeClr val="accent1"/>
            </a:fillRef>
            <a:effectRef idx="0">
              <a:schemeClr val="accent1"/>
            </a:effectRef>
            <a:fontRef idx="minor">
              <a:schemeClr val="lt1"/>
            </a:fontRef>
          </p:style>
          <p:txBody>
            <a:bodyPr wrap="square" anchor="ctr" anchorCtr="0">
              <a:normAutofit/>
            </a:bodyPr>
            <a:lstStyle/>
            <a:p>
              <a:pPr algn="l"/>
              <a:r>
                <a:rPr lang="en-US" sz="2400" b="1" i="0" u="none">
                  <a:solidFill>
                    <a:srgbClr val="000000"/>
                  </a:solidFill>
                  <a:ea typeface="微软雅黑" panose="020B0503020204020204" charset="-122"/>
                </a:rPr>
                <a:t>讲解技术倾向分析和活跃度预测的模型构建过程</a:t>
              </a:r>
            </a:p>
          </p:txBody>
        </p:sp>
        <p:grpSp>
          <p:nvGrpSpPr>
            <p:cNvPr id="121" name="组合 36" descr="4be28d54-2285-4649-b18b-a07364d2096a"/>
            <p:cNvGrpSpPr/>
            <p:nvPr/>
          </p:nvGrpSpPr>
          <p:grpSpPr>
            <a:xfrm>
              <a:off x="660400" y="1761003"/>
              <a:ext cx="5295900" cy="1408612"/>
              <a:chOff x="885625" y="1931699"/>
              <a:chExt cx="5295900" cy="1408612"/>
            </a:xfrm>
          </p:grpSpPr>
          <p:sp>
            <p:nvSpPr>
              <p:cNvPr id="1048765" name="Number1" descr="e9c57a57-af30-4ec5-9d0b-1661a450086d"/>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1</a:t>
                </a:r>
              </a:p>
            </p:txBody>
          </p:sp>
          <p:sp>
            <p:nvSpPr>
              <p:cNvPr id="1048766" name="Bullet1" descr="346f4330-594c-407a-a5d7-889eda04e019"/>
              <p:cNvSpPr txBox="1"/>
              <p:nvPr/>
            </p:nvSpPr>
            <p:spPr>
              <a:xfrm>
                <a:off x="1383527" y="1931699"/>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技术倾向分析模型 - 核心目标</a:t>
                </a:r>
              </a:p>
            </p:txBody>
          </p:sp>
          <p:sp>
            <p:nvSpPr>
              <p:cNvPr id="1048767" name="Text1" descr="3aee1dac-4af0-43cf-9602-3f8c614075d8"/>
              <p:cNvSpPr txBox="1"/>
              <p:nvPr/>
            </p:nvSpPr>
            <p:spPr>
              <a:xfrm>
                <a:off x="1383527" y="2404360"/>
                <a:ext cx="4797998" cy="935951"/>
              </a:xfrm>
              <a:prstGeom prst="rect">
                <a:avLst/>
              </a:prstGeom>
              <a:noFill/>
              <a:ln>
                <a:noFill/>
              </a:ln>
            </p:spPr>
            <p:txBody>
              <a:bodyPr wrap="square" lIns="91440" tIns="45720" rIns="91440" bIns="45720" anchor="t" anchorCtr="0">
                <a:normAutofit fontScale="85000" lnSpcReduction="10000"/>
              </a:bodyPr>
              <a:lstStyle/>
              <a:p>
                <a:pPr>
                  <a:lnSpc>
                    <a:spcPct val="120000"/>
                  </a:lnSpc>
                  <a:spcBef>
                    <a:spcPct val="0"/>
                  </a:spcBef>
                  <a:spcAft>
                    <a:spcPct val="0"/>
                  </a:spcAft>
                </a:pPr>
                <a:r>
                  <a:rPr lang="zh-CN" altLang="en-US" dirty="0"/>
                  <a:t>量化开发者在不同技术领域（语言</a:t>
                </a:r>
                <a:r>
                  <a:rPr lang="en-US" altLang="zh-CN" dirty="0"/>
                  <a:t>/</a:t>
                </a:r>
                <a:r>
                  <a:rPr lang="zh-CN" altLang="en-US" dirty="0"/>
                  <a:t>框架）的投入程度，输出可解释的概率分布（如 </a:t>
                </a:r>
                <a:r>
                  <a:rPr lang="en-US" altLang="zh-CN" dirty="0"/>
                  <a:t>"Python: 42%"</a:t>
                </a:r>
                <a:r>
                  <a:rPr lang="zh-CN" altLang="en-US" dirty="0"/>
                  <a:t>），并通过冷启动策略解决新用户数据稀疏问题。</a:t>
                </a:r>
                <a:endParaRPr lang="en-US" sz="1200" b="0" i="0" u="none" strike="noStrike" dirty="0">
                  <a:solidFill>
                    <a:srgbClr val="000000"/>
                  </a:solidFill>
                  <a:ea typeface="微软雅黑" panose="020B0503020204020204" charset="-122"/>
                </a:endParaRPr>
              </a:p>
            </p:txBody>
          </p:sp>
        </p:grpSp>
        <p:grpSp>
          <p:nvGrpSpPr>
            <p:cNvPr id="122" name="组合 1" descr="ecfae532-ca4b-4bbf-8fc8-d9aa8e216027"/>
            <p:cNvGrpSpPr/>
            <p:nvPr/>
          </p:nvGrpSpPr>
          <p:grpSpPr>
            <a:xfrm>
              <a:off x="660400" y="3026274"/>
              <a:ext cx="5295900" cy="1408612"/>
              <a:chOff x="885625" y="1714727"/>
              <a:chExt cx="5295900" cy="1408612"/>
            </a:xfrm>
          </p:grpSpPr>
          <p:sp>
            <p:nvSpPr>
              <p:cNvPr id="1048768" name="Number2" descr="d43784d5-9fdb-417e-8540-6832e6895489"/>
              <p:cNvSpPr/>
              <p:nvPr/>
            </p:nvSpPr>
            <p:spPr>
              <a:xfrm flipH="1">
                <a:off x="885625" y="1714727"/>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dirty="0">
                    <a:solidFill>
                      <a:srgbClr val="684E93"/>
                    </a:solidFill>
                    <a:latin typeface="Arial" panose="020B0604020202020204"/>
                  </a:rPr>
                  <a:t>2</a:t>
                </a:r>
              </a:p>
            </p:txBody>
          </p:sp>
          <p:sp>
            <p:nvSpPr>
              <p:cNvPr id="1048769" name="Bullet2" descr="751bd043-c3bb-4105-ada4-7b045cd7f303"/>
              <p:cNvSpPr txBox="1"/>
              <p:nvPr/>
            </p:nvSpPr>
            <p:spPr>
              <a:xfrm>
                <a:off x="1383527" y="1714727"/>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技术倾向分析模型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特征工程</a:t>
                </a:r>
                <a:endParaRPr lang="en-US" sz="1800" b="1" i="0" u="none" dirty="0">
                  <a:solidFill>
                    <a:srgbClr val="000000"/>
                  </a:solidFill>
                  <a:ea typeface="微软雅黑" panose="020B0503020204020204" charset="-122"/>
                </a:endParaRPr>
              </a:p>
            </p:txBody>
          </p:sp>
          <p:sp>
            <p:nvSpPr>
              <p:cNvPr id="1048770" name="Text2" descr="79a6b89a-e118-4a54-959b-b5d302ac36de"/>
              <p:cNvSpPr txBox="1"/>
              <p:nvPr/>
            </p:nvSpPr>
            <p:spPr>
              <a:xfrm>
                <a:off x="1383527" y="2187388"/>
                <a:ext cx="4797998" cy="935951"/>
              </a:xfrm>
              <a:prstGeom prst="rect">
                <a:avLst/>
              </a:prstGeom>
              <a:noFill/>
              <a:ln>
                <a:noFill/>
              </a:ln>
            </p:spPr>
            <p:txBody>
              <a:bodyPr wrap="square" lIns="91440" tIns="45720" rIns="91440" bIns="45720" anchor="t" anchorCtr="0">
                <a:normAutofit fontScale="76667" lnSpcReduction="20000"/>
              </a:bodyPr>
              <a:lstStyle/>
              <a:p>
                <a:pPr>
                  <a:lnSpc>
                    <a:spcPct val="120000"/>
                  </a:lnSpc>
                  <a:spcBef>
                    <a:spcPct val="0"/>
                  </a:spcBef>
                  <a:spcAft>
                    <a:spcPct val="0"/>
                  </a:spcAft>
                </a:pPr>
                <a:r>
                  <a:rPr lang="zh-CN" altLang="en-US" dirty="0"/>
                  <a:t>从用户参与的所有仓库中提取 </a:t>
                </a:r>
                <a:r>
                  <a:rPr lang="en-US" altLang="zh-CN" sz="2000" dirty="0"/>
                  <a:t>Language</a:t>
                </a:r>
                <a:r>
                  <a:rPr lang="zh-CN" altLang="en-US" dirty="0"/>
                  <a:t> 和 </a:t>
                </a:r>
                <a:r>
                  <a:rPr lang="en-US" altLang="zh-CN" dirty="0"/>
                  <a:t>Topic</a:t>
                </a:r>
                <a:r>
                  <a:rPr lang="zh-CN" altLang="en-US" dirty="0"/>
                  <a:t> 标签；构建技术标签的频次矩阵；引入“置信度权重”特征，基于用户项目总数判断数据是否充分，用于触发冷启动逻辑。</a:t>
                </a:r>
                <a:endParaRPr lang="en-US" sz="1200" b="0" i="0" u="none" strike="noStrike" dirty="0">
                  <a:solidFill>
                    <a:srgbClr val="000000"/>
                  </a:solidFill>
                  <a:ea typeface="微软雅黑" panose="020B0503020204020204" charset="-122"/>
                </a:endParaRPr>
              </a:p>
            </p:txBody>
          </p:sp>
        </p:grpSp>
        <p:grpSp>
          <p:nvGrpSpPr>
            <p:cNvPr id="123" name="组合 5" descr="896333f7-f233-40da-9dc7-b62b99fb90e8"/>
            <p:cNvGrpSpPr/>
            <p:nvPr/>
          </p:nvGrpSpPr>
          <p:grpSpPr>
            <a:xfrm>
              <a:off x="660400" y="4253147"/>
              <a:ext cx="5295900" cy="1408612"/>
              <a:chOff x="885625" y="1459358"/>
              <a:chExt cx="5295900" cy="1408612"/>
            </a:xfrm>
          </p:grpSpPr>
          <p:sp>
            <p:nvSpPr>
              <p:cNvPr id="1048771" name="Number3" descr="ed015eec-0554-46d2-9099-b93139b31570"/>
              <p:cNvSpPr/>
              <p:nvPr/>
            </p:nvSpPr>
            <p:spPr>
              <a:xfrm flipH="1">
                <a:off x="885625" y="1459358"/>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3</a:t>
                </a:r>
              </a:p>
            </p:txBody>
          </p:sp>
          <p:sp>
            <p:nvSpPr>
              <p:cNvPr id="1048772" name="Bullet3" descr="5ac1a62b-726c-4c09-a53a-adb90b119bff"/>
              <p:cNvSpPr txBox="1"/>
              <p:nvPr/>
            </p:nvSpPr>
            <p:spPr>
              <a:xfrm>
                <a:off x="1383527" y="1459358"/>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技术倾向分析模型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算法实现</a:t>
                </a:r>
                <a:endParaRPr lang="en-US" sz="1800" b="1" i="0" u="none" dirty="0">
                  <a:solidFill>
                    <a:srgbClr val="000000"/>
                  </a:solidFill>
                  <a:ea typeface="微软雅黑" panose="020B0503020204020204" charset="-122"/>
                </a:endParaRPr>
              </a:p>
            </p:txBody>
          </p:sp>
          <mc:AlternateContent xmlns:mc="http://schemas.openxmlformats.org/markup-compatibility/2006" xmlns:a14="http://schemas.microsoft.com/office/drawing/2010/main">
            <mc:Choice Requires="a14">
              <p:sp>
                <p:nvSpPr>
                  <p:cNvPr id="1048773" name="Text3" descr="65c7178c-12e6-4e1a-a6ab-fe84c53db3a4"/>
                  <p:cNvSpPr txBox="1"/>
                  <p:nvPr/>
                </p:nvSpPr>
                <p:spPr>
                  <a:xfrm>
                    <a:off x="1383527" y="1932019"/>
                    <a:ext cx="4797998" cy="935951"/>
                  </a:xfrm>
                  <a:prstGeom prst="rect">
                    <a:avLst/>
                  </a:prstGeom>
                  <a:noFill/>
                  <a:ln>
                    <a:noFill/>
                  </a:ln>
                </p:spPr>
                <p:txBody>
                  <a:bodyPr wrap="square" lIns="91440" tIns="45720" rIns="91440" bIns="45720" anchor="t" anchorCtr="0">
                    <a:noAutofit/>
                  </a:bodyPr>
                  <a:lstStyle/>
                  <a:p>
                    <a:pPr>
                      <a:lnSpc>
                        <a:spcPct val="120000"/>
                      </a:lnSpc>
                      <a:spcBef>
                        <a:spcPct val="0"/>
                      </a:spcBef>
                      <a:spcAft>
                        <a:spcPct val="0"/>
                      </a:spcAft>
                    </a:pPr>
                    <a:r>
                      <a:rPr lang="zh-CN" altLang="en-US" sz="1500" dirty="0"/>
                      <a:t>采用 </a:t>
                    </a:r>
                    <a:r>
                      <a:rPr lang="zh-CN" altLang="en-US" sz="1500" b="1" dirty="0"/>
                      <a:t>拉普拉斯平滑 </a:t>
                    </a:r>
                    <a:r>
                      <a:rPr lang="en-US" altLang="zh-CN" sz="1500" b="1" dirty="0"/>
                      <a:t>(Laplace Smoothing)</a:t>
                    </a:r>
                    <a:r>
                      <a:rPr lang="zh-CN" altLang="en-US" sz="1500" dirty="0"/>
                      <a:t> 计算各技术标签的后验概率，避免零概率问题；针对冷启动用户，使用 </a:t>
                    </a:r>
                    <a:r>
                      <a:rPr lang="zh-CN" altLang="en-US" sz="1500" b="1" dirty="0"/>
                      <a:t>贝叶斯融合 </a:t>
                    </a:r>
                    <a:r>
                      <a:rPr lang="en-US" altLang="zh-CN" sz="1500" b="1" dirty="0"/>
                      <a:t>(Bayesian Fusion)</a:t>
                    </a:r>
                    <a:r>
                      <a:rPr lang="zh-CN" altLang="en-US" sz="1500" dirty="0"/>
                      <a:t> 算法，动态计算置信度权重 </a:t>
                    </a:r>
                    <a14:m>
                      <m:oMath xmlns:m="http://schemas.openxmlformats.org/officeDocument/2006/math">
                        <m:r>
                          <a:rPr lang="zh-CN" altLang="en-US" sz="1500" i="1">
                            <a:latin typeface="Cambria Math" panose="02040503050406030204" pitchFamily="18" charset="0"/>
                          </a:rPr>
                          <m:t>𝑤</m:t>
                        </m:r>
                      </m:oMath>
                    </a14:m>
                    <a:r>
                      <a:rPr lang="zh-CN" altLang="en-US" sz="1500" dirty="0"/>
                      <a:t>，将用户个人分布与社区平均分布（先验知识）进行线性加权融合。</a:t>
                    </a:r>
                    <a:endParaRPr lang="en-US" sz="1500" b="0" i="0" u="none" strike="noStrike" dirty="0">
                      <a:solidFill>
                        <a:srgbClr val="000000"/>
                      </a:solidFill>
                      <a:ea typeface="微软雅黑" panose="020B0503020204020204" charset="-122"/>
                    </a:endParaRPr>
                  </a:p>
                </p:txBody>
              </p:sp>
            </mc:Choice>
            <mc:Fallback xmlns="">
              <p:sp>
                <p:nvSpPr>
                  <p:cNvPr id="1048773" name="Text3" descr="65c7178c-12e6-4e1a-a6ab-fe84c53db3a4"/>
                  <p:cNvSpPr txBox="1">
                    <a:spLocks noRot="1" noChangeAspect="1" noMove="1" noResize="1" noEditPoints="1" noAdjustHandles="1" noChangeArrowheads="1" noChangeShapeType="1" noTextEdit="1"/>
                  </p:cNvSpPr>
                  <p:nvPr/>
                </p:nvSpPr>
                <p:spPr>
                  <a:xfrm>
                    <a:off x="1383527" y="1932019"/>
                    <a:ext cx="4797998" cy="935951"/>
                  </a:xfrm>
                  <a:prstGeom prst="rect">
                    <a:avLst/>
                  </a:prstGeom>
                  <a:blipFill>
                    <a:blip r:embed="rId2"/>
                    <a:stretch>
                      <a:fillRect l="-508" b="-61039"/>
                    </a:stretch>
                  </a:blipFill>
                  <a:ln>
                    <a:noFill/>
                  </a:ln>
                </p:spPr>
                <p:txBody>
                  <a:bodyPr/>
                  <a:lstStyle/>
                  <a:p>
                    <a:r>
                      <a:rPr lang="zh-CN" altLang="en-US">
                        <a:noFill/>
                      </a:rPr>
                      <a:t> </a:t>
                    </a:r>
                  </a:p>
                </p:txBody>
              </p:sp>
            </mc:Fallback>
          </mc:AlternateContent>
        </p:grpSp>
        <p:grpSp>
          <p:nvGrpSpPr>
            <p:cNvPr id="124" name="组合 69" descr="eb98e171-e3ad-4177-809e-980d3dfe5c1e"/>
            <p:cNvGrpSpPr/>
            <p:nvPr/>
          </p:nvGrpSpPr>
          <p:grpSpPr>
            <a:xfrm>
              <a:off x="6223000" y="1761003"/>
              <a:ext cx="5295900" cy="1408612"/>
              <a:chOff x="885625" y="1931699"/>
              <a:chExt cx="5295900" cy="1408612"/>
            </a:xfrm>
          </p:grpSpPr>
          <p:sp>
            <p:nvSpPr>
              <p:cNvPr id="1048774" name="Number4" descr="d39c23d2-1711-486f-a3b8-3d7ff8589841"/>
              <p:cNvSpPr/>
              <p:nvPr/>
            </p:nvSpPr>
            <p:spPr>
              <a:xfrm flipH="1">
                <a:off x="885625" y="1931699"/>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4</a:t>
                </a:r>
              </a:p>
            </p:txBody>
          </p:sp>
          <p:sp>
            <p:nvSpPr>
              <p:cNvPr id="1048775" name="Bullet4" descr="ab00d2e9-363b-43c4-a0f0-82377ac8b3f2"/>
              <p:cNvSpPr txBox="1"/>
              <p:nvPr/>
            </p:nvSpPr>
            <p:spPr>
              <a:xfrm>
                <a:off x="1383527" y="1931699"/>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活跃度预测模型 - 核心目标</a:t>
                </a:r>
              </a:p>
            </p:txBody>
          </p:sp>
          <p:sp>
            <p:nvSpPr>
              <p:cNvPr id="1048776" name="Text4" descr="0ecccf9c-452e-4c60-8ee7-7f8ed59752be"/>
              <p:cNvSpPr txBox="1"/>
              <p:nvPr/>
            </p:nvSpPr>
            <p:spPr>
              <a:xfrm>
                <a:off x="1383527" y="2404360"/>
                <a:ext cx="4797998" cy="935951"/>
              </a:xfrm>
              <a:prstGeom prst="rect">
                <a:avLst/>
              </a:prstGeom>
              <a:noFill/>
              <a:ln>
                <a:noFill/>
              </a:ln>
            </p:spPr>
            <p:txBody>
              <a:bodyPr wrap="square" lIns="91440" tIns="45720" rIns="91440" bIns="45720" anchor="t" anchorCtr="0">
                <a:normAutofit fontScale="85000" lnSpcReduction="10000"/>
              </a:bodyPr>
              <a:lstStyle/>
              <a:p>
                <a:pPr>
                  <a:lnSpc>
                    <a:spcPct val="120000"/>
                  </a:lnSpc>
                  <a:spcBef>
                    <a:spcPct val="0"/>
                  </a:spcBef>
                  <a:spcAft>
                    <a:spcPct val="0"/>
                  </a:spcAft>
                </a:pPr>
                <a:r>
                  <a:rPr lang="zh-CN" altLang="en-US" dirty="0"/>
                  <a:t>从“定量”和“定性”两个维度预测未来行为：定量预测未来 </a:t>
                </a:r>
                <a:r>
                  <a:rPr lang="en-US" altLang="zh-CN" dirty="0"/>
                  <a:t>30 </a:t>
                </a:r>
                <a:r>
                  <a:rPr lang="zh-CN" altLang="en-US" dirty="0"/>
                  <a:t>天内的活跃概率与期望间隔；定性预测下一次代码提交可能涉及的关注领域与类型。</a:t>
                </a:r>
                <a:endParaRPr lang="en-US" sz="1200" b="0" i="0" u="none" strike="noStrike" dirty="0">
                  <a:solidFill>
                    <a:srgbClr val="000000"/>
                  </a:solidFill>
                  <a:ea typeface="微软雅黑" panose="020B0503020204020204" charset="-122"/>
                </a:endParaRPr>
              </a:p>
            </p:txBody>
          </p:sp>
        </p:grpSp>
        <p:grpSp>
          <p:nvGrpSpPr>
            <p:cNvPr id="125" name="组合 70" descr="21a10214-38fb-4fa2-81e4-234468cf8a11"/>
            <p:cNvGrpSpPr/>
            <p:nvPr/>
          </p:nvGrpSpPr>
          <p:grpSpPr>
            <a:xfrm>
              <a:off x="6223000" y="3041771"/>
              <a:ext cx="5295900" cy="1305664"/>
              <a:chOff x="885625" y="1730224"/>
              <a:chExt cx="5295900" cy="1305664"/>
            </a:xfrm>
          </p:grpSpPr>
          <p:sp>
            <p:nvSpPr>
              <p:cNvPr id="1048777" name="Number5" descr="423a26ae-c00d-4019-8dfe-4beea36a62db"/>
              <p:cNvSpPr/>
              <p:nvPr/>
            </p:nvSpPr>
            <p:spPr>
              <a:xfrm flipH="1">
                <a:off x="885625" y="1730224"/>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5</a:t>
                </a:r>
              </a:p>
            </p:txBody>
          </p:sp>
          <p:sp>
            <p:nvSpPr>
              <p:cNvPr id="1048778" name="Bullet5" descr="2af8adff-38fc-4b12-9f81-722b32a682fa"/>
              <p:cNvSpPr txBox="1"/>
              <p:nvPr/>
            </p:nvSpPr>
            <p:spPr>
              <a:xfrm>
                <a:off x="1383527" y="1730224"/>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dirty="0" err="1">
                    <a:solidFill>
                      <a:srgbClr val="000000"/>
                    </a:solidFill>
                    <a:ea typeface="微软雅黑" panose="020B0503020204020204" charset="-122"/>
                  </a:rPr>
                  <a:t>活跃度预测模型</a:t>
                </a:r>
                <a:r>
                  <a:rPr lang="en-US" sz="1800" b="1" i="0" u="none" dirty="0">
                    <a:solidFill>
                      <a:srgbClr val="000000"/>
                    </a:solidFill>
                    <a:ea typeface="微软雅黑" panose="020B0503020204020204" charset="-122"/>
                  </a:rPr>
                  <a:t> - </a:t>
                </a:r>
                <a:r>
                  <a:rPr lang="en-US" sz="1800" b="1" i="0" u="none" dirty="0" err="1">
                    <a:solidFill>
                      <a:srgbClr val="000000"/>
                    </a:solidFill>
                    <a:ea typeface="微软雅黑" panose="020B0503020204020204" charset="-122"/>
                  </a:rPr>
                  <a:t>特征工程</a:t>
                </a:r>
                <a:endParaRPr lang="en-US" sz="1800" b="1" i="0" u="none" dirty="0">
                  <a:solidFill>
                    <a:srgbClr val="000000"/>
                  </a:solidFill>
                  <a:ea typeface="微软雅黑" panose="020B0503020204020204" charset="-122"/>
                </a:endParaRPr>
              </a:p>
            </p:txBody>
          </p:sp>
          <p:sp>
            <p:nvSpPr>
              <p:cNvPr id="1048779" name="Text5" descr="6630d0ca-1865-4e74-80a5-f7af47aea7c1"/>
              <p:cNvSpPr txBox="1"/>
              <p:nvPr/>
            </p:nvSpPr>
            <p:spPr>
              <a:xfrm>
                <a:off x="1383527" y="2099937"/>
                <a:ext cx="4797998" cy="935951"/>
              </a:xfrm>
              <a:prstGeom prst="rect">
                <a:avLst/>
              </a:prstGeom>
              <a:noFill/>
              <a:ln>
                <a:noFill/>
              </a:ln>
            </p:spPr>
            <p:txBody>
              <a:bodyPr wrap="square" lIns="91440" tIns="45720" rIns="91440" bIns="45720" anchor="t" anchorCtr="0">
                <a:noAutofit/>
              </a:bodyPr>
              <a:lstStyle/>
              <a:p>
                <a:pPr>
                  <a:lnSpc>
                    <a:spcPct val="120000"/>
                  </a:lnSpc>
                  <a:spcBef>
                    <a:spcPct val="0"/>
                  </a:spcBef>
                  <a:spcAft>
                    <a:spcPct val="0"/>
                  </a:spcAft>
                </a:pPr>
                <a:r>
                  <a:rPr lang="zh-CN" altLang="en-US" sz="1500" b="1" dirty="0"/>
                  <a:t>定量特征</a:t>
                </a:r>
                <a:r>
                  <a:rPr lang="zh-CN" altLang="en-US" sz="1500" dirty="0"/>
                  <a:t>：计算历史 </a:t>
                </a:r>
                <a:r>
                  <a:rPr lang="en-US" altLang="zh-CN" sz="1500" dirty="0"/>
                  <a:t>Commit </a:t>
                </a:r>
                <a:r>
                  <a:rPr lang="zh-CN" altLang="en-US" sz="1500" dirty="0"/>
                  <a:t>时间戳之间的间隔序列 </a:t>
                </a:r>
                <a:r>
                  <a:rPr lang="en-US" altLang="zh-CN" sz="1500" dirty="0"/>
                  <a:t>(Time Intervals)</a:t>
                </a:r>
                <a:r>
                  <a:rPr lang="zh-CN" altLang="en-US" sz="1500" dirty="0"/>
                  <a:t>，并进行异常值过滤；</a:t>
                </a:r>
                <a:br>
                  <a:rPr lang="zh-CN" altLang="en-US" sz="1500" dirty="0"/>
                </a:br>
                <a:r>
                  <a:rPr lang="zh-CN" altLang="en-US" sz="1500" b="1" dirty="0"/>
                  <a:t>定性特征</a:t>
                </a:r>
                <a:r>
                  <a:rPr lang="zh-CN" altLang="en-US" sz="1500" dirty="0"/>
                  <a:t>：提取最近 </a:t>
                </a:r>
                <a:r>
                  <a:rPr lang="en-US" altLang="zh-CN" sz="1500" dirty="0"/>
                  <a:t>10 </a:t>
                </a:r>
                <a:r>
                  <a:rPr lang="zh-CN" altLang="en-US" sz="1500" dirty="0"/>
                  <a:t>次 </a:t>
                </a:r>
                <a:r>
                  <a:rPr lang="en-US" altLang="zh-CN" sz="1500" dirty="0"/>
                  <a:t>Commit Message </a:t>
                </a:r>
                <a:r>
                  <a:rPr lang="zh-CN" altLang="en-US" sz="1500" dirty="0"/>
                  <a:t>的文本语义，作为 </a:t>
                </a:r>
                <a:r>
                  <a:rPr lang="en-US" altLang="zh-CN" sz="1500" dirty="0"/>
                  <a:t>LLM </a:t>
                </a:r>
                <a:r>
                  <a:rPr lang="zh-CN" altLang="en-US" sz="1500" dirty="0"/>
                  <a:t>的上下文输入。</a:t>
                </a:r>
                <a:endParaRPr lang="en-US" sz="1500" b="0" i="0" u="none" strike="noStrike" dirty="0">
                  <a:solidFill>
                    <a:srgbClr val="000000"/>
                  </a:solidFill>
                  <a:ea typeface="微软雅黑" panose="020B0503020204020204" charset="-122"/>
                </a:endParaRPr>
              </a:p>
            </p:txBody>
          </p:sp>
        </p:grpSp>
        <p:grpSp>
          <p:nvGrpSpPr>
            <p:cNvPr id="126" name="组合 71" descr="ea68418c-afb5-4ae0-8304-c000ff38b8c4"/>
            <p:cNvGrpSpPr/>
            <p:nvPr/>
          </p:nvGrpSpPr>
          <p:grpSpPr>
            <a:xfrm>
              <a:off x="6223000" y="4459035"/>
              <a:ext cx="5295900" cy="1408612"/>
              <a:chOff x="885625" y="1665246"/>
              <a:chExt cx="5295900" cy="1408612"/>
            </a:xfrm>
          </p:grpSpPr>
          <p:sp>
            <p:nvSpPr>
              <p:cNvPr id="1048780" name="Number6" descr="98b7f66f-9915-4d86-b0f6-0553efa1ccb5"/>
              <p:cNvSpPr/>
              <p:nvPr/>
            </p:nvSpPr>
            <p:spPr>
              <a:xfrm flipH="1">
                <a:off x="885625" y="1665246"/>
                <a:ext cx="472502" cy="472662"/>
              </a:xfrm>
              <a:prstGeom prst="ellipse">
                <a:avLst/>
              </a:prstGeom>
              <a:no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fontScale="92500" lnSpcReduction="10000"/>
              </a:bodyPr>
              <a:lstStyle/>
              <a:p>
                <a:pPr algn="ctr"/>
                <a:r>
                  <a:rPr lang="en-US" sz="1800" b="0" i="0" u="none">
                    <a:solidFill>
                      <a:srgbClr val="684E93"/>
                    </a:solidFill>
                    <a:latin typeface="Arial" panose="020B0604020202020204"/>
                  </a:rPr>
                  <a:t>6</a:t>
                </a:r>
              </a:p>
            </p:txBody>
          </p:sp>
          <p:sp>
            <p:nvSpPr>
              <p:cNvPr id="1048781" name="Bullet6" descr="f742cffc-dba1-4411-8c78-c7cf0e93fa4d"/>
              <p:cNvSpPr txBox="1"/>
              <p:nvPr/>
            </p:nvSpPr>
            <p:spPr>
              <a:xfrm>
                <a:off x="1383527" y="1665246"/>
                <a:ext cx="4797998" cy="472662"/>
              </a:xfrm>
              <a:prstGeom prst="rect">
                <a:avLst/>
              </a:prstGeom>
              <a:noFill/>
              <a:ln>
                <a:noFill/>
              </a:ln>
            </p:spPr>
            <p:txBody>
              <a:bodyPr wrap="square" lIns="91440" tIns="45720" rIns="91440" bIns="45720" anchor="ctr" anchorCtr="0">
                <a:normAutofit/>
              </a:bodyPr>
              <a:lstStyle>
                <a:defPPr>
                  <a:defRPr lang="en-US"/>
                </a:defPPr>
                <a:lvl1pPr marR="0" lvl="0" indent="0" defTabSz="913765" fontAlgn="auto">
                  <a:spcBef>
                    <a:spcPts val="0"/>
                  </a:spcBef>
                  <a:spcAft>
                    <a:spcPts val="0"/>
                  </a:spcAft>
                  <a:buClrTx/>
                  <a:buSzPct val="25000"/>
                  <a:buFontTx/>
                  <a:buNone/>
                  <a:defRPr kumimoji="0" b="1" i="0" u="none" strike="noStrike" cap="none" spc="0" normalizeH="0" baseline="0">
                    <a:ln>
                      <a:noFill/>
                    </a:ln>
                    <a:solidFill>
                      <a:schemeClr val="tx1"/>
                    </a:solidFill>
                    <a:effectLst/>
                    <a:uLnTx/>
                    <a:uFillTx/>
                    <a:latin typeface="Arial" panose="020B0604020202020204" pitchFamily="34" charset="0"/>
                    <a:cs typeface="Arial" panose="020B06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lnSpc>
                    <a:spcPct val="120000"/>
                  </a:lnSpc>
                  <a:spcBef>
                    <a:spcPct val="0"/>
                  </a:spcBef>
                  <a:spcAft>
                    <a:spcPct val="0"/>
                  </a:spcAft>
                </a:pPr>
                <a:r>
                  <a:rPr lang="en-US" sz="1800" b="1" i="0" u="none">
                    <a:solidFill>
                      <a:srgbClr val="000000"/>
                    </a:solidFill>
                    <a:ea typeface="微软雅黑" panose="020B0503020204020204" charset="-122"/>
                  </a:rPr>
                  <a:t>活跃度预测模型 - 算法实现</a:t>
                </a:r>
              </a:p>
            </p:txBody>
          </p:sp>
          <p:sp>
            <p:nvSpPr>
              <p:cNvPr id="1048782" name="Text6" descr="5d548f61-54f7-446d-85e9-977fdf06726c"/>
              <p:cNvSpPr txBox="1"/>
              <p:nvPr/>
            </p:nvSpPr>
            <p:spPr>
              <a:xfrm>
                <a:off x="1383527" y="2137907"/>
                <a:ext cx="4797998" cy="935951"/>
              </a:xfrm>
              <a:prstGeom prst="rect">
                <a:avLst/>
              </a:prstGeom>
              <a:noFill/>
              <a:ln>
                <a:noFill/>
              </a:ln>
            </p:spPr>
            <p:txBody>
              <a:bodyPr wrap="square" lIns="91440" tIns="45720" rIns="91440" bIns="45720" anchor="t" anchorCtr="0">
                <a:noAutofit/>
              </a:bodyPr>
              <a:lstStyle/>
              <a:p>
                <a:r>
                  <a:rPr lang="zh-CN" altLang="en-US" sz="1500" b="1" dirty="0"/>
                  <a:t>数值预测</a:t>
                </a:r>
                <a:r>
                  <a:rPr lang="zh-CN" altLang="en-US" sz="1500" dirty="0"/>
                  <a:t>：使用 </a:t>
                </a:r>
                <a:r>
                  <a:rPr lang="zh-CN" altLang="en-US" sz="1500" b="1" dirty="0"/>
                  <a:t>最大似然估计 </a:t>
                </a:r>
                <a:r>
                  <a:rPr lang="en-US" altLang="zh-CN" sz="1500" b="1" dirty="0"/>
                  <a:t>(MLE)</a:t>
                </a:r>
                <a:r>
                  <a:rPr lang="en-US" altLang="zh-CN" sz="1500" dirty="0"/>
                  <a:t> </a:t>
                </a:r>
                <a:r>
                  <a:rPr lang="zh-CN" altLang="en-US" sz="1500" dirty="0"/>
                  <a:t>对间隔序列进行 </a:t>
                </a:r>
                <a:r>
                  <a:rPr lang="en-US" altLang="zh-CN" sz="1500" b="1" dirty="0"/>
                  <a:t>Weibull </a:t>
                </a:r>
                <a:r>
                  <a:rPr lang="zh-CN" altLang="en-US" sz="1500" b="1" dirty="0"/>
                  <a:t>分布</a:t>
                </a:r>
                <a:r>
                  <a:rPr lang="zh-CN" altLang="en-US" sz="1500" dirty="0"/>
                  <a:t> 拟合，计算累积概率密度 </a:t>
                </a:r>
                <a:r>
                  <a:rPr lang="en-US" altLang="zh-CN" sz="1500" dirty="0"/>
                  <a:t>(CDF) </a:t>
                </a:r>
                <a:r>
                  <a:rPr lang="zh-CN" altLang="en-US" sz="1500" dirty="0"/>
                  <a:t>得到未来活跃率；</a:t>
                </a:r>
                <a:br>
                  <a:rPr lang="zh-CN" altLang="en-US" sz="1500" dirty="0"/>
                </a:br>
                <a:r>
                  <a:rPr lang="zh-CN" altLang="en-US" sz="1500" b="1" dirty="0"/>
                  <a:t>内容预测</a:t>
                </a:r>
                <a:r>
                  <a:rPr lang="zh-CN" altLang="en-US" sz="1500" dirty="0"/>
                  <a:t>：集成 </a:t>
                </a:r>
                <a:r>
                  <a:rPr lang="en-US" altLang="zh-CN" sz="1500" b="1" dirty="0"/>
                  <a:t>LLM (Large Language Model)</a:t>
                </a:r>
                <a:r>
                  <a:rPr lang="en-US" altLang="zh-CN" sz="1500" dirty="0"/>
                  <a:t> </a:t>
                </a:r>
                <a:r>
                  <a:rPr lang="zh-CN" altLang="en-US" sz="1500" dirty="0"/>
                  <a:t>服务，通过 </a:t>
                </a:r>
                <a:r>
                  <a:rPr lang="en-US" altLang="zh-CN" sz="1500" dirty="0"/>
                  <a:t>Few-Shot Learning </a:t>
                </a:r>
                <a:r>
                  <a:rPr lang="zh-CN" altLang="en-US" sz="1500" dirty="0"/>
                  <a:t>分析提交历史语义，生成下一次提交的“关注领域”与</a:t>
                </a:r>
              </a:p>
              <a:p>
                <a:r>
                  <a:rPr lang="zh-CN" altLang="en-US" sz="1500" dirty="0"/>
                  <a:t>“提交类型”预测。</a:t>
                </a:r>
              </a:p>
            </p:txBody>
          </p:sp>
        </p:grpSp>
      </p:grpSp>
      <p:sp>
        <p:nvSpPr>
          <p:cNvPr id="1048783" name="标题 1048782"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模型层：技术倾向分析与活跃度预测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8" name="32da187b-0898-4398-b90b-62353325ca1b.source.3.zh-Hans.pptx" descr="92fabb9d-6a68-49f6-9895-bba4179bfce3"/>
          <p:cNvGrpSpPr/>
          <p:nvPr/>
        </p:nvGrpSpPr>
        <p:grpSpPr>
          <a:xfrm>
            <a:off x="660399" y="1130300"/>
            <a:ext cx="10858501" cy="4754649"/>
            <a:chOff x="660399" y="1130300"/>
            <a:chExt cx="10858501" cy="4754649"/>
          </a:xfrm>
        </p:grpSpPr>
        <p:sp>
          <p:nvSpPr>
            <p:cNvPr id="1048784" name="Title" descr="f5bb1f9b-83ab-40a5-8fbb-626f39f96a36"/>
            <p:cNvSpPr txBox="1"/>
            <p:nvPr/>
          </p:nvSpPr>
          <p:spPr>
            <a:xfrm>
              <a:off x="660399" y="1130300"/>
              <a:ext cx="10858500" cy="636445"/>
            </a:xfrm>
            <a:prstGeom prst="rect">
              <a:avLst/>
            </a:prstGeom>
            <a:noFill/>
          </p:spPr>
          <p:txBody>
            <a:bodyPr wrap="square" rtlCol="0" anchorCtr="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20000"/>
                </a:lnSpc>
              </a:pPr>
              <a:r>
                <a:rPr lang="zh-CN" altLang="en-US" sz="2400" b="1" dirty="0"/>
                <a:t>展示基于 </a:t>
              </a:r>
              <a:r>
                <a:rPr lang="en-US" altLang="zh-CN" sz="2400" b="1" dirty="0"/>
                <a:t>Vue 3 + </a:t>
              </a:r>
              <a:r>
                <a:rPr lang="en-US" altLang="zh-CN" sz="2400" b="1" dirty="0" err="1"/>
                <a:t>ECharts</a:t>
              </a:r>
              <a:r>
                <a:rPr lang="en-US" altLang="zh-CN" sz="2400" b="1" dirty="0"/>
                <a:t> </a:t>
              </a:r>
              <a:r>
                <a:rPr lang="zh-CN" altLang="en-US" sz="2400" b="1" dirty="0"/>
                <a:t>构建的现代化前端交互平台</a:t>
              </a:r>
              <a:endParaRPr lang="en-US" sz="3200" b="1" i="0" u="none" dirty="0">
                <a:solidFill>
                  <a:srgbClr val="000000"/>
                </a:solidFill>
                <a:ea typeface="微软雅黑" panose="020B0503020204020204" charset="-122"/>
              </a:endParaRPr>
            </a:p>
          </p:txBody>
        </p:sp>
        <p:grpSp>
          <p:nvGrpSpPr>
            <p:cNvPr id="129" name="组合 21" descr="1b20897c-5185-4321-9707-22d10f8adb86"/>
            <p:cNvGrpSpPr/>
            <p:nvPr/>
          </p:nvGrpSpPr>
          <p:grpSpPr>
            <a:xfrm>
              <a:off x="660400" y="2109982"/>
              <a:ext cx="3423931" cy="3774967"/>
              <a:chOff x="660400" y="2109982"/>
              <a:chExt cx="3423931" cy="3774967"/>
            </a:xfrm>
          </p:grpSpPr>
          <p:sp>
            <p:nvSpPr>
              <p:cNvPr id="1048785" name="Shape1" descr="4b46c878-debd-47a4-ae51-49466e459c64"/>
              <p:cNvSpPr/>
              <p:nvPr/>
            </p:nvSpPr>
            <p:spPr>
              <a:xfrm>
                <a:off x="705572" y="2156764"/>
                <a:ext cx="3378759" cy="3720850"/>
              </a:xfrm>
              <a:prstGeom prst="roundRect">
                <a:avLst>
                  <a:gd name="adj" fmla="val 4933"/>
                </a:avLst>
              </a:prstGeom>
              <a:gradFill flip="none" rotWithShape="1">
                <a:gsLst>
                  <a:gs pos="0">
                    <a:schemeClr val="accent1">
                      <a:lumMod val="60000"/>
                      <a:lumOff val="40000"/>
                    </a:schemeClr>
                  </a:gs>
                  <a:gs pos="50000">
                    <a:schemeClr val="accent1"/>
                  </a:gs>
                </a:gsLst>
                <a:lin ang="2700000" scaled="1"/>
              </a:gradFill>
              <a:ln w="25400">
                <a:noFill/>
              </a:ln>
              <a:effectLst/>
            </p:spPr>
            <p:txBody>
              <a:bodyPr wrap="none" rtlCol="0" anchor="ctr" anchorCtr="0">
                <a:normAutofit/>
              </a:bodyPr>
              <a:lstStyle/>
              <a:p>
                <a:pPr algn="ctr">
                  <a:lnSpc>
                    <a:spcPct val="120000"/>
                  </a:lnSpc>
                </a:pPr>
                <a:endParaRPr/>
              </a:p>
            </p:txBody>
          </p:sp>
          <p:sp>
            <p:nvSpPr>
              <p:cNvPr id="1048786" name="ComponentBackground1" descr="59452746-dff9-4420-9847-896619d15561"/>
              <p:cNvSpPr/>
              <p:nvPr/>
            </p:nvSpPr>
            <p:spPr>
              <a:xfrm>
                <a:off x="660400" y="210998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87" name="Shapee1" descr="d0fd817a-7b10-484a-9fae-d8991850effa"/>
              <p:cNvSpPr/>
              <p:nvPr/>
            </p:nvSpPr>
            <p:spPr>
              <a:xfrm>
                <a:off x="3674190"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88" name="Text1" descr="67e1840e-c4c7-4983-bd54-37a3e5e7953a"/>
              <p:cNvSpPr txBox="1"/>
              <p:nvPr/>
            </p:nvSpPr>
            <p:spPr>
              <a:xfrm>
                <a:off x="842884" y="3039542"/>
                <a:ext cx="3013790" cy="2845407"/>
              </a:xfrm>
              <a:prstGeom prst="rect">
                <a:avLst/>
              </a:prstGeom>
              <a:noFill/>
            </p:spPr>
            <p:txBody>
              <a:bodyPr wrap="square" rtlCol="0" anchorCtr="0">
                <a:normAutofit/>
              </a:bodyPr>
              <a:lstStyle/>
              <a:p>
                <a:r>
                  <a:rPr lang="zh-CN" altLang="en-US" sz="1200" b="1" dirty="0"/>
                  <a:t>整合开发者核心身份信息与多维影响力评估，提供第一眼的直观认知。</a:t>
                </a:r>
                <a:endParaRPr lang="en-US" altLang="zh-CN" sz="1200" b="1" dirty="0"/>
              </a:p>
              <a:p>
                <a:endParaRPr lang="en-US" altLang="zh-CN" sz="1200" b="1" dirty="0"/>
              </a:p>
              <a:p>
                <a:r>
                  <a:rPr lang="zh-CN" altLang="en-US" sz="1200" b="1" dirty="0"/>
                  <a:t>核心画像卡片</a:t>
                </a:r>
                <a:r>
                  <a:rPr lang="zh-CN" altLang="en-US" sz="1200" dirty="0"/>
                  <a:t>：展示头像、</a:t>
                </a:r>
                <a:r>
                  <a:rPr lang="en-US" altLang="zh-CN" sz="1200" dirty="0"/>
                  <a:t>Bio</a:t>
                </a:r>
                <a:r>
                  <a:rPr lang="zh-CN" altLang="en-US" sz="1200" dirty="0"/>
                  <a:t>、仓库数、粉丝数及推测的“主要编程语言”。</a:t>
                </a:r>
                <a:endParaRPr lang="en-US" altLang="zh-CN" sz="1200" dirty="0"/>
              </a:p>
              <a:p>
                <a:endParaRPr lang="zh-CN" altLang="en-US" sz="1200" dirty="0"/>
              </a:p>
              <a:p>
                <a:r>
                  <a:rPr lang="en-US" altLang="zh-CN" sz="1200" b="1" dirty="0" err="1"/>
                  <a:t>OpenRank</a:t>
                </a:r>
                <a:r>
                  <a:rPr lang="en-US" altLang="zh-CN" sz="1200" b="1" dirty="0"/>
                  <a:t> </a:t>
                </a:r>
                <a:r>
                  <a:rPr lang="zh-CN" altLang="en-US" sz="1200" b="1" dirty="0"/>
                  <a:t>评分</a:t>
                </a:r>
                <a:r>
                  <a:rPr lang="zh-CN" altLang="en-US" sz="1200" dirty="0"/>
                  <a:t>：直接集成 </a:t>
                </a:r>
                <a:r>
                  <a:rPr lang="en-US" altLang="zh-CN" sz="1200" dirty="0" err="1"/>
                  <a:t>OpenDigger</a:t>
                </a:r>
                <a:r>
                  <a:rPr lang="en-US" altLang="zh-CN" sz="1200" dirty="0"/>
                  <a:t> </a:t>
                </a:r>
                <a:r>
                  <a:rPr lang="zh-CN" altLang="en-US" sz="1200" dirty="0"/>
                  <a:t>的 </a:t>
                </a:r>
                <a:r>
                  <a:rPr lang="en-US" altLang="zh-CN" sz="1200" dirty="0" err="1"/>
                  <a:t>OpenRank</a:t>
                </a:r>
                <a:r>
                  <a:rPr lang="en-US" altLang="zh-CN" sz="1200" dirty="0"/>
                  <a:t> </a:t>
                </a:r>
                <a:r>
                  <a:rPr lang="zh-CN" altLang="en-US" sz="1200" dirty="0"/>
                  <a:t>数据，量化开源影响力。</a:t>
                </a:r>
                <a:endParaRPr lang="en-US" altLang="zh-CN" sz="1200" dirty="0"/>
              </a:p>
              <a:p>
                <a:endParaRPr lang="zh-CN" altLang="en-US" sz="1200" dirty="0"/>
              </a:p>
              <a:p>
                <a:r>
                  <a:rPr lang="zh-CN" altLang="en-US" sz="1200" b="1" dirty="0"/>
                  <a:t>冷启动状态</a:t>
                </a:r>
                <a:r>
                  <a:rPr lang="zh-CN" altLang="en-US" sz="1200" dirty="0"/>
                  <a:t>：智能识别数据稀疏用户，并展示冷启动补救策略提示。</a:t>
                </a:r>
              </a:p>
            </p:txBody>
          </p:sp>
          <p:sp>
            <p:nvSpPr>
              <p:cNvPr id="1048789" name="Bullet1" descr="4729f28b-715d-4069-923b-3c5050237aca"/>
              <p:cNvSpPr txBox="1"/>
              <p:nvPr/>
            </p:nvSpPr>
            <p:spPr>
              <a:xfrm>
                <a:off x="842884" y="2580235"/>
                <a:ext cx="3013790" cy="444863"/>
              </a:xfrm>
              <a:prstGeom prst="rect">
                <a:avLst/>
              </a:prstGeom>
              <a:noFill/>
            </p:spPr>
            <p:txBody>
              <a:bodyPr wrap="square" rtlCol="0" anchor="b" anchorCtr="0">
                <a:normAutofit/>
              </a:bodyPr>
              <a:lstStyle/>
              <a:p>
                <a:r>
                  <a:rPr lang="zh-CN" altLang="en-US" b="1" dirty="0"/>
                  <a:t>开发者画像</a:t>
                </a:r>
                <a:r>
                  <a:rPr lang="en-US" altLang="zh-CN" b="1" dirty="0"/>
                  <a:t>&amp;</a:t>
                </a:r>
                <a:r>
                  <a:rPr lang="zh-CN" altLang="en-US" b="1" dirty="0"/>
                  <a:t>基础指标</a:t>
                </a:r>
              </a:p>
            </p:txBody>
          </p:sp>
        </p:grpSp>
        <p:grpSp>
          <p:nvGrpSpPr>
            <p:cNvPr id="130" name="组合 22" descr="6e2487c7-1b11-4734-a538-883911c1aed5"/>
            <p:cNvGrpSpPr/>
            <p:nvPr/>
          </p:nvGrpSpPr>
          <p:grpSpPr>
            <a:xfrm>
              <a:off x="4377684" y="2109982"/>
              <a:ext cx="3423931" cy="3767632"/>
              <a:chOff x="4377684" y="2109982"/>
              <a:chExt cx="3423931" cy="3767632"/>
            </a:xfrm>
          </p:grpSpPr>
          <p:sp>
            <p:nvSpPr>
              <p:cNvPr id="1048790" name="Shape2" descr="5d34d3c3-8e12-4a71-8c92-91d63a077fa4"/>
              <p:cNvSpPr/>
              <p:nvPr/>
            </p:nvSpPr>
            <p:spPr>
              <a:xfrm>
                <a:off x="4422856" y="2156764"/>
                <a:ext cx="3378759" cy="3720850"/>
              </a:xfrm>
              <a:prstGeom prst="roundRect">
                <a:avLst>
                  <a:gd name="adj" fmla="val 4933"/>
                </a:avLst>
              </a:prstGeom>
              <a:gradFill>
                <a:gsLst>
                  <a:gs pos="0">
                    <a:schemeClr val="accent2">
                      <a:lumMod val="60000"/>
                      <a:lumOff val="40000"/>
                    </a:schemeClr>
                  </a:gs>
                  <a:gs pos="50000">
                    <a:schemeClr val="accent2"/>
                  </a:gs>
                </a:gsLst>
                <a:lin ang="2700000" scaled="0"/>
              </a:gradFill>
            </p:spPr>
            <p:txBody>
              <a:bodyPr wrap="none" lIns="108000" tIns="108000" rIns="108000" bIns="108000" rtlCol="0" anchor="ctr" anchorCtr="0">
                <a:normAutofit/>
              </a:bodyPr>
              <a:lstStyle/>
              <a:p>
                <a:pPr algn="ctr">
                  <a:lnSpc>
                    <a:spcPct val="120000"/>
                  </a:lnSpc>
                </a:pPr>
                <a:endParaRPr/>
              </a:p>
            </p:txBody>
          </p:sp>
          <p:sp>
            <p:nvSpPr>
              <p:cNvPr id="1048791" name="ComponentBackground2" descr="1b89434f-6872-419a-9d1a-ff88a75d1f71"/>
              <p:cNvSpPr/>
              <p:nvPr/>
            </p:nvSpPr>
            <p:spPr>
              <a:xfrm>
                <a:off x="4377684" y="210998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92" name="Shapee2" descr="7c91feaa-6e56-42a3-9f25-a94c448f6e5d"/>
              <p:cNvSpPr/>
              <p:nvPr/>
            </p:nvSpPr>
            <p:spPr>
              <a:xfrm>
                <a:off x="7391474"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93" name="Text2" descr="70150cf1-84f7-4f28-9e1c-2c9349574419"/>
              <p:cNvSpPr txBox="1"/>
              <p:nvPr/>
            </p:nvSpPr>
            <p:spPr>
              <a:xfrm>
                <a:off x="4560168" y="3029492"/>
                <a:ext cx="3013790" cy="2516539"/>
              </a:xfrm>
              <a:prstGeom prst="rect">
                <a:avLst/>
              </a:prstGeom>
              <a:noFill/>
            </p:spPr>
            <p:txBody>
              <a:bodyPr wrap="square" rtlCol="0" anchorCtr="0">
                <a:normAutofit/>
              </a:bodyPr>
              <a:lstStyle/>
              <a:p>
                <a:r>
                  <a:rPr lang="zh-CN" altLang="en-US" sz="1200" b="1" dirty="0"/>
                  <a:t>结合统计学模型与大语言模型 </a:t>
                </a:r>
                <a:r>
                  <a:rPr lang="en-US" altLang="zh-CN" sz="1200" b="1" dirty="0"/>
                  <a:t>(LLM)</a:t>
                </a:r>
                <a:r>
                  <a:rPr lang="zh-CN" altLang="en-US" sz="1200" b="1" dirty="0"/>
                  <a:t>，从时间与内容两个维度预测开发者行为。</a:t>
                </a:r>
                <a:endParaRPr lang="en-US" altLang="zh-CN" sz="1200" b="1" dirty="0"/>
              </a:p>
              <a:p>
                <a:endParaRPr lang="zh-CN" altLang="en-US" sz="1200" dirty="0"/>
              </a:p>
              <a:p>
                <a:r>
                  <a:rPr lang="zh-CN" altLang="en-US" sz="1200" b="1" dirty="0"/>
                  <a:t>活跃时间预测</a:t>
                </a:r>
                <a:r>
                  <a:rPr lang="zh-CN" altLang="en-US" sz="1200" dirty="0"/>
                  <a:t>：基于 </a:t>
                </a:r>
                <a:r>
                  <a:rPr lang="en-US" altLang="zh-CN" sz="1200" dirty="0"/>
                  <a:t>Weibull </a:t>
                </a:r>
                <a:r>
                  <a:rPr lang="zh-CN" altLang="en-US" sz="1200" dirty="0"/>
                  <a:t>分布拟合，展示“预期活跃间隔”与“未来</a:t>
                </a:r>
                <a:r>
                  <a:rPr lang="en-US" altLang="zh-CN" sz="1200" dirty="0"/>
                  <a:t>30</a:t>
                </a:r>
                <a:r>
                  <a:rPr lang="zh-CN" altLang="en-US" sz="1200" dirty="0"/>
                  <a:t>天活跃概率”。</a:t>
                </a:r>
                <a:endParaRPr lang="en-US" altLang="zh-CN" sz="1200" dirty="0"/>
              </a:p>
              <a:p>
                <a:endParaRPr lang="zh-CN" altLang="en-US" sz="1200" dirty="0"/>
              </a:p>
              <a:p>
                <a:r>
                  <a:rPr lang="en-US" altLang="zh-CN" sz="1200" b="1" dirty="0"/>
                  <a:t>AI </a:t>
                </a:r>
                <a:r>
                  <a:rPr lang="zh-CN" altLang="en-US" sz="1200" b="1" dirty="0"/>
                  <a:t>提交预测</a:t>
                </a:r>
                <a:r>
                  <a:rPr lang="zh-CN" altLang="en-US" sz="1200" dirty="0"/>
                  <a:t>：集成 </a:t>
                </a:r>
                <a:r>
                  <a:rPr lang="en-US" altLang="zh-CN" sz="1200" dirty="0"/>
                  <a:t>LLM </a:t>
                </a:r>
                <a:r>
                  <a:rPr lang="zh-CN" altLang="en-US" sz="1200" dirty="0"/>
                  <a:t>分析历史 </a:t>
                </a:r>
                <a:r>
                  <a:rPr lang="en-US" altLang="zh-CN" sz="1200" dirty="0"/>
                  <a:t>Commit </a:t>
                </a:r>
                <a:r>
                  <a:rPr lang="zh-CN" altLang="en-US" sz="1200" dirty="0"/>
                  <a:t>语义，预测下一次提交的“关注领域”与“提交类型”。</a:t>
                </a:r>
                <a:endParaRPr lang="en-US" altLang="zh-CN" sz="1200" dirty="0"/>
              </a:p>
              <a:p>
                <a:endParaRPr lang="zh-CN" altLang="en-US" sz="1200" dirty="0"/>
              </a:p>
              <a:p>
                <a:r>
                  <a:rPr lang="zh-CN" altLang="en-US" sz="1200" b="1" dirty="0"/>
                  <a:t>贡献活跃度</a:t>
                </a:r>
                <a:r>
                  <a:rPr lang="zh-CN" altLang="en-US" sz="1200" dirty="0"/>
                  <a:t>：通过热力图与时间轴组件，直观呈现开发者的贡献密度与近期动态。</a:t>
                </a:r>
              </a:p>
            </p:txBody>
          </p:sp>
          <p:sp>
            <p:nvSpPr>
              <p:cNvPr id="1048794" name="Bullet2" descr="05a357a9-0052-477b-a1ae-eca132bc4ccb"/>
              <p:cNvSpPr txBox="1"/>
              <p:nvPr/>
            </p:nvSpPr>
            <p:spPr>
              <a:xfrm>
                <a:off x="4560168" y="2584627"/>
                <a:ext cx="3013790" cy="444863"/>
              </a:xfrm>
              <a:prstGeom prst="rect">
                <a:avLst/>
              </a:prstGeom>
              <a:noFill/>
            </p:spPr>
            <p:txBody>
              <a:bodyPr wrap="square" rtlCol="0" anchor="b" anchorCtr="0">
                <a:normAutofit/>
              </a:bodyPr>
              <a:lstStyle/>
              <a:p>
                <a:pPr algn="l"/>
                <a:r>
                  <a:rPr lang="zh-CN" altLang="en-US" sz="1800" b="1" i="0" u="none" dirty="0">
                    <a:solidFill>
                      <a:srgbClr val="000000"/>
                    </a:solidFill>
                    <a:ea typeface="微软雅黑" panose="020B0503020204020204" charset="-122"/>
                  </a:rPr>
                  <a:t>技术建模预测</a:t>
                </a:r>
                <a:endParaRPr lang="en-US" sz="1800" b="1" i="0" u="none" dirty="0">
                  <a:solidFill>
                    <a:srgbClr val="000000"/>
                  </a:solidFill>
                  <a:ea typeface="微软雅黑" panose="020B0503020204020204" charset="-122"/>
                </a:endParaRPr>
              </a:p>
            </p:txBody>
          </p:sp>
        </p:grpSp>
        <p:grpSp>
          <p:nvGrpSpPr>
            <p:cNvPr id="131" name="组合 23" descr="d6d24526-a942-4615-8b34-cd73c87dce9c"/>
            <p:cNvGrpSpPr/>
            <p:nvPr/>
          </p:nvGrpSpPr>
          <p:grpSpPr>
            <a:xfrm>
              <a:off x="8107668" y="2127022"/>
              <a:ext cx="3411232" cy="3750592"/>
              <a:chOff x="8107668" y="2127022"/>
              <a:chExt cx="3411232" cy="3750592"/>
            </a:xfrm>
          </p:grpSpPr>
          <p:sp>
            <p:nvSpPr>
              <p:cNvPr id="1048795" name="Shape3" descr="f5953b21-a89c-41f9-a8a8-8e6ff03eb29e"/>
              <p:cNvSpPr/>
              <p:nvPr/>
            </p:nvSpPr>
            <p:spPr>
              <a:xfrm>
                <a:off x="8140141" y="2156764"/>
                <a:ext cx="3378759" cy="3720850"/>
              </a:xfrm>
              <a:prstGeom prst="roundRect">
                <a:avLst>
                  <a:gd name="adj" fmla="val 4933"/>
                </a:avLst>
              </a:prstGeom>
              <a:gradFill flip="none" rotWithShape="1">
                <a:gsLst>
                  <a:gs pos="0">
                    <a:schemeClr val="accent1">
                      <a:lumMod val="60000"/>
                      <a:lumOff val="40000"/>
                    </a:schemeClr>
                  </a:gs>
                  <a:gs pos="50000">
                    <a:schemeClr val="accent1"/>
                  </a:gs>
                </a:gsLst>
                <a:lin ang="2700000" scaled="1"/>
              </a:gradFill>
              <a:ln w="25400">
                <a:noFill/>
              </a:ln>
              <a:effectLst/>
            </p:spPr>
            <p:txBody>
              <a:bodyPr wrap="none" rtlCol="0" anchor="ctr" anchorCtr="0">
                <a:normAutofit/>
              </a:bodyPr>
              <a:lstStyle/>
              <a:p>
                <a:pPr algn="ctr">
                  <a:lnSpc>
                    <a:spcPct val="120000"/>
                  </a:lnSpc>
                </a:pPr>
                <a:endParaRPr/>
              </a:p>
            </p:txBody>
          </p:sp>
          <p:sp>
            <p:nvSpPr>
              <p:cNvPr id="1048796" name="ComponentBackground3" descr="c2c5d615-54e9-4776-b712-34a454620a98"/>
              <p:cNvSpPr/>
              <p:nvPr/>
            </p:nvSpPr>
            <p:spPr>
              <a:xfrm>
                <a:off x="8107668" y="2127022"/>
                <a:ext cx="3378760" cy="3720850"/>
              </a:xfrm>
              <a:custGeom>
                <a:avLst/>
                <a:gdLst>
                  <a:gd name="connsiteX0" fmla="*/ 2851444 w 5160528"/>
                  <a:gd name="connsiteY0" fmla="*/ 1 h 4273391"/>
                  <a:gd name="connsiteX1" fmla="*/ 2853531 w 5160528"/>
                  <a:gd name="connsiteY1" fmla="*/ 1 h 4273391"/>
                  <a:gd name="connsiteX2" fmla="*/ 2853682 w 5160528"/>
                  <a:gd name="connsiteY2" fmla="*/ 475 h 4273391"/>
                  <a:gd name="connsiteX3" fmla="*/ 2845135 w 5160528"/>
                  <a:gd name="connsiteY3" fmla="*/ 0 h 4273391"/>
                  <a:gd name="connsiteX4" fmla="*/ 2845140 w 5160528"/>
                  <a:gd name="connsiteY4" fmla="*/ 1 h 4273391"/>
                  <a:gd name="connsiteX5" fmla="*/ 2851444 w 5160528"/>
                  <a:gd name="connsiteY5" fmla="*/ 1 h 4273391"/>
                  <a:gd name="connsiteX6" fmla="*/ 2848306 w 5160528"/>
                  <a:gd name="connsiteY6" fmla="*/ 665 h 4273391"/>
                  <a:gd name="connsiteX7" fmla="*/ 2903344 w 5160528"/>
                  <a:gd name="connsiteY7" fmla="*/ 12201 h 4273391"/>
                  <a:gd name="connsiteX8" fmla="*/ 2950878 w 5160528"/>
                  <a:gd name="connsiteY8" fmla="*/ 45473 h 4273391"/>
                  <a:gd name="connsiteX9" fmla="*/ 2979935 w 5160528"/>
                  <a:gd name="connsiteY9" fmla="*/ 90216 h 4273391"/>
                  <a:gd name="connsiteX10" fmla="*/ 2979705 w 5160528"/>
                  <a:gd name="connsiteY10" fmla="*/ 89026 h 4273391"/>
                  <a:gd name="connsiteX11" fmla="*/ 2977209 w 5160528"/>
                  <a:gd name="connsiteY11" fmla="*/ 85149 h 4273391"/>
                  <a:gd name="connsiteX12" fmla="*/ 2978362 w 5160528"/>
                  <a:gd name="connsiteY12" fmla="*/ 84733 h 4273391"/>
                  <a:gd name="connsiteX13" fmla="*/ 2981162 w 5160528"/>
                  <a:gd name="connsiteY13" fmla="*/ 92106 h 4273391"/>
                  <a:gd name="connsiteX14" fmla="*/ 2982926 w 5160528"/>
                  <a:gd name="connsiteY14" fmla="*/ 94823 h 4273391"/>
                  <a:gd name="connsiteX15" fmla="*/ 2983695 w 5160528"/>
                  <a:gd name="connsiteY15" fmla="*/ 98774 h 4273391"/>
                  <a:gd name="connsiteX16" fmla="*/ 3094026 w 5160528"/>
                  <a:gd name="connsiteY16" fmla="*/ 389297 h 4273391"/>
                  <a:gd name="connsiteX17" fmla="*/ 3328190 w 5160528"/>
                  <a:gd name="connsiteY17" fmla="*/ 555665 h 4273391"/>
                  <a:gd name="connsiteX18" fmla="*/ 4803515 w 5160528"/>
                  <a:gd name="connsiteY18" fmla="*/ 555665 h 4273391"/>
                  <a:gd name="connsiteX19" fmla="*/ 4803515 w 5160528"/>
                  <a:gd name="connsiteY19" fmla="*/ 556377 h 4273391"/>
                  <a:gd name="connsiteX20" fmla="*/ 4823841 w 5160528"/>
                  <a:gd name="connsiteY20" fmla="*/ 556377 h 4273391"/>
                  <a:gd name="connsiteX21" fmla="*/ 5160528 w 5160528"/>
                  <a:gd name="connsiteY21" fmla="*/ 878675 h 4273391"/>
                  <a:gd name="connsiteX22" fmla="*/ 5160528 w 5160528"/>
                  <a:gd name="connsiteY22" fmla="*/ 939041 h 4273391"/>
                  <a:gd name="connsiteX23" fmla="*/ 5160528 w 5160528"/>
                  <a:gd name="connsiteY23" fmla="*/ 3906983 h 4273391"/>
                  <a:gd name="connsiteX24" fmla="*/ 5160528 w 5160528"/>
                  <a:gd name="connsiteY24" fmla="*/ 4100372 h 4273391"/>
                  <a:gd name="connsiteX25" fmla="*/ 4987509 w 5160528"/>
                  <a:gd name="connsiteY25" fmla="*/ 4273391 h 4273391"/>
                  <a:gd name="connsiteX26" fmla="*/ 173019 w 5160528"/>
                  <a:gd name="connsiteY26" fmla="*/ 4273391 h 4273391"/>
                  <a:gd name="connsiteX27" fmla="*/ 0 w 5160528"/>
                  <a:gd name="connsiteY27" fmla="*/ 4100372 h 4273391"/>
                  <a:gd name="connsiteX28" fmla="*/ 0 w 5160528"/>
                  <a:gd name="connsiteY28" fmla="*/ 3906983 h 4273391"/>
                  <a:gd name="connsiteX29" fmla="*/ 0 w 5160528"/>
                  <a:gd name="connsiteY29" fmla="*/ 939041 h 4273391"/>
                  <a:gd name="connsiteX30" fmla="*/ 0 w 5160528"/>
                  <a:gd name="connsiteY30" fmla="*/ 355231 h 4273391"/>
                  <a:gd name="connsiteX31" fmla="*/ 339241 w 5160528"/>
                  <a:gd name="connsiteY31" fmla="*/ 1 h 4273391"/>
                  <a:gd name="connsiteX32" fmla="*/ 2845130 w 5160528"/>
                  <a:gd name="connsiteY32" fmla="*/ 1 h 427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160528" h="4273391">
                    <a:moveTo>
                      <a:pt x="2851444" y="1"/>
                    </a:moveTo>
                    <a:lnTo>
                      <a:pt x="2853531" y="1"/>
                    </a:lnTo>
                    <a:lnTo>
                      <a:pt x="2853682" y="475"/>
                    </a:lnTo>
                    <a:close/>
                    <a:moveTo>
                      <a:pt x="2845135" y="0"/>
                    </a:moveTo>
                    <a:lnTo>
                      <a:pt x="2845140" y="1"/>
                    </a:lnTo>
                    <a:lnTo>
                      <a:pt x="2851444" y="1"/>
                    </a:lnTo>
                    <a:lnTo>
                      <a:pt x="2848306" y="665"/>
                    </a:lnTo>
                    <a:lnTo>
                      <a:pt x="2903344" y="12201"/>
                    </a:lnTo>
                    <a:cubicBezTo>
                      <a:pt x="2921235" y="20057"/>
                      <a:pt x="2937347" y="31426"/>
                      <a:pt x="2950878" y="45473"/>
                    </a:cubicBezTo>
                    <a:lnTo>
                      <a:pt x="2979935" y="90216"/>
                    </a:lnTo>
                    <a:lnTo>
                      <a:pt x="2979705" y="89026"/>
                    </a:lnTo>
                    <a:lnTo>
                      <a:pt x="2977209" y="85149"/>
                    </a:lnTo>
                    <a:lnTo>
                      <a:pt x="2978362" y="84733"/>
                    </a:lnTo>
                    <a:lnTo>
                      <a:pt x="2981162" y="92106"/>
                    </a:lnTo>
                    <a:lnTo>
                      <a:pt x="2982926" y="94823"/>
                    </a:lnTo>
                    <a:lnTo>
                      <a:pt x="2983695" y="98774"/>
                    </a:lnTo>
                    <a:lnTo>
                      <a:pt x="3094026" y="389297"/>
                    </a:lnTo>
                    <a:cubicBezTo>
                      <a:pt x="3132188" y="489782"/>
                      <a:pt x="3224917" y="555665"/>
                      <a:pt x="3328190" y="555665"/>
                    </a:cubicBezTo>
                    <a:lnTo>
                      <a:pt x="4803515" y="555665"/>
                    </a:lnTo>
                    <a:lnTo>
                      <a:pt x="4803515" y="556377"/>
                    </a:lnTo>
                    <a:lnTo>
                      <a:pt x="4823841" y="556377"/>
                    </a:lnTo>
                    <a:cubicBezTo>
                      <a:pt x="5009788" y="556377"/>
                      <a:pt x="5160528" y="700675"/>
                      <a:pt x="5160528" y="878675"/>
                    </a:cubicBezTo>
                    <a:lnTo>
                      <a:pt x="5160528" y="939041"/>
                    </a:lnTo>
                    <a:lnTo>
                      <a:pt x="5160528" y="3906983"/>
                    </a:lnTo>
                    <a:lnTo>
                      <a:pt x="5160528" y="4100372"/>
                    </a:lnTo>
                    <a:cubicBezTo>
                      <a:pt x="5160528" y="4195928"/>
                      <a:pt x="5083065" y="4273391"/>
                      <a:pt x="4987509" y="4273391"/>
                    </a:cubicBezTo>
                    <a:lnTo>
                      <a:pt x="173019" y="4273391"/>
                    </a:lnTo>
                    <a:cubicBezTo>
                      <a:pt x="77463" y="4273391"/>
                      <a:pt x="0" y="4195928"/>
                      <a:pt x="0" y="4100372"/>
                    </a:cubicBezTo>
                    <a:lnTo>
                      <a:pt x="0" y="3906983"/>
                    </a:lnTo>
                    <a:lnTo>
                      <a:pt x="0" y="939041"/>
                    </a:lnTo>
                    <a:lnTo>
                      <a:pt x="0" y="355231"/>
                    </a:lnTo>
                    <a:cubicBezTo>
                      <a:pt x="0" y="159043"/>
                      <a:pt x="151883" y="1"/>
                      <a:pt x="339241" y="1"/>
                    </a:cubicBezTo>
                    <a:lnTo>
                      <a:pt x="2845130" y="1"/>
                    </a:lnTo>
                    <a:close/>
                  </a:path>
                </a:pathLst>
              </a:custGeom>
              <a:solidFill>
                <a:schemeClr val="bg1"/>
              </a:solidFill>
              <a:ln>
                <a:noFill/>
              </a:ln>
              <a:effectLst>
                <a:outerShdw blurRad="254000" dist="127000" algn="ctr" rotWithShape="0">
                  <a:schemeClr val="bg2">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nchorCtr="0"/>
              <a:lstStyle/>
              <a:p>
                <a:pPr algn="ctr">
                  <a:lnSpc>
                    <a:spcPct val="120000"/>
                  </a:lnSpc>
                </a:pPr>
                <a:endParaRPr/>
              </a:p>
            </p:txBody>
          </p:sp>
          <p:sp>
            <p:nvSpPr>
              <p:cNvPr id="1048797" name="Shapee3" descr="63abd439-f769-4dc3-8fb5-2dab830f2401"/>
              <p:cNvSpPr/>
              <p:nvPr/>
            </p:nvSpPr>
            <p:spPr>
              <a:xfrm>
                <a:off x="11108759" y="2300358"/>
                <a:ext cx="176591" cy="17659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a:p>
            </p:txBody>
          </p:sp>
          <p:sp>
            <p:nvSpPr>
              <p:cNvPr id="1048798" name="Text3" descr="d0583f2b-f5e6-4b06-86de-bfe07a712320"/>
              <p:cNvSpPr txBox="1"/>
              <p:nvPr/>
            </p:nvSpPr>
            <p:spPr>
              <a:xfrm>
                <a:off x="8271560" y="3107290"/>
                <a:ext cx="3013790" cy="2438741"/>
              </a:xfrm>
              <a:prstGeom prst="rect">
                <a:avLst/>
              </a:prstGeom>
              <a:noFill/>
            </p:spPr>
            <p:txBody>
              <a:bodyPr wrap="square" rtlCol="0" anchorCtr="0">
                <a:normAutofit lnSpcReduction="10000"/>
              </a:bodyPr>
              <a:lstStyle/>
              <a:p>
                <a:r>
                  <a:rPr lang="zh-CN" altLang="en-US" sz="1200" b="1" dirty="0"/>
                  <a:t>深度挖掘技术栈偏好，并通过交互式图表展示技术生态位。</a:t>
                </a:r>
                <a:endParaRPr lang="en-US" altLang="zh-CN" sz="1200" b="1" dirty="0"/>
              </a:p>
              <a:p>
                <a:endParaRPr lang="zh-CN" altLang="en-US" sz="1200" b="1" dirty="0"/>
              </a:p>
              <a:p>
                <a:r>
                  <a:rPr lang="zh-CN" altLang="en-US" sz="1200" b="1" dirty="0"/>
                  <a:t>技术倾向图表</a:t>
                </a:r>
                <a:r>
                  <a:rPr lang="zh-CN" altLang="en-US" sz="1200" dirty="0"/>
                  <a:t>：多维度柱状图展示 </a:t>
                </a:r>
                <a:r>
                  <a:rPr lang="en-US" altLang="zh-CN" sz="1200" dirty="0"/>
                  <a:t>Topic </a:t>
                </a:r>
                <a:r>
                  <a:rPr lang="zh-CN" altLang="en-US" sz="1200" dirty="0"/>
                  <a:t>与 </a:t>
                </a:r>
                <a:r>
                  <a:rPr lang="en-US" altLang="zh-CN" sz="1200" dirty="0"/>
                  <a:t>Language </a:t>
                </a:r>
                <a:r>
                  <a:rPr lang="zh-CN" altLang="en-US" sz="1200" dirty="0"/>
                  <a:t>的分布权重。</a:t>
                </a:r>
                <a:endParaRPr lang="en-US" altLang="zh-CN" sz="1200" dirty="0"/>
              </a:p>
              <a:p>
                <a:endParaRPr lang="zh-CN" altLang="en-US" sz="1200" dirty="0"/>
              </a:p>
              <a:p>
                <a:r>
                  <a:rPr lang="zh-CN" altLang="en-US" sz="1200" b="1" dirty="0"/>
                  <a:t>技术关系引力图</a:t>
                </a:r>
                <a:r>
                  <a:rPr lang="zh-CN" altLang="en-US" sz="1200" dirty="0"/>
                  <a:t>：使用力导向图 </a:t>
                </a:r>
                <a:r>
                  <a:rPr lang="en-US" altLang="zh-CN" sz="1200" dirty="0"/>
                  <a:t>(</a:t>
                </a:r>
              </a:p>
              <a:p>
                <a:r>
                  <a:rPr lang="en-US" altLang="zh-CN" sz="1200" dirty="0"/>
                  <a:t>Force-Directed Graph) </a:t>
                </a:r>
                <a:r>
                  <a:rPr lang="zh-CN" altLang="en-US" sz="1200" dirty="0"/>
                  <a:t>可视化技术栈之间的关联强度。</a:t>
                </a:r>
                <a:endParaRPr lang="en-US" altLang="zh-CN" sz="1200" dirty="0"/>
              </a:p>
              <a:p>
                <a:endParaRPr lang="zh-CN" altLang="en-US" sz="1200" dirty="0"/>
              </a:p>
              <a:p>
                <a:r>
                  <a:rPr lang="zh-CN" altLang="en-US" sz="1200" b="1" dirty="0"/>
                  <a:t>综合匹配度打分</a:t>
                </a:r>
                <a:r>
                  <a:rPr lang="zh-CN" altLang="en-US" sz="1200" dirty="0"/>
                  <a:t>：允许输入任意目标技术栈，基于“历史倾向 </a:t>
                </a:r>
                <a:r>
                  <a:rPr lang="en-US" altLang="zh-CN" sz="1200" dirty="0"/>
                  <a:t>+ </a:t>
                </a:r>
                <a:r>
                  <a:rPr lang="zh-CN" altLang="en-US" sz="1200" dirty="0"/>
                  <a:t>未来活跃率”计算综合契合度得分。</a:t>
                </a:r>
              </a:p>
            </p:txBody>
          </p:sp>
          <p:sp>
            <p:nvSpPr>
              <p:cNvPr id="1048799" name="Bullet3" descr="06bf67f4-b7b4-4dc5-ade0-ccf43ccd0d43"/>
              <p:cNvSpPr txBox="1"/>
              <p:nvPr/>
            </p:nvSpPr>
            <p:spPr>
              <a:xfrm>
                <a:off x="8277453" y="2594679"/>
                <a:ext cx="3013790" cy="444863"/>
              </a:xfrm>
              <a:prstGeom prst="rect">
                <a:avLst/>
              </a:prstGeom>
              <a:noFill/>
            </p:spPr>
            <p:txBody>
              <a:bodyPr wrap="square" rtlCol="0" anchor="b" anchorCtr="0">
                <a:normAutofit/>
              </a:bodyPr>
              <a:lstStyle/>
              <a:p>
                <a:r>
                  <a:rPr lang="zh-CN" altLang="en-US" b="1" dirty="0"/>
                  <a:t>技术倾向与全栈匹配</a:t>
                </a:r>
              </a:p>
            </p:txBody>
          </p:sp>
        </p:grpSp>
      </p:grpSp>
      <p:sp>
        <p:nvSpPr>
          <p:cNvPr id="1048800" name="标题 1048799"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展示层：可视化与交互界面</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标题 1048800"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数学原理</a:t>
            </a:r>
          </a:p>
        </p:txBody>
      </p:sp>
      <p:sp>
        <p:nvSpPr>
          <p:cNvPr id="1048802" name="文本占位符 1048801" descr="fbdebbe7-0a93-4150-bd5a-7e44e3ee5219"/>
          <p:cNvSpPr>
            <a:spLocks noGrp="1"/>
          </p:cNvSpPr>
          <p:nvPr>
            <p:ph type="body" idx="1" hasCustomPrompt="1"/>
          </p:nvPr>
        </p:nvSpPr>
        <p:spPr/>
        <p:txBody>
          <a:bodyPr anchorCtr="0">
            <a:normAutofit/>
          </a:bodyPr>
          <a:lstStyle/>
          <a:p>
            <a:pPr algn="l">
              <a:lnSpc>
                <a:spcPct val="120000"/>
              </a:lnSpc>
              <a:spcBef>
                <a:spcPts val="1000"/>
              </a:spcBef>
            </a:pPr>
            <a:r>
              <a:rPr lang="en-US" sz="2000" b="0" i="0" u="none" dirty="0" err="1">
                <a:solidFill>
                  <a:srgbClr val="000000"/>
                </a:solidFill>
                <a:ea typeface="微软雅黑" panose="020B0503020204020204" charset="-122"/>
              </a:rPr>
              <a:t>解释技术倾向分析和活跃度预测的数学基础</a:t>
            </a:r>
            <a:endParaRPr lang="en-US" sz="2000" b="0" i="0" u="none" dirty="0">
              <a:solidFill>
                <a:srgbClr val="000000"/>
              </a:solidFill>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889" name="Rectangle 104888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48891" name="Rectangle 104889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48893" name="Rectangle 104889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883" name="标题 1048882"/>
          <p:cNvSpPr>
            <a:spLocks noGrp="1"/>
          </p:cNvSpPr>
          <p:nvPr>
            <p:ph type="title" hasCustomPrompt="1"/>
          </p:nvPr>
        </p:nvSpPr>
        <p:spPr>
          <a:xfrm>
            <a:off x="1115568" y="548640"/>
            <a:ext cx="10168128" cy="1179576"/>
          </a:xfrm>
        </p:spPr>
        <p:txBody>
          <a:bodyPr vert="horz" lIns="91440" tIns="45720" rIns="91440" bIns="45720" rtlCol="0" anchor="ctr">
            <a:normAutofit/>
          </a:bodyPr>
          <a:lstStyle/>
          <a:p>
            <a:pPr>
              <a:lnSpc>
                <a:spcPct val="90000"/>
              </a:lnSpc>
            </a:pPr>
            <a:r>
              <a:rPr lang="en-US" altLang="zh-CN" sz="2400" kern="1200" dirty="0">
                <a:solidFill>
                  <a:schemeClr val="tx1"/>
                </a:solidFill>
                <a:latin typeface="+mj-lt"/>
                <a:ea typeface="+mj-ea"/>
                <a:cs typeface="+mj-cs"/>
              </a:rPr>
              <a:t>Weibull</a:t>
            </a:r>
            <a:r>
              <a:rPr lang="zh-CN" altLang="en-US" sz="2400" kern="1200" dirty="0">
                <a:solidFill>
                  <a:schemeClr val="tx1"/>
                </a:solidFill>
                <a:latin typeface="+mj-lt"/>
                <a:ea typeface="+mj-ea"/>
                <a:cs typeface="+mj-cs"/>
              </a:rPr>
              <a:t>分布拟合</a:t>
            </a:r>
            <a:r>
              <a:rPr lang="en-US" altLang="zh-CN" sz="2400" b="0" kern="1200" dirty="0">
                <a:solidFill>
                  <a:schemeClr val="tx1"/>
                </a:solidFill>
                <a:latin typeface="+mj-lt"/>
                <a:ea typeface="+mj-ea"/>
                <a:cs typeface="+mj-cs"/>
              </a:rPr>
              <a:t>——</a:t>
            </a:r>
            <a:r>
              <a:rPr lang="zh-CN" altLang="en-US" sz="2400" b="0" kern="1200" dirty="0">
                <a:solidFill>
                  <a:schemeClr val="tx1"/>
                </a:solidFill>
                <a:latin typeface="+mj-lt"/>
                <a:ea typeface="+mj-ea"/>
                <a:cs typeface="+mj-cs"/>
              </a:rPr>
              <a:t>用以预测活跃时间</a:t>
            </a:r>
            <a:endParaRPr lang="en-US" altLang="zh-CN" sz="2400" b="0" kern="1200" dirty="0">
              <a:solidFill>
                <a:schemeClr val="tx1"/>
              </a:solidFill>
              <a:latin typeface="+mj-lt"/>
              <a:ea typeface="+mj-ea"/>
              <a:cs typeface="+mj-cs"/>
            </a:endParaRPr>
          </a:p>
        </p:txBody>
      </p:sp>
      <p:sp>
        <p:nvSpPr>
          <p:cNvPr id="1048895" name="Rectangle 104889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32F5FC0C-26D1-722F-6AA3-FD3A2A1EB630}"/>
                  </a:ext>
                </a:extLst>
              </p:cNvPr>
              <p:cNvSpPr txBox="1"/>
              <p:nvPr/>
            </p:nvSpPr>
            <p:spPr>
              <a:xfrm>
                <a:off x="844347" y="2018806"/>
                <a:ext cx="10168128" cy="3695020"/>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zh-CN" altLang="en-US" sz="2200" b="1" dirty="0"/>
                  <a:t>概率密度函数 </a:t>
                </a:r>
                <a:r>
                  <a:rPr lang="en-US" altLang="zh-CN" sz="2200" b="1" dirty="0"/>
                  <a:t>(PDF) </a:t>
                </a:r>
                <a:r>
                  <a:rPr lang="zh-CN" altLang="en-US" sz="2200" b="1" dirty="0"/>
                  <a:t>为：</a:t>
                </a:r>
                <a:endParaRPr lang="en-US" altLang="zh-CN" sz="2200" b="1" dirty="0"/>
              </a:p>
              <a:p>
                <a:pPr indent="-228600">
                  <a:lnSpc>
                    <a:spcPct val="90000"/>
                  </a:lnSpc>
                  <a:spcAft>
                    <a:spcPts val="600"/>
                  </a:spcAft>
                  <a:buFont typeface="Arial" panose="020B0604020202020204" pitchFamily="34" charset="0"/>
                  <a:buChar char="•"/>
                </a:pPr>
                <a14:m>
                  <m:oMath xmlns:m="http://schemas.openxmlformats.org/officeDocument/2006/math">
                    <m:r>
                      <a:rPr lang="zh-CN" altLang="en-US" sz="2200" i="1">
                        <a:latin typeface="Cambria Math" panose="02040503050406030204" pitchFamily="18" charset="0"/>
                      </a:rPr>
                      <m:t>𝑓</m:t>
                    </m:r>
                    <m:d>
                      <m:dPr>
                        <m:ctrlPr>
                          <a:rPr lang="en-US" altLang="zh-CN" sz="2200" i="1">
                            <a:latin typeface="Cambria Math" panose="02040503050406030204" pitchFamily="18" charset="0"/>
                          </a:rPr>
                        </m:ctrlPr>
                      </m:dPr>
                      <m:e>
                        <m:r>
                          <a:rPr lang="zh-CN" altLang="en-US" sz="2200" i="1">
                            <a:latin typeface="Cambria Math" panose="02040503050406030204" pitchFamily="18" charset="0"/>
                          </a:rPr>
                          <m:t>𝑡</m:t>
                        </m:r>
                        <m:r>
                          <a:rPr lang="en-US" altLang="zh-CN" sz="2200" i="1">
                            <a:latin typeface="Cambria Math" panose="02040503050406030204" pitchFamily="18" charset="0"/>
                          </a:rPr>
                          <m:t>;</m:t>
                        </m:r>
                        <m:r>
                          <a:rPr lang="zh-CN" altLang="en-US" sz="2200" i="1">
                            <a:latin typeface="Cambria Math" panose="02040503050406030204" pitchFamily="18" charset="0"/>
                          </a:rPr>
                          <m:t>𝑘</m:t>
                        </m:r>
                        <m:r>
                          <a:rPr lang="en-US" altLang="zh-CN" sz="2200" i="1">
                            <a:latin typeface="Cambria Math" panose="02040503050406030204" pitchFamily="18" charset="0"/>
                          </a:rPr>
                          <m:t>,</m:t>
                        </m:r>
                        <m:r>
                          <a:rPr lang="zh-CN" altLang="en-US" sz="2200" i="1">
                            <a:latin typeface="Cambria Math" panose="02040503050406030204" pitchFamily="18" charset="0"/>
                          </a:rPr>
                          <m:t>𝜆</m:t>
                        </m:r>
                      </m:e>
                    </m:d>
                    <m:r>
                      <a:rPr lang="en-US" altLang="zh-CN" sz="2200" i="1">
                        <a:latin typeface="Cambria Math" panose="02040503050406030204" pitchFamily="18" charset="0"/>
                      </a:rPr>
                      <m:t>=</m:t>
                    </m:r>
                    <m:f>
                      <m:fPr>
                        <m:ctrlPr>
                          <a:rPr lang="en-US" altLang="zh-CN" sz="2200" i="1">
                            <a:latin typeface="Cambria Math" panose="02040503050406030204" pitchFamily="18" charset="0"/>
                          </a:rPr>
                        </m:ctrlPr>
                      </m:fPr>
                      <m:num>
                        <m:r>
                          <a:rPr lang="zh-CN" altLang="en-US" sz="2200" i="1">
                            <a:latin typeface="Cambria Math" panose="02040503050406030204" pitchFamily="18" charset="0"/>
                          </a:rPr>
                          <m:t>𝑘</m:t>
                        </m:r>
                      </m:num>
                      <m:den>
                        <m:r>
                          <a:rPr lang="zh-CN" altLang="en-US" sz="2200" i="1">
                            <a:latin typeface="Cambria Math" panose="02040503050406030204" pitchFamily="18" charset="0"/>
                          </a:rPr>
                          <m:t>𝜆</m:t>
                        </m:r>
                      </m:den>
                    </m:f>
                    <m:sSup>
                      <m:sSupPr>
                        <m:ctrlPr>
                          <a:rPr lang="en-US" altLang="zh-CN" sz="2200" i="1">
                            <a:latin typeface="Cambria Math" panose="02040503050406030204" pitchFamily="18" charset="0"/>
                          </a:rPr>
                        </m:ctrlPr>
                      </m:sSupPr>
                      <m:e>
                        <m:d>
                          <m:dPr>
                            <m:ctrlPr>
                              <a:rPr lang="en-US" altLang="zh-CN" sz="2200" i="1">
                                <a:latin typeface="Cambria Math" panose="02040503050406030204" pitchFamily="18" charset="0"/>
                              </a:rPr>
                            </m:ctrlPr>
                          </m:dPr>
                          <m:e>
                            <m:f>
                              <m:fPr>
                                <m:ctrlPr>
                                  <a:rPr lang="en-US" altLang="zh-CN" sz="2200" i="1">
                                    <a:latin typeface="Cambria Math" panose="02040503050406030204" pitchFamily="18" charset="0"/>
                                  </a:rPr>
                                </m:ctrlPr>
                              </m:fPr>
                              <m:num>
                                <m:r>
                                  <a:rPr lang="zh-CN" altLang="en-US" sz="2200" i="1">
                                    <a:latin typeface="Cambria Math" panose="02040503050406030204" pitchFamily="18" charset="0"/>
                                  </a:rPr>
                                  <m:t>𝑡</m:t>
                                </m:r>
                              </m:num>
                              <m:den>
                                <m:r>
                                  <a:rPr lang="zh-CN" altLang="en-US" sz="2200" i="1">
                                    <a:latin typeface="Cambria Math" panose="02040503050406030204" pitchFamily="18" charset="0"/>
                                  </a:rPr>
                                  <m:t>𝜆</m:t>
                                </m:r>
                              </m:den>
                            </m:f>
                          </m:e>
                        </m:d>
                      </m:e>
                      <m:sup>
                        <m:r>
                          <a:rPr lang="zh-CN" altLang="en-US" sz="2200" i="1">
                            <a:latin typeface="Cambria Math" panose="02040503050406030204" pitchFamily="18" charset="0"/>
                          </a:rPr>
                          <m:t>𝑘</m:t>
                        </m:r>
                        <m:r>
                          <a:rPr lang="zh-CN" altLang="en-US" sz="2200" i="1">
                            <a:latin typeface="Cambria Math" panose="02040503050406030204" pitchFamily="18" charset="0"/>
                          </a:rPr>
                          <m:t>−1</m:t>
                        </m:r>
                      </m:sup>
                    </m:sSup>
                    <m:sSup>
                      <m:sSupPr>
                        <m:ctrlPr>
                          <a:rPr lang="en-US" altLang="zh-CN" sz="2200" i="1">
                            <a:latin typeface="Cambria Math" panose="02040503050406030204" pitchFamily="18" charset="0"/>
                          </a:rPr>
                        </m:ctrlPr>
                      </m:sSupPr>
                      <m:e>
                        <m:r>
                          <a:rPr lang="zh-CN" altLang="en-US" sz="2200" i="1">
                            <a:latin typeface="Cambria Math" panose="02040503050406030204" pitchFamily="18" charset="0"/>
                          </a:rPr>
                          <m:t>𝑒</m:t>
                        </m:r>
                      </m:e>
                      <m:sup>
                        <m:r>
                          <a:rPr lang="en-US" altLang="zh-CN" sz="2200" i="1">
                            <a:latin typeface="Cambria Math" panose="02040503050406030204" pitchFamily="18" charset="0"/>
                          </a:rPr>
                          <m:t>−</m:t>
                        </m:r>
                        <m:sSup>
                          <m:sSupPr>
                            <m:ctrlPr>
                              <a:rPr lang="en-US" altLang="zh-CN" sz="2200" i="1">
                                <a:latin typeface="Cambria Math" panose="02040503050406030204" pitchFamily="18" charset="0"/>
                              </a:rPr>
                            </m:ctrlPr>
                          </m:sSupPr>
                          <m:e>
                            <m:d>
                              <m:dPr>
                                <m:ctrlPr>
                                  <a:rPr lang="en-US" altLang="zh-CN" sz="2200" i="1">
                                    <a:latin typeface="Cambria Math" panose="02040503050406030204" pitchFamily="18" charset="0"/>
                                  </a:rPr>
                                </m:ctrlPr>
                              </m:dPr>
                              <m:e>
                                <m:r>
                                  <a:rPr lang="zh-CN" altLang="en-US" sz="2200" i="1">
                                    <a:latin typeface="Cambria Math" panose="02040503050406030204" pitchFamily="18" charset="0"/>
                                  </a:rPr>
                                  <m:t>𝑡</m:t>
                                </m:r>
                                <m:r>
                                  <m:rPr>
                                    <m:lit/>
                                  </m:rPr>
                                  <a:rPr lang="en-US" altLang="zh-CN" sz="2200" i="1">
                                    <a:latin typeface="Cambria Math" panose="02040503050406030204" pitchFamily="18" charset="0"/>
                                  </a:rPr>
                                  <m:t>/</m:t>
                                </m:r>
                                <m:r>
                                  <a:rPr lang="zh-CN" altLang="en-US" sz="2200" i="1">
                                    <a:latin typeface="Cambria Math" panose="02040503050406030204" pitchFamily="18" charset="0"/>
                                  </a:rPr>
                                  <m:t>𝜆</m:t>
                                </m:r>
                              </m:e>
                            </m:d>
                          </m:e>
                          <m:sup>
                            <m:r>
                              <a:rPr lang="zh-CN" altLang="en-US" sz="2200" i="1">
                                <a:latin typeface="Cambria Math" panose="02040503050406030204" pitchFamily="18" charset="0"/>
                              </a:rPr>
                              <m:t>𝑘</m:t>
                            </m:r>
                          </m:sup>
                        </m:sSup>
                      </m:sup>
                    </m:sSup>
                    <m:r>
                      <a:rPr lang="en-US" altLang="zh-CN" sz="2200" i="1">
                        <a:latin typeface="Cambria Math" panose="02040503050406030204" pitchFamily="18" charset="0"/>
                      </a:rPr>
                      <m:t>, </m:t>
                    </m:r>
                    <m:r>
                      <a:rPr lang="zh-CN" altLang="en-US" sz="2200" i="1">
                        <a:latin typeface="Cambria Math" panose="02040503050406030204" pitchFamily="18" charset="0"/>
                      </a:rPr>
                      <m:t>𝑡</m:t>
                    </m:r>
                    <m:r>
                      <a:rPr lang="zh-CN" altLang="en-US" sz="2200" i="1">
                        <a:latin typeface="Cambria Math" panose="02040503050406030204" pitchFamily="18" charset="0"/>
                      </a:rPr>
                      <m:t>≥0</m:t>
                    </m:r>
                  </m:oMath>
                </a14:m>
                <a:endParaRPr lang="en-US" altLang="zh-CN" sz="2200" dirty="0"/>
              </a:p>
              <a:p>
                <a:pPr indent="-228600">
                  <a:lnSpc>
                    <a:spcPct val="90000"/>
                  </a:lnSpc>
                  <a:spcAft>
                    <a:spcPts val="600"/>
                  </a:spcAft>
                  <a:buFont typeface="Arial" panose="020B0604020202020204" pitchFamily="34" charset="0"/>
                  <a:buChar char="•"/>
                </a:pPr>
                <a:r>
                  <a:rPr lang="en-US" altLang="zh-CN" sz="2200" dirty="0"/>
                  <a:t>	</a:t>
                </a:r>
                <a14:m>
                  <m:oMath xmlns:m="http://schemas.openxmlformats.org/officeDocument/2006/math">
                    <m:r>
                      <a:rPr lang="zh-CN" altLang="en-US" sz="2200" i="1">
                        <a:latin typeface="Cambria Math" panose="02040503050406030204" pitchFamily="18" charset="0"/>
                      </a:rPr>
                      <m:t>𝑘</m:t>
                    </m:r>
                    <m:r>
                      <a:rPr lang="zh-CN" altLang="en-US" sz="2200" i="1">
                        <a:latin typeface="Cambria Math" panose="02040503050406030204" pitchFamily="18" charset="0"/>
                      </a:rPr>
                      <m:t> &gt; 0 </m:t>
                    </m:r>
                  </m:oMath>
                </a14:m>
                <a:r>
                  <a:rPr lang="zh-CN" altLang="en-US" sz="2200" dirty="0"/>
                  <a:t>是形状参数 </a:t>
                </a:r>
                <a:r>
                  <a:rPr lang="en-US" altLang="zh-CN" sz="2200" dirty="0"/>
                  <a:t>(Shape Parameter)</a:t>
                </a:r>
                <a:r>
                  <a:rPr lang="zh-CN" altLang="en-US" sz="2200" dirty="0"/>
                  <a:t>。</a:t>
                </a:r>
              </a:p>
              <a:p>
                <a:pPr indent="-228600">
                  <a:lnSpc>
                    <a:spcPct val="90000"/>
                  </a:lnSpc>
                  <a:spcAft>
                    <a:spcPts val="600"/>
                  </a:spcAft>
                  <a:buFont typeface="Arial" panose="020B0604020202020204" pitchFamily="34" charset="0"/>
                  <a:buChar char="•"/>
                </a:pPr>
                <a:r>
                  <a:rPr lang="en-US" altLang="zh-CN" sz="2200" dirty="0"/>
                  <a:t>	</a:t>
                </a:r>
                <a14:m>
                  <m:oMath xmlns:m="http://schemas.openxmlformats.org/officeDocument/2006/math">
                    <m:r>
                      <a:rPr lang="zh-CN" altLang="en-US" sz="2200" i="1">
                        <a:latin typeface="Cambria Math" panose="02040503050406030204" pitchFamily="18" charset="0"/>
                      </a:rPr>
                      <m:t>𝜆</m:t>
                    </m:r>
                    <m:r>
                      <a:rPr lang="en-US" altLang="zh-CN" sz="2200" b="0" i="1">
                        <a:latin typeface="Cambria Math" panose="02040503050406030204" pitchFamily="18" charset="0"/>
                      </a:rPr>
                      <m:t> </m:t>
                    </m:r>
                    <m:r>
                      <a:rPr lang="en-US" altLang="zh-CN" sz="2200" i="1">
                        <a:latin typeface="Cambria Math" panose="02040503050406030204" pitchFamily="18" charset="0"/>
                      </a:rPr>
                      <m:t>&gt; 0</m:t>
                    </m:r>
                    <m:r>
                      <a:rPr lang="en-US" altLang="zh-CN" sz="2200" b="0" i="1">
                        <a:latin typeface="Cambria Math" panose="02040503050406030204" pitchFamily="18" charset="0"/>
                      </a:rPr>
                      <m:t> </m:t>
                    </m:r>
                  </m:oMath>
                </a14:m>
                <a:r>
                  <a:rPr lang="zh-CN" altLang="en-US" sz="2200" dirty="0"/>
                  <a:t>是尺度参数 </a:t>
                </a:r>
                <a:r>
                  <a:rPr lang="en-US" altLang="zh-CN" sz="2200" dirty="0"/>
                  <a:t>(Scale Parameter)</a:t>
                </a:r>
                <a:r>
                  <a:rPr lang="zh-CN" altLang="en-US" sz="2200" dirty="0"/>
                  <a:t>。</a:t>
                </a:r>
              </a:p>
            </p:txBody>
          </p:sp>
        </mc:Choice>
        <mc:Fallback>
          <p:sp>
            <p:nvSpPr>
              <p:cNvPr id="3" name="文本框 2">
                <a:extLst>
                  <a:ext uri="{FF2B5EF4-FFF2-40B4-BE49-F238E27FC236}">
                    <a16:creationId xmlns:a16="http://schemas.microsoft.com/office/drawing/2014/main" id="{32F5FC0C-26D1-722F-6AA3-FD3A2A1EB630}"/>
                  </a:ext>
                </a:extLst>
              </p:cNvPr>
              <p:cNvSpPr txBox="1">
                <a:spLocks noRot="1" noChangeAspect="1" noMove="1" noResize="1" noEditPoints="1" noAdjustHandles="1" noChangeArrowheads="1" noChangeShapeType="1" noTextEdit="1"/>
              </p:cNvSpPr>
              <p:nvPr/>
            </p:nvSpPr>
            <p:spPr>
              <a:xfrm>
                <a:off x="844347" y="2018806"/>
                <a:ext cx="10168128" cy="3695020"/>
              </a:xfrm>
              <a:prstGeom prst="rect">
                <a:avLst/>
              </a:prstGeom>
              <a:blipFill>
                <a:blip r:embed="rId2"/>
                <a:stretch>
                  <a:fillRect l="-719" t="-1980"/>
                </a:stretch>
              </a:blipFill>
            </p:spPr>
            <p:txBody>
              <a:bodyPr/>
              <a:lstStyle/>
              <a:p>
                <a:r>
                  <a:rPr lang="zh-CN" altLang="en-US">
                    <a:noFill/>
                  </a:rPr>
                  <a:t> </a:t>
                </a:r>
              </a:p>
            </p:txBody>
          </p:sp>
        </mc:Fallback>
      </mc:AlternateContent>
      <p:sp>
        <p:nvSpPr>
          <p:cNvPr id="1048884" name="灯片编号占位符 1048883"/>
          <p:cNvSpPr>
            <a:spLocks noGrp="1"/>
          </p:cNvSpPr>
          <p:nvPr>
            <p:ph type="sldNum" sz="quarter" idx="12"/>
          </p:nvPr>
        </p:nvSpPr>
        <p:spPr>
          <a:xfrm>
            <a:off x="8540496" y="6356350"/>
            <a:ext cx="2743200" cy="365125"/>
          </a:xfrm>
        </p:spPr>
        <p:txBody>
          <a:bodyPr vert="horz" lIns="91440" tIns="45720" rIns="91440" bIns="45720" rtlCol="0" anchor="ctr">
            <a:normAutofit/>
          </a:bodyPr>
          <a:lstStyle/>
          <a:p>
            <a:pPr>
              <a:spcAft>
                <a:spcPts val="600"/>
              </a:spcAft>
            </a:pPr>
            <a:fld id="{C8BB1146-E542-4D4E-B8E9-6919A11DDD48}" type="slidenum">
              <a:rPr lang="en-US" sz="1200">
                <a:solidFill>
                  <a:schemeClr val="tx1">
                    <a:lumMod val="50000"/>
                    <a:lumOff val="50000"/>
                  </a:schemeClr>
                </a:solidFill>
              </a:rPr>
              <a:pPr>
                <a:spcAft>
                  <a:spcPts val="600"/>
                </a:spcAft>
              </a:pPr>
              <a:t>13</a:t>
            </a:fld>
            <a:endParaRPr lang="en-US" sz="1200">
              <a:solidFill>
                <a:schemeClr val="tx1">
                  <a:lumMod val="50000"/>
                  <a:lumOff val="50000"/>
                </a:schemeClr>
              </a:solidFill>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54F57E2-C785-FC97-92A4-3D18358BDECE}"/>
                  </a:ext>
                </a:extLst>
              </p:cNvPr>
              <p:cNvSpPr txBox="1"/>
              <p:nvPr/>
            </p:nvSpPr>
            <p:spPr>
              <a:xfrm>
                <a:off x="1572768" y="3977352"/>
                <a:ext cx="8578670" cy="2513573"/>
              </a:xfrm>
              <a:prstGeom prst="rect">
                <a:avLst/>
              </a:prstGeom>
              <a:noFill/>
            </p:spPr>
            <p:txBody>
              <a:bodyPr wrap="square">
                <a:spAutoFit/>
              </a:bodyPr>
              <a:lstStyle/>
              <a:p>
                <a:pPr>
                  <a:spcAft>
                    <a:spcPts val="600"/>
                  </a:spcAft>
                </a:pPr>
                <a:r>
                  <a:rPr lang="zh-CN" altLang="en-US" sz="2400" dirty="0"/>
                  <a:t>使用 </a:t>
                </a:r>
                <a:r>
                  <a:rPr lang="zh-CN" altLang="en-US" sz="2400" b="1" dirty="0"/>
                  <a:t>最大似然估计 </a:t>
                </a:r>
                <a:r>
                  <a:rPr lang="en-US" altLang="zh-CN" sz="2400" b="1" dirty="0"/>
                  <a:t>(Maximum Likelihood Estimation, MLE) </a:t>
                </a:r>
                <a:r>
                  <a:rPr lang="zh-CN" altLang="en-US" sz="2400" dirty="0"/>
                  <a:t>求解参数 </a:t>
                </a:r>
                <a14:m>
                  <m:oMath xmlns:m="http://schemas.openxmlformats.org/officeDocument/2006/math">
                    <m:acc>
                      <m:accPr>
                        <m:chr m:val="̂"/>
                        <m:ctrlPr>
                          <a:rPr lang="en-US" altLang="zh-CN" sz="2400" i="1" dirty="0" smtClean="0">
                            <a:latin typeface="Cambria Math" panose="02040503050406030204" pitchFamily="18" charset="0"/>
                          </a:rPr>
                        </m:ctrlPr>
                      </m:accPr>
                      <m:e>
                        <m:r>
                          <a:rPr lang="en-US" altLang="zh-CN" sz="2400" i="1" dirty="0">
                            <a:latin typeface="Cambria Math" panose="02040503050406030204" pitchFamily="18" charset="0"/>
                          </a:rPr>
                          <m:t>𝑘</m:t>
                        </m:r>
                      </m:e>
                    </m:acc>
                    <m:r>
                      <a:rPr lang="en-US" altLang="zh-CN" sz="2400" i="1" dirty="0">
                        <a:latin typeface="Cambria Math" panose="02040503050406030204" pitchFamily="18" charset="0"/>
                      </a:rPr>
                      <m:t>,</m:t>
                    </m:r>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𝜆</m:t>
                        </m:r>
                      </m:e>
                    </m:acc>
                  </m:oMath>
                </a14:m>
                <a:r>
                  <a:rPr lang="zh-CN" altLang="en-US" sz="2400" dirty="0"/>
                  <a:t>：</a:t>
                </a:r>
              </a:p>
              <a:p>
                <a:pPr>
                  <a:spcAft>
                    <a:spcPts val="600"/>
                  </a:spcAft>
                </a:pPr>
                <a:endParaRPr lang="en-US" altLang="zh-CN" sz="2400" dirty="0"/>
              </a:p>
              <a:p>
                <a:pPr>
                  <a:spcAft>
                    <a:spcPts val="600"/>
                  </a:spcAft>
                </a:pPr>
                <a14:m>
                  <m:oMathPara xmlns:m="http://schemas.openxmlformats.org/officeDocument/2006/math">
                    <m:oMathParaPr>
                      <m:jc m:val="centerGroup"/>
                    </m:oMathParaPr>
                    <m:oMath xmlns:m="http://schemas.openxmlformats.org/officeDocument/2006/math">
                      <m:d>
                        <m:dPr>
                          <m:ctrlPr>
                            <a:rPr lang="en-US" altLang="zh-CN" sz="2400" i="1" dirty="0" smtClean="0">
                              <a:latin typeface="Cambria Math" panose="02040503050406030204" pitchFamily="18" charset="0"/>
                            </a:rPr>
                          </m:ctrlPr>
                        </m:dPr>
                        <m:e>
                          <m:acc>
                            <m:accPr>
                              <m:chr m:val="̂"/>
                              <m:ctrlPr>
                                <a:rPr lang="en-US" altLang="zh-CN" sz="2400" i="1" dirty="0" smtClean="0">
                                  <a:latin typeface="Cambria Math" panose="02040503050406030204" pitchFamily="18" charset="0"/>
                                </a:rPr>
                              </m:ctrlPr>
                            </m:accPr>
                            <m:e>
                              <m:r>
                                <a:rPr lang="en-US" altLang="zh-CN" sz="2400" i="1" dirty="0" smtClean="0">
                                  <a:latin typeface="Cambria Math" panose="02040503050406030204" pitchFamily="18" charset="0"/>
                                </a:rPr>
                                <m:t>𝑘</m:t>
                              </m:r>
                            </m:e>
                          </m:acc>
                          <m:r>
                            <a:rPr lang="en-US" altLang="zh-CN" sz="2400" i="1" dirty="0" smtClean="0">
                              <a:latin typeface="Cambria Math" panose="02040503050406030204" pitchFamily="18" charset="0"/>
                            </a:rPr>
                            <m:t>,</m:t>
                          </m:r>
                          <m:acc>
                            <m:accPr>
                              <m:chr m:val="̂"/>
                              <m:ctrlPr>
                                <a:rPr lang="en-US" altLang="zh-CN" sz="2400" i="1" dirty="0" smtClean="0">
                                  <a:latin typeface="Cambria Math" panose="02040503050406030204" pitchFamily="18" charset="0"/>
                                </a:rPr>
                              </m:ctrlPr>
                            </m:accPr>
                            <m:e>
                              <m:r>
                                <a:rPr lang="en-US" altLang="zh-CN" sz="2400" i="1" dirty="0" smtClean="0">
                                  <a:latin typeface="Cambria Math" panose="02040503050406030204" pitchFamily="18" charset="0"/>
                                </a:rPr>
                                <m:t>𝜆</m:t>
                              </m:r>
                            </m:e>
                          </m:acc>
                        </m:e>
                      </m:d>
                      <m:r>
                        <a:rPr lang="en-US" altLang="zh-CN" sz="2400" i="1" dirty="0" smtClean="0">
                          <a:latin typeface="Cambria Math" panose="02040503050406030204" pitchFamily="18" charset="0"/>
                        </a:rPr>
                        <m:t>=</m:t>
                      </m:r>
                      <m:r>
                        <a:rPr lang="en-US" altLang="zh-CN" sz="2400" i="1" dirty="0">
                          <a:latin typeface="Cambria Math" panose="02040503050406030204" pitchFamily="18" charset="0"/>
                        </a:rPr>
                        <m:t>∗</m:t>
                      </m:r>
                      <m:r>
                        <a:rPr lang="en-US" altLang="zh-CN" sz="2400" i="1" dirty="0">
                          <a:latin typeface="Cambria Math" panose="02040503050406030204" pitchFamily="18" charset="0"/>
                        </a:rPr>
                        <m:t>𝑎𝑟𝑔𝑚𝑎</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𝑥</m:t>
                          </m:r>
                        </m:e>
                        <m:sub>
                          <m:r>
                            <a:rPr lang="en-US" altLang="zh-CN" sz="2400" i="1" dirty="0">
                              <a:latin typeface="Cambria Math" panose="02040503050406030204" pitchFamily="18" charset="0"/>
                            </a:rPr>
                            <m:t>𝑘</m:t>
                          </m:r>
                          <m:r>
                            <a:rPr lang="en-US" altLang="zh-CN" sz="2400" i="1" dirty="0">
                              <a:latin typeface="Cambria Math" panose="02040503050406030204" pitchFamily="18" charset="0"/>
                            </a:rPr>
                            <m:t>,</m:t>
                          </m:r>
                          <m:r>
                            <a:rPr lang="en-US" altLang="zh-CN" sz="2400" i="1" dirty="0">
                              <a:latin typeface="Cambria Math" panose="02040503050406030204" pitchFamily="18" charset="0"/>
                            </a:rPr>
                            <m:t>𝜆</m:t>
                          </m:r>
                        </m:sub>
                      </m:sSub>
                      <m:nary>
                        <m:naryPr>
                          <m:chr m:val="∑"/>
                          <m:ctrlPr>
                            <a:rPr lang="en-US" altLang="zh-CN" sz="2400" i="1" dirty="0">
                              <a:latin typeface="Cambria Math" panose="02040503050406030204" pitchFamily="18" charset="0"/>
                            </a:rPr>
                          </m:ctrlPr>
                        </m:naryPr>
                        <m:sub>
                          <m:r>
                            <a:rPr lang="en-US" altLang="zh-CN" sz="2400" i="1" dirty="0" err="1">
                              <a:latin typeface="Cambria Math" panose="02040503050406030204" pitchFamily="18" charset="0"/>
                            </a:rPr>
                            <m:t>𝑖</m:t>
                          </m:r>
                          <m:r>
                            <a:rPr lang="en-US" altLang="zh-CN" sz="2400" i="1" dirty="0">
                              <a:latin typeface="Cambria Math" panose="02040503050406030204" pitchFamily="18" charset="0"/>
                            </a:rPr>
                            <m:t>=1</m:t>
                          </m:r>
                        </m:sub>
                        <m:sup>
                          <m:d>
                            <m:dPr>
                              <m:begChr m:val="|"/>
                              <m:endChr m:val="|"/>
                              <m:ctrlPr>
                                <a:rPr lang="en-US" altLang="zh-CN" sz="2400" i="1" dirty="0">
                                  <a:latin typeface="Cambria Math" panose="02040503050406030204" pitchFamily="18" charset="0"/>
                                </a:rPr>
                              </m:ctrlPr>
                            </m:dPr>
                            <m:e>
                              <m:r>
                                <m:rPr>
                                  <m:sty m:val="p"/>
                                </m:rPr>
                                <a:rPr lang="en-US" altLang="zh-CN" sz="2400" i="0" dirty="0">
                                  <a:latin typeface="Cambria Math" panose="02040503050406030204" pitchFamily="18" charset="0"/>
                                </a:rPr>
                                <m:t>Δ</m:t>
                              </m:r>
                              <m:r>
                                <a:rPr lang="en-US" altLang="zh-CN" sz="2400" i="1" dirty="0">
                                  <a:latin typeface="Cambria Math" panose="02040503050406030204" pitchFamily="18" charset="0"/>
                                </a:rPr>
                                <m:t>𝑇</m:t>
                              </m:r>
                            </m:e>
                          </m:d>
                        </m:sup>
                        <m:e/>
                      </m:nary>
                      <m:func>
                        <m:funcPr>
                          <m:ctrlPr>
                            <a:rPr lang="en-US" altLang="zh-CN" sz="2400" i="1" dirty="0">
                              <a:latin typeface="Cambria Math" panose="02040503050406030204" pitchFamily="18" charset="0"/>
                            </a:rPr>
                          </m:ctrlPr>
                        </m:funcPr>
                        <m:fName>
                          <m:r>
                            <m:rPr>
                              <m:sty m:val="p"/>
                            </m:rPr>
                            <a:rPr lang="en-US" altLang="zh-CN" sz="2400" i="0" dirty="0">
                              <a:latin typeface="Cambria Math" panose="02040503050406030204" pitchFamily="18" charset="0"/>
                            </a:rPr>
                            <m:t>ln</m:t>
                          </m:r>
                        </m:fName>
                        <m:e>
                          <m:r>
                            <a:rPr lang="en-US" altLang="zh-CN" sz="2400" i="1" dirty="0">
                              <a:latin typeface="Cambria Math" panose="02040503050406030204" pitchFamily="18" charset="0"/>
                            </a:rPr>
                            <m:t>𝑓</m:t>
                          </m:r>
                        </m:e>
                      </m:func>
                      <m:d>
                        <m:dPr>
                          <m:ctrlPr>
                            <a:rPr lang="en-US" altLang="zh-CN" sz="2400" i="1" dirty="0">
                              <a:latin typeface="Cambria Math" panose="02040503050406030204" pitchFamily="18" charset="0"/>
                            </a:rPr>
                          </m:ctrlPr>
                        </m:dPr>
                        <m:e>
                          <m:r>
                            <m:rPr>
                              <m:sty m:val="p"/>
                            </m:rPr>
                            <a:rPr lang="en-US" altLang="zh-CN" sz="2400" i="0" dirty="0">
                              <a:latin typeface="Cambria Math" panose="02040503050406030204" pitchFamily="18" charset="0"/>
                            </a:rPr>
                            <m:t>Δ</m:t>
                          </m:r>
                          <m:sSub>
                            <m:sSubPr>
                              <m:ctrlPr>
                                <a:rPr lang="en-US" altLang="zh-CN" sz="2400" i="1" dirty="0" err="1">
                                  <a:latin typeface="Cambria Math" panose="02040503050406030204" pitchFamily="18" charset="0"/>
                                </a:rPr>
                              </m:ctrlPr>
                            </m:sSubPr>
                            <m:e>
                              <m:r>
                                <a:rPr lang="en-US" altLang="zh-CN" sz="2400" i="1" dirty="0" err="1">
                                  <a:latin typeface="Cambria Math" panose="02040503050406030204" pitchFamily="18" charset="0"/>
                                </a:rPr>
                                <m:t>𝑡</m:t>
                              </m:r>
                            </m:e>
                            <m:sub>
                              <m:r>
                                <a:rPr lang="en-US" altLang="zh-CN" sz="2400" i="1" dirty="0" err="1">
                                  <a:latin typeface="Cambria Math" panose="02040503050406030204" pitchFamily="18" charset="0"/>
                                </a:rPr>
                                <m:t>𝑖</m:t>
                              </m:r>
                            </m:sub>
                          </m:sSub>
                          <m:r>
                            <a:rPr lang="en-US" altLang="zh-CN" sz="2400" i="1" dirty="0">
                              <a:latin typeface="Cambria Math" panose="02040503050406030204" pitchFamily="18" charset="0"/>
                            </a:rPr>
                            <m:t>;</m:t>
                          </m:r>
                          <m:r>
                            <a:rPr lang="en-US" altLang="zh-CN" sz="2400" i="1" dirty="0">
                              <a:latin typeface="Cambria Math" panose="02040503050406030204" pitchFamily="18" charset="0"/>
                            </a:rPr>
                            <m:t>𝑘</m:t>
                          </m:r>
                          <m:r>
                            <a:rPr lang="en-US" altLang="zh-CN" sz="2400" i="1" dirty="0">
                              <a:latin typeface="Cambria Math" panose="02040503050406030204" pitchFamily="18" charset="0"/>
                            </a:rPr>
                            <m:t>,</m:t>
                          </m:r>
                          <m:r>
                            <a:rPr lang="en-US" altLang="zh-CN" sz="2400" i="1" dirty="0">
                              <a:latin typeface="Cambria Math" panose="02040503050406030204" pitchFamily="18" charset="0"/>
                            </a:rPr>
                            <m:t>𝜆</m:t>
                          </m:r>
                        </m:e>
                      </m:d>
                    </m:oMath>
                  </m:oMathPara>
                </a14:m>
                <a:endParaRPr lang="en-US" altLang="zh-CN" sz="2400" dirty="0"/>
              </a:p>
            </p:txBody>
          </p:sp>
        </mc:Choice>
        <mc:Fallback xmlns="">
          <p:sp>
            <p:nvSpPr>
              <p:cNvPr id="5" name="文本框 4">
                <a:extLst>
                  <a:ext uri="{FF2B5EF4-FFF2-40B4-BE49-F238E27FC236}">
                    <a16:creationId xmlns:a16="http://schemas.microsoft.com/office/drawing/2014/main" id="{454F57E2-C785-FC97-92A4-3D18358BDECE}"/>
                  </a:ext>
                </a:extLst>
              </p:cNvPr>
              <p:cNvSpPr txBox="1">
                <a:spLocks noRot="1" noChangeAspect="1" noMove="1" noResize="1" noEditPoints="1" noAdjustHandles="1" noChangeArrowheads="1" noChangeShapeType="1" noTextEdit="1"/>
              </p:cNvSpPr>
              <p:nvPr/>
            </p:nvSpPr>
            <p:spPr>
              <a:xfrm>
                <a:off x="1572768" y="3977352"/>
                <a:ext cx="8578670" cy="2513573"/>
              </a:xfrm>
              <a:prstGeom prst="rect">
                <a:avLst/>
              </a:prstGeom>
              <a:blipFill>
                <a:blip r:embed="rId3"/>
                <a:stretch>
                  <a:fillRect l="-1066" t="-1937" r="-640"/>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7178" name="Rectangle 209717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179" name="Rectangle 20971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97177" name="Rectangle 20971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2097168" name="图片 2097167"/>
          <p:cNvPicPr/>
          <p:nvPr/>
        </p:nvPicPr>
        <p:blipFill>
          <a:blip r:embed="rId2"/>
          <a:stretch>
            <a:fillRect/>
          </a:stretch>
        </p:blipFill>
        <p:spPr>
          <a:xfrm>
            <a:off x="2731089" y="2007421"/>
            <a:ext cx="8526325" cy="4212404"/>
          </a:xfrm>
          <a:prstGeom prst="rect">
            <a:avLst/>
          </a:prstGeom>
        </p:spPr>
      </p:pic>
      <p:sp>
        <p:nvSpPr>
          <p:cNvPr id="1048887" name="灯片编号占位符 1048886"/>
          <p:cNvSpPr>
            <a:spLocks noGrp="1"/>
          </p:cNvSpPr>
          <p:nvPr>
            <p:ph type="sldNum" sz="quarter" idx="12"/>
          </p:nvPr>
        </p:nvSpPr>
        <p:spPr>
          <a:xfrm>
            <a:off x="9926319" y="6356350"/>
            <a:ext cx="1787699" cy="365125"/>
          </a:xfrm>
        </p:spPr>
        <p:txBody>
          <a:bodyPr vert="horz" lIns="91440" tIns="45720" rIns="91440" bIns="45720" rtlCol="0" anchor="ctr">
            <a:normAutofit/>
          </a:bodyPr>
          <a:lstStyle/>
          <a:p>
            <a:pPr>
              <a:spcAft>
                <a:spcPts val="600"/>
              </a:spcAft>
            </a:pPr>
            <a:fld id="{C8BB1146-E542-4D4E-B8E9-6919A11DDD48}" type="slidenum">
              <a:rPr lang="en-US" sz="1200" smtClean="0">
                <a:solidFill>
                  <a:schemeClr val="tx1">
                    <a:lumMod val="50000"/>
                    <a:lumOff val="50000"/>
                  </a:schemeClr>
                </a:solidFill>
              </a:rPr>
              <a:pPr>
                <a:spcAft>
                  <a:spcPts val="600"/>
                </a:spcAft>
              </a:pPr>
              <a:t>14</a:t>
            </a:fld>
            <a:endParaRPr lang="en-US" sz="1200">
              <a:solidFill>
                <a:schemeClr val="tx1">
                  <a:lumMod val="50000"/>
                  <a:lumOff val="50000"/>
                </a:schemeClr>
              </a:solidFill>
            </a:endParaRPr>
          </a:p>
        </p:txBody>
      </p:sp>
      <p:sp>
        <p:nvSpPr>
          <p:cNvPr id="1048886" name="标题 1048885"/>
          <p:cNvSpPr>
            <a:spLocks noGrp="1"/>
          </p:cNvSpPr>
          <p:nvPr>
            <p:ph type="title" hasCustomPrompt="1"/>
          </p:nvPr>
        </p:nvSpPr>
        <p:spPr>
          <a:xfrm>
            <a:off x="278145" y="638175"/>
            <a:ext cx="8096789" cy="1125372"/>
          </a:xfrm>
        </p:spPr>
        <p:txBody>
          <a:bodyPr vert="horz" lIns="91440" tIns="45720" rIns="91440" bIns="45720" rtlCol="0" anchor="b">
            <a:normAutofit/>
          </a:bodyPr>
          <a:lstStyle/>
          <a:p>
            <a:pPr>
              <a:lnSpc>
                <a:spcPct val="90000"/>
              </a:lnSpc>
            </a:pPr>
            <a:r>
              <a:rPr lang="zh-CN" altLang="en-US" sz="2400" kern="1200" dirty="0">
                <a:solidFill>
                  <a:schemeClr val="tx1"/>
                </a:solidFill>
                <a:latin typeface="+mj-lt"/>
                <a:ea typeface="+mj-ea"/>
                <a:cs typeface="+mj-cs"/>
              </a:rPr>
              <a:t>活跃概率预测</a:t>
            </a:r>
            <a:r>
              <a:rPr lang="en-US" altLang="zh-CN" sz="2400" b="0" kern="1200" dirty="0">
                <a:solidFill>
                  <a:schemeClr val="tx1"/>
                </a:solidFill>
                <a:latin typeface="+mj-lt"/>
                <a:ea typeface="+mj-ea"/>
                <a:cs typeface="+mj-cs"/>
              </a:rPr>
              <a:t>——</a:t>
            </a:r>
            <a:r>
              <a:rPr lang="zh-CN" altLang="en-US" sz="2400" b="0" dirty="0"/>
              <a:t>预测未来</a:t>
            </a:r>
            <a:r>
              <a:rPr lang="en-US" altLang="zh-CN" sz="2400" b="0" dirty="0"/>
              <a:t>30</a:t>
            </a:r>
            <a:r>
              <a:rPr lang="zh-CN" altLang="en-US" sz="2400" b="0" dirty="0"/>
              <a:t>天内用户活跃的概率</a:t>
            </a:r>
            <a:endParaRPr lang="zh-CN" altLang="en-US" sz="2400" b="0" kern="1200" dirty="0">
              <a:solidFill>
                <a:schemeClr val="tx1"/>
              </a:solidFill>
              <a:latin typeface="+mj-lt"/>
              <a:ea typeface="+mj-ea"/>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97175" name="Rectangle 2097174">
            <a:extLst>
              <a:ext uri="{FF2B5EF4-FFF2-40B4-BE49-F238E27FC236}">
                <a16:creationId xmlns:a16="http://schemas.microsoft.com/office/drawing/2014/main" id="{932495F0-C5CB-4823-AE70-EED61EBAB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7177" name="Rectangle 2097176">
            <a:extLst>
              <a:ext uri="{FF2B5EF4-FFF2-40B4-BE49-F238E27FC236}">
                <a16:creationId xmlns:a16="http://schemas.microsoft.com/office/drawing/2014/main" id="{CB8B9C25-D80D-48EC-B83A-231219A80C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82975"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97179" name="Rectangle 2097178">
            <a:extLst>
              <a:ext uri="{FF2B5EF4-FFF2-40B4-BE49-F238E27FC236}">
                <a16:creationId xmlns:a16="http://schemas.microsoft.com/office/drawing/2014/main" id="{601CC70B-8875-45A1-8AFD-7D546E3C0C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3897" y="4177748"/>
            <a:ext cx="4824407"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8889" name="灯片编号占位符 1048888"/>
          <p:cNvSpPr>
            <a:spLocks noGrp="1"/>
          </p:cNvSpPr>
          <p:nvPr>
            <p:ph type="sldNum" sz="quarter" idx="12"/>
          </p:nvPr>
        </p:nvSpPr>
        <p:spPr>
          <a:xfrm>
            <a:off x="4989789" y="6356350"/>
            <a:ext cx="707714" cy="365125"/>
          </a:xfrm>
        </p:spPr>
        <p:txBody>
          <a:bodyPr vert="horz" lIns="91440" tIns="45720" rIns="91440" bIns="45720" rtlCol="0" anchor="ctr">
            <a:normAutofit/>
          </a:bodyPr>
          <a:lstStyle/>
          <a:p>
            <a:pPr>
              <a:spcAft>
                <a:spcPts val="600"/>
              </a:spcAft>
            </a:pPr>
            <a:fld id="{C8BB1146-E542-4D4E-B8E9-6919A11DDD48}" type="slidenum">
              <a:rPr lang="en-US" sz="1200">
                <a:solidFill>
                  <a:schemeClr val="tx1">
                    <a:lumMod val="50000"/>
                    <a:lumOff val="50000"/>
                  </a:schemeClr>
                </a:solidFill>
              </a:rPr>
              <a:pPr>
                <a:spcAft>
                  <a:spcPts val="600"/>
                </a:spcAft>
              </a:pPr>
              <a:t>15</a:t>
            </a:fld>
            <a:endParaRPr lang="en-US" sz="1200">
              <a:solidFill>
                <a:schemeClr val="tx1">
                  <a:lumMod val="50000"/>
                  <a:lumOff val="50000"/>
                </a:schemeClr>
              </a:solidFill>
            </a:endParaRPr>
          </a:p>
        </p:txBody>
      </p:sp>
      <p:pic>
        <p:nvPicPr>
          <p:cNvPr id="2097170" name="图片 2097169"/>
          <p:cNvPicPr/>
          <p:nvPr/>
        </p:nvPicPr>
        <p:blipFill>
          <a:blip r:embed="rId2"/>
          <a:stretch>
            <a:fillRect/>
          </a:stretch>
        </p:blipFill>
        <p:spPr>
          <a:xfrm>
            <a:off x="6774423" y="3429000"/>
            <a:ext cx="4321457" cy="1716973"/>
          </a:xfrm>
          <a:prstGeom prst="rect">
            <a:avLst/>
          </a:prstGeom>
        </p:spPr>
      </p:pic>
      <p:pic>
        <p:nvPicPr>
          <p:cNvPr id="2097169" name="图片 2097168"/>
          <p:cNvPicPr/>
          <p:nvPr/>
        </p:nvPicPr>
        <p:blipFill>
          <a:blip r:embed="rId3"/>
          <a:srcRect l="20864" t="-1371" r="26935"/>
          <a:stretch>
            <a:fillRect/>
          </a:stretch>
        </p:blipFill>
        <p:spPr>
          <a:xfrm>
            <a:off x="5697503" y="1349118"/>
            <a:ext cx="5847508" cy="2350872"/>
          </a:xfrm>
          <a:prstGeom prst="rect">
            <a:avLst/>
          </a:prstGeom>
        </p:spPr>
      </p:pic>
      <p:sp>
        <p:nvSpPr>
          <p:cNvPr id="1048888" name="标题 1048887"/>
          <p:cNvSpPr>
            <a:spLocks noGrp="1"/>
          </p:cNvSpPr>
          <p:nvPr>
            <p:ph type="title" hasCustomPrompt="1"/>
          </p:nvPr>
        </p:nvSpPr>
        <p:spPr>
          <a:xfrm>
            <a:off x="788745" y="1142575"/>
            <a:ext cx="5131815" cy="2898648"/>
          </a:xfrm>
        </p:spPr>
        <p:txBody>
          <a:bodyPr vert="horz" lIns="91440" tIns="45720" rIns="91440" bIns="45720" rtlCol="0" anchor="b">
            <a:normAutofit/>
          </a:bodyPr>
          <a:lstStyle/>
          <a:p>
            <a:pPr>
              <a:lnSpc>
                <a:spcPct val="90000"/>
              </a:lnSpc>
            </a:pPr>
            <a:r>
              <a:rPr lang="zh-CN" altLang="en-US" dirty="0"/>
              <a:t>贝叶斯平滑估计</a:t>
            </a:r>
            <a:r>
              <a:rPr lang="en-US" altLang="zh-CN" b="0" dirty="0"/>
              <a:t>——</a:t>
            </a:r>
            <a:r>
              <a:rPr lang="zh-CN" altLang="en-US" b="0" dirty="0"/>
              <a:t>用以处理活跃过少的用户</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2" name="标题 1048891"/>
          <p:cNvSpPr>
            <a:spLocks noGrp="1"/>
          </p:cNvSpPr>
          <p:nvPr>
            <p:ph type="title" hasCustomPrompt="1"/>
          </p:nvPr>
        </p:nvSpPr>
        <p:spPr/>
        <p:txBody>
          <a:bodyPr>
            <a:normAutofit/>
          </a:bodyPr>
          <a:lstStyle/>
          <a:p>
            <a:r>
              <a:rPr lang="zh-CN" sz="2400" dirty="0"/>
              <a:t>综合匹配度打分</a:t>
            </a:r>
            <a:r>
              <a:rPr lang="en-US" altLang="zh-CN" sz="2400" b="0" dirty="0"/>
              <a:t>——</a:t>
            </a:r>
            <a:r>
              <a:rPr lang="zh-CN" altLang="en-US" sz="2400" b="0" dirty="0"/>
              <a:t>预测用户与技术的综合匹配度</a:t>
            </a:r>
            <a:br>
              <a:rPr lang="en-US" altLang="zh-CN" sz="2400" dirty="0"/>
            </a:br>
            <a:endParaRPr lang="zh-CN" sz="2400" dirty="0"/>
          </a:p>
        </p:txBody>
      </p:sp>
      <p:sp>
        <p:nvSpPr>
          <p:cNvPr id="1048893" name="灯片编号占位符 1048892"/>
          <p:cNvSpPr>
            <a:spLocks noGrp="1"/>
          </p:cNvSpPr>
          <p:nvPr>
            <p:ph type="sldNum" sz="quarter" idx="12"/>
          </p:nvPr>
        </p:nvSpPr>
        <p:spPr/>
        <p:txBody>
          <a:bodyPr/>
          <a:lstStyle/>
          <a:p>
            <a:fld id="{C8BB1146-E542-4D4E-B8E9-6919A11DDD48}" type="slidenum">
              <a:rPr lang="en-US" smtClean="0"/>
              <a:t>16</a:t>
            </a:fld>
            <a:endParaRPr lang="en-US"/>
          </a:p>
        </p:txBody>
      </p:sp>
      <p:sp>
        <p:nvSpPr>
          <p:cNvPr id="1048894" name="文本框 1048893"/>
          <p:cNvSpPr txBox="1"/>
          <p:nvPr/>
        </p:nvSpPr>
        <p:spPr>
          <a:xfrm>
            <a:off x="772550" y="922682"/>
            <a:ext cx="4000000" cy="561340"/>
          </a:xfrm>
          <a:prstGeom prst="rect">
            <a:avLst/>
          </a:prstGeom>
        </p:spPr>
        <p:txBody>
          <a:bodyPr wrap="square" rtlCol="0">
            <a:spAutoFit/>
          </a:bodyPr>
          <a:lstStyle/>
          <a:p>
            <a:r>
              <a:rPr lang="zh-CN" sz="2800" dirty="0">
                <a:solidFill>
                  <a:srgbClr val="000000"/>
                </a:solidFill>
              </a:rPr>
              <a:t>打分公式：</a:t>
            </a:r>
          </a:p>
        </p:txBody>
      </p:sp>
      <p:pic>
        <p:nvPicPr>
          <p:cNvPr id="2097174" name="图片 2097173"/>
          <p:cNvPicPr/>
          <p:nvPr/>
        </p:nvPicPr>
        <p:blipFill>
          <a:blip r:embed="rId2"/>
          <a:stretch>
            <a:fillRect/>
          </a:stretch>
        </p:blipFill>
        <p:spPr>
          <a:xfrm>
            <a:off x="660400" y="1426094"/>
            <a:ext cx="9476246" cy="584794"/>
          </a:xfrm>
          <a:prstGeom prst="rect">
            <a:avLst/>
          </a:prstGeom>
        </p:spPr>
      </p:pic>
      <p:pic>
        <p:nvPicPr>
          <p:cNvPr id="2097175" name="图片 2097174"/>
          <p:cNvPicPr/>
          <p:nvPr/>
        </p:nvPicPr>
        <p:blipFill>
          <a:blip r:embed="rId3"/>
          <a:stretch>
            <a:fillRect/>
          </a:stretch>
        </p:blipFill>
        <p:spPr>
          <a:xfrm>
            <a:off x="660400" y="2091034"/>
            <a:ext cx="11511677" cy="1257820"/>
          </a:xfrm>
          <a:prstGeom prst="rect">
            <a:avLst/>
          </a:prstGeom>
        </p:spPr>
      </p:pic>
      <p:pic>
        <p:nvPicPr>
          <p:cNvPr id="2097176" name="图片 2097175"/>
          <p:cNvPicPr/>
          <p:nvPr/>
        </p:nvPicPr>
        <p:blipFill>
          <a:blip r:embed="rId4"/>
          <a:stretch>
            <a:fillRect/>
          </a:stretch>
        </p:blipFill>
        <p:spPr>
          <a:xfrm>
            <a:off x="680323" y="3429000"/>
            <a:ext cx="9035659" cy="30322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9" name="标题 1048828"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社区应用场景</a:t>
            </a:r>
          </a:p>
        </p:txBody>
      </p:sp>
      <p:sp>
        <p:nvSpPr>
          <p:cNvPr id="1048830" name="文本占位符 1048829"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阐述系统在开源项目维护、社区运营和企业人才挖掘中的具体应用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e6eee993-bf31-4794-9082-47e3375dfb00.source.3.zh-Hans.pptx" descr="90462fb3-1c58-4d70-b30a-aa294e3026e7"/>
          <p:cNvGrpSpPr/>
          <p:nvPr/>
        </p:nvGrpSpPr>
        <p:grpSpPr>
          <a:xfrm>
            <a:off x="660399" y="1130300"/>
            <a:ext cx="10858501" cy="4999038"/>
            <a:chOff x="660399" y="1130300"/>
            <a:chExt cx="10858501" cy="4999038"/>
          </a:xfrm>
        </p:grpSpPr>
        <p:grpSp>
          <p:nvGrpSpPr>
            <p:cNvPr id="148" name="组合 4" descr="84c6de0b-4b81-498f-b6f5-cd747e8e9ac5"/>
            <p:cNvGrpSpPr/>
            <p:nvPr/>
          </p:nvGrpSpPr>
          <p:grpSpPr>
            <a:xfrm>
              <a:off x="660399" y="1130300"/>
              <a:ext cx="10858501" cy="4999038"/>
              <a:chOff x="660399" y="1130300"/>
              <a:chExt cx="10858501" cy="4999038"/>
            </a:xfrm>
          </p:grpSpPr>
          <p:cxnSp>
            <p:nvCxnSpPr>
              <p:cNvPr id="3145743" name="连接符: 肘形 12" descr="ee9701ee-8c87-44be-a125-b58e2de68113"/>
              <p:cNvCxnSpPr>
                <a:stCxn id="1048833" idx="0"/>
                <a:endCxn id="1048836" idx="0"/>
              </p:cNvCxnSpPr>
              <p:nvPr/>
            </p:nvCxnSpPr>
            <p:spPr>
              <a:xfrm rot="5400000" flipH="1" flipV="1">
                <a:off x="6089647" y="-1261740"/>
                <a:ext cx="12700" cy="7408159"/>
              </a:xfrm>
              <a:prstGeom prst="bentConnector3">
                <a:avLst>
                  <a:gd name="adj1" fmla="val 1800000"/>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1048831" name="Title" descr="c2224fb7-119d-41a4-9298-8d1eba85c67b"/>
              <p:cNvSpPr/>
              <p:nvPr/>
            </p:nvSpPr>
            <p:spPr>
              <a:xfrm>
                <a:off x="660400" y="1130300"/>
                <a:ext cx="10858500" cy="653642"/>
              </a:xfrm>
              <a:prstGeom prst="roundRect">
                <a:avLst>
                  <a:gd name="adj" fmla="val 14472"/>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algn="l"/>
                <a:r>
                  <a:rPr lang="en-US" sz="2400" b="1" i="0" u="none">
                    <a:solidFill>
                      <a:srgbClr val="000000"/>
                    </a:solidFill>
                    <a:ea typeface="微软雅黑" panose="020B0503020204020204" charset="-122"/>
                  </a:rPr>
                  <a:t>介绍系统在开源项目中的具体功能</a:t>
                </a:r>
              </a:p>
            </p:txBody>
          </p:sp>
          <p:grpSp>
            <p:nvGrpSpPr>
              <p:cNvPr id="149" name="组合 1" descr="4e86aaea-7904-4f0a-b8e1-6b7cd143c509"/>
              <p:cNvGrpSpPr/>
              <p:nvPr/>
            </p:nvGrpSpPr>
            <p:grpSpPr>
              <a:xfrm>
                <a:off x="660399" y="2442339"/>
                <a:ext cx="10858501" cy="3686999"/>
                <a:chOff x="660399" y="2442339"/>
                <a:chExt cx="10858501" cy="3686999"/>
              </a:xfrm>
            </p:grpSpPr>
            <p:sp>
              <p:nvSpPr>
                <p:cNvPr id="1048832" name="Text1" descr="065ce391-5cf9-4a09-91bb-96a2d1f0d7e3"/>
                <p:cNvSpPr txBox="1"/>
                <p:nvPr/>
              </p:nvSpPr>
              <p:spPr>
                <a:xfrm>
                  <a:off x="806856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项目维护者可通过系统输入需求，系统自动匹配技术倾向标签符合需求且近期活跃度较高的开发者，并展示其相关贡献记录</a:t>
                  </a:r>
                  <a:r>
                    <a:rPr lang="en-US" sz="1800" b="0" i="0" u="none" dirty="0">
                      <a:solidFill>
                        <a:srgbClr val="000000"/>
                      </a:solidFill>
                      <a:ea typeface="微软雅黑" panose="020B0503020204020204" charset="-122"/>
                    </a:rPr>
                    <a:t>。</a:t>
                  </a:r>
                </a:p>
              </p:txBody>
            </p:sp>
            <p:sp>
              <p:nvSpPr>
                <p:cNvPr id="1048833" name="Bullet1" descr="98892b3f-40c9-4230-8538-6f21f5861d0f"/>
                <p:cNvSpPr/>
                <p:nvPr/>
              </p:nvSpPr>
              <p:spPr>
                <a:xfrm flipH="1">
                  <a:off x="660399"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panose="020B0503020204020204" charset="-122"/>
                    </a:rPr>
                    <a:t>贡献者匹配</a:t>
                  </a:r>
                </a:p>
              </p:txBody>
            </p:sp>
          </p:grpSp>
          <p:grpSp>
            <p:nvGrpSpPr>
              <p:cNvPr id="150" name="组合 2" descr="53038f86-49cd-4365-a851-04b61afc94e7"/>
              <p:cNvGrpSpPr/>
              <p:nvPr/>
            </p:nvGrpSpPr>
            <p:grpSpPr>
              <a:xfrm>
                <a:off x="660401" y="2442339"/>
                <a:ext cx="7154416" cy="3686999"/>
                <a:chOff x="660401" y="2442339"/>
                <a:chExt cx="7154416" cy="3686999"/>
              </a:xfrm>
            </p:grpSpPr>
            <p:sp>
              <p:nvSpPr>
                <p:cNvPr id="1048834" name="Bullet2" descr="89d95935-09d9-42f3-96fe-001d429e75f3"/>
                <p:cNvSpPr/>
                <p:nvPr/>
              </p:nvSpPr>
              <p:spPr>
                <a:xfrm flipH="1">
                  <a:off x="436447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latin typeface="Arial" panose="020B0604020202020204"/>
                    </a:rPr>
                    <a:t>PR 审核分配</a:t>
                  </a:r>
                </a:p>
              </p:txBody>
            </p:sp>
            <p:sp>
              <p:nvSpPr>
                <p:cNvPr id="1048835" name="Text2" descr="e389c012-0b99-4e6a-a388-f2061a75ce37"/>
                <p:cNvSpPr txBox="1"/>
                <p:nvPr/>
              </p:nvSpPr>
              <p:spPr>
                <a:xfrm>
                  <a:off x="66040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基于开发者的技术倾向标签，自动推荐最合适的审核者，提升审核效率</a:t>
                  </a:r>
                  <a:r>
                    <a:rPr lang="en-US" sz="1800" b="0" i="0" u="none" dirty="0">
                      <a:solidFill>
                        <a:srgbClr val="000000"/>
                      </a:solidFill>
                      <a:ea typeface="微软雅黑" panose="020B0503020204020204" charset="-122"/>
                    </a:rPr>
                    <a:t>。</a:t>
                  </a:r>
                </a:p>
              </p:txBody>
            </p:sp>
          </p:grpSp>
          <p:grpSp>
            <p:nvGrpSpPr>
              <p:cNvPr id="151" name="组合 3" descr="42e05eef-9566-4ef1-aac1-224979669c70"/>
              <p:cNvGrpSpPr/>
              <p:nvPr/>
            </p:nvGrpSpPr>
            <p:grpSpPr>
              <a:xfrm>
                <a:off x="4364481" y="2442339"/>
                <a:ext cx="7154416" cy="3686999"/>
                <a:chOff x="4364481" y="2442339"/>
                <a:chExt cx="7154416" cy="3686999"/>
              </a:xfrm>
            </p:grpSpPr>
            <p:sp>
              <p:nvSpPr>
                <p:cNvPr id="1048836" name="Bullet3" descr="ac8190d0-f46a-4ade-9621-1d4ce7e65c9c"/>
                <p:cNvSpPr/>
                <p:nvPr/>
              </p:nvSpPr>
              <p:spPr>
                <a:xfrm flipH="1">
                  <a:off x="8068558" y="2442339"/>
                  <a:ext cx="3450339" cy="500400"/>
                </a:xfrm>
                <a:prstGeom prst="roundRect">
                  <a:avLst/>
                </a:prstGeom>
                <a:solidFill>
                  <a:schemeClr val="accent1"/>
                </a:solidFill>
              </p:spPr>
              <p:txBody>
                <a:bodyPr wrap="square" lIns="91440" tIns="45720" rIns="91440" bIns="45720" anchor="ctr"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FFFFFF"/>
                      </a:solidFill>
                      <a:ea typeface="微软雅黑" panose="020B0503020204020204" charset="-122"/>
                    </a:rPr>
                    <a:t>核心贡献者识别</a:t>
                  </a:r>
                </a:p>
              </p:txBody>
            </p:sp>
            <p:sp>
              <p:nvSpPr>
                <p:cNvPr id="1048837" name="Text3" descr="33dbccf4-5193-4cba-8875-69e35ecbe078"/>
                <p:cNvSpPr txBox="1"/>
                <p:nvPr/>
              </p:nvSpPr>
              <p:spPr>
                <a:xfrm>
                  <a:off x="4364481" y="3100737"/>
                  <a:ext cx="3450339" cy="3028601"/>
                </a:xfrm>
                <a:prstGeom prst="rect">
                  <a:avLst/>
                </a:prstGeom>
                <a:noFill/>
              </p:spPr>
              <p:txBody>
                <a:bodyPr wrap="square" rtlCol="0" anchor="t" anchorCtr="0">
                  <a:normAutofit/>
                </a:bodyPr>
                <a:lstStyle>
                  <a:defPPr>
                    <a:defRPr lang="zh-CN"/>
                  </a:defPPr>
                  <a:lvl1pPr marL="0" algn="ctr" defTabSz="914400" rtl="0" eaLnBrk="1" latinLnBrk="0" hangingPunct="1">
                    <a:lnSpc>
                      <a:spcPct val="150000"/>
                    </a:lnSpc>
                    <a:defRPr sz="12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0" i="0" u="none" dirty="0" err="1">
                      <a:solidFill>
                        <a:srgbClr val="000000"/>
                      </a:solidFill>
                      <a:ea typeface="微软雅黑" panose="020B0503020204020204" charset="-122"/>
                    </a:rPr>
                    <a:t>结合</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OpenDigger</a:t>
                  </a:r>
                  <a:r>
                    <a:rPr lang="en-US" sz="1800" b="0" i="0" u="none" dirty="0">
                      <a:solidFill>
                        <a:srgbClr val="000000"/>
                      </a:solidFill>
                      <a:ea typeface="微软雅黑" panose="020B0503020204020204" charset="-122"/>
                    </a:rPr>
                    <a:t> </a:t>
                  </a:r>
                  <a:r>
                    <a:rPr lang="zh-CN" altLang="en-US" sz="1800" b="0" i="0" u="none" dirty="0">
                      <a:solidFill>
                        <a:srgbClr val="000000"/>
                      </a:solidFill>
                      <a:ea typeface="微软雅黑" panose="020B0503020204020204" charset="-122"/>
                    </a:rPr>
                    <a:t>等工具</a:t>
                  </a:r>
                  <a:r>
                    <a:rPr lang="en-US" sz="1800" b="0" i="0" u="none" dirty="0">
                      <a:solidFill>
                        <a:srgbClr val="000000"/>
                      </a:solidFill>
                      <a:ea typeface="微软雅黑" panose="020B0503020204020204" charset="-122"/>
                    </a:rPr>
                    <a:t>的 </a:t>
                  </a:r>
                  <a:r>
                    <a:rPr lang="en-US" sz="1800" b="0" i="0" u="none" dirty="0" err="1">
                      <a:solidFill>
                        <a:srgbClr val="000000"/>
                      </a:solidFill>
                      <a:ea typeface="微软雅黑" panose="020B0503020204020204" charset="-122"/>
                    </a:rPr>
                    <a:t>OpenRank</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指标与活跃度预测结果，识别项目的</a:t>
                  </a:r>
                  <a:r>
                    <a:rPr lang="en-US" sz="1800" b="0" i="0" u="none" dirty="0">
                      <a:solidFill>
                        <a:srgbClr val="000000"/>
                      </a:solidFill>
                      <a:ea typeface="微软雅黑" panose="020B0503020204020204" charset="-122"/>
                    </a:rPr>
                    <a:t> “</a:t>
                  </a:r>
                  <a:r>
                    <a:rPr lang="en-US" sz="1800" b="0" i="0" u="none" dirty="0" err="1">
                      <a:solidFill>
                        <a:srgbClr val="000000"/>
                      </a:solidFill>
                      <a:ea typeface="微软雅黑" panose="020B0503020204020204" charset="-122"/>
                    </a:rPr>
                    <a:t>核心贡献者群体</a:t>
                  </a:r>
                  <a:r>
                    <a:rPr lang="en-US" sz="1800" b="0" i="0" u="none" dirty="0">
                      <a:solidFill>
                        <a:srgbClr val="000000"/>
                      </a:solidFill>
                      <a:ea typeface="微软雅黑" panose="020B0503020204020204" charset="-122"/>
                    </a:rPr>
                    <a:t>”，</a:t>
                  </a:r>
                  <a:r>
                    <a:rPr lang="en-US" sz="1800" b="0" i="0" u="none" dirty="0" err="1">
                      <a:solidFill>
                        <a:srgbClr val="000000"/>
                      </a:solidFill>
                      <a:ea typeface="微软雅黑" panose="020B0503020204020204" charset="-122"/>
                    </a:rPr>
                    <a:t>优先邀请其参与版本规划会议，降低人才流失风险</a:t>
                  </a:r>
                  <a:r>
                    <a:rPr lang="en-US" sz="1800" b="0" i="0" u="none" dirty="0">
                      <a:solidFill>
                        <a:srgbClr val="000000"/>
                      </a:solidFill>
                      <a:ea typeface="微软雅黑" panose="020B0503020204020204" charset="-122"/>
                    </a:rPr>
                    <a:t>。</a:t>
                  </a:r>
                </a:p>
              </p:txBody>
            </p:sp>
          </p:grpSp>
        </p:grpSp>
        <p:cxnSp>
          <p:nvCxnSpPr>
            <p:cNvPr id="3145744" name="连接符: 肘形 6" descr="0205bf20-9151-404c-9679-1325f2f18b50"/>
            <p:cNvCxnSpPr>
              <a:stCxn id="1048831" idx="2"/>
              <a:endCxn id="1048834" idx="0"/>
            </p:cNvCxnSpPr>
            <p:nvPr/>
          </p:nvCxnSpPr>
          <p:spPr>
            <a:xfrm rot="5400000">
              <a:off x="5760451" y="2113139"/>
              <a:ext cx="658397" cy="3"/>
            </a:xfrm>
            <a:prstGeom prst="bentConnector3">
              <a:avLst/>
            </a:prstGeom>
            <a:solidFill>
              <a:schemeClr val="bg1"/>
            </a:solidFill>
            <a:ln w="6350">
              <a:solidFill>
                <a:schemeClr val="tx1">
                  <a:alpha val="50000"/>
                </a:schemeClr>
              </a:solidFill>
            </a:ln>
          </p:spPr>
          <p:style>
            <a:lnRef idx="2">
              <a:schemeClr val="accent1">
                <a:shade val="15000"/>
              </a:schemeClr>
            </a:lnRef>
            <a:fillRef idx="1">
              <a:schemeClr val="accent1"/>
            </a:fillRef>
            <a:effectRef idx="0">
              <a:schemeClr val="accent1"/>
            </a:effectRef>
            <a:fontRef idx="minor">
              <a:schemeClr val="lt1"/>
            </a:fontRef>
          </p:style>
        </p:cxnSp>
      </p:grpSp>
      <p:sp>
        <p:nvSpPr>
          <p:cNvPr id="1048838" name="标题 1048837"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开源项目维护与协作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08bf9096-12c1-4c59-9d4e-c3adca6833e4.source.3.zh-Hans.pptx" descr="714ecba8-e7ba-4b99-9287-bc51d6a12710"/>
          <p:cNvGrpSpPr/>
          <p:nvPr/>
        </p:nvGrpSpPr>
        <p:grpSpPr>
          <a:xfrm>
            <a:off x="660399" y="1130300"/>
            <a:ext cx="10858500" cy="5003800"/>
            <a:chOff x="660399" y="1130300"/>
            <a:chExt cx="10858500" cy="5003800"/>
          </a:xfrm>
        </p:grpSpPr>
        <p:sp>
          <p:nvSpPr>
            <p:cNvPr id="1048653" name="Title" descr="6704bde3-5298-4e77-b790-5a2ee73c8b6d"/>
            <p:cNvSpPr txBox="1"/>
            <p:nvPr/>
          </p:nvSpPr>
          <p:spPr>
            <a:xfrm>
              <a:off x="660399" y="1130300"/>
              <a:ext cx="10858500" cy="713879"/>
            </a:xfrm>
            <a:prstGeom prst="rect">
              <a:avLst/>
            </a:prstGeom>
            <a:noFill/>
            <a:ln>
              <a:noFill/>
            </a:ln>
          </p:spPr>
          <p:txBody>
            <a:bodyPr wrap="square" lIns="91440" tIns="45720" rIns="91440" bIns="45720" anchor="t" anchorCtr="0">
              <a:normAutofit/>
            </a:bodyPr>
            <a:lstStyle/>
            <a:p>
              <a:pPr algn="ctr"/>
              <a:r>
                <a:rPr lang="en-US" sz="2400" b="1" i="0" u="none">
                  <a:solidFill>
                    <a:srgbClr val="000000"/>
                  </a:solidFill>
                  <a:ea typeface="微软雅黑" panose="020B0503020204020204" charset="-122"/>
                </a:rPr>
                <a:t>说明系统在社区运营中的作用</a:t>
              </a:r>
            </a:p>
          </p:txBody>
        </p:sp>
        <p:grpSp>
          <p:nvGrpSpPr>
            <p:cNvPr id="74" name="组合 70" descr="33a8911d-df42-4566-9b75-318216e8fb86"/>
            <p:cNvGrpSpPr/>
            <p:nvPr/>
          </p:nvGrpSpPr>
          <p:grpSpPr>
            <a:xfrm>
              <a:off x="1078597" y="2316978"/>
              <a:ext cx="2791645" cy="3817122"/>
              <a:chOff x="519980" y="1963442"/>
              <a:chExt cx="2791645" cy="3817122"/>
            </a:xfrm>
          </p:grpSpPr>
          <p:sp>
            <p:nvSpPr>
              <p:cNvPr id="1048654" name="Shape1" descr="d55b0712-faeb-4d94-88a2-920c43275e6d"/>
              <p:cNvSpPr/>
              <p:nvPr/>
            </p:nvSpPr>
            <p:spPr>
              <a:xfrm>
                <a:off x="2848780" y="2918176"/>
                <a:ext cx="462845" cy="462845"/>
              </a:xfrm>
              <a:prstGeom prst="ellipse">
                <a:avLst/>
              </a:prstGeom>
              <a:solidFill>
                <a:schemeClr val="accent1"/>
              </a:solidFill>
              <a:ln w="25400" cap="flat">
                <a:noFill/>
                <a:prstDash val="solid"/>
                <a:miter/>
              </a:ln>
              <a:effectLst>
                <a:outerShdw blurRad="50800" dist="38100" dir="2700000" algn="tl" rotWithShape="0">
                  <a:schemeClr val="accent1">
                    <a:alpha val="40000"/>
                  </a:schemeClr>
                </a:outerShdw>
              </a:effectLst>
            </p:spPr>
            <p:txBody>
              <a:bodyPr wrap="none" rtlCol="0" anchor="ctr" anchorCtr="0"/>
              <a:lstStyle/>
              <a:p>
                <a:pPr algn="ctr"/>
                <a:endParaRPr/>
              </a:p>
            </p:txBody>
          </p:sp>
          <p:sp>
            <p:nvSpPr>
              <p:cNvPr id="1048655" name="ComponentBackground1" descr="b5c62b12-43b2-41e6-af7a-0218642c0caf"/>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1">
                    <a:alpha val="18000"/>
                  </a:schemeClr>
                </a:outerShdw>
              </a:effectLst>
            </p:spPr>
            <p:txBody>
              <a:bodyPr wrap="none" rtlCol="0" anchor="ctr" anchorCtr="0"/>
              <a:lstStyle/>
              <a:p>
                <a:pPr algn="ctr"/>
                <a:endParaRPr/>
              </a:p>
            </p:txBody>
          </p:sp>
          <p:sp>
            <p:nvSpPr>
              <p:cNvPr id="1048656" name="Bullet1" descr="83ff3dce-e395-445a-949a-306326854471"/>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684E93"/>
                    </a:solidFill>
                    <a:ea typeface="微软雅黑" panose="020B0503020204020204" charset="-122"/>
                  </a:rPr>
                  <a:t>新兴技术领域扶持</a:t>
                </a:r>
              </a:p>
            </p:txBody>
          </p:sp>
          <p:sp>
            <p:nvSpPr>
              <p:cNvPr id="1048657" name="Text1" descr="d988fc48-5544-49db-87e9-47a643716c9f"/>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通过群体分析功能发现近期技术标签增长最快的领域，社区可针对性地举办黑客松、专题分享会，吸引更多开发者参与</a:t>
                </a:r>
                <a:r>
                  <a:rPr lang="en-US" sz="1600" b="0" i="0" u="none" dirty="0">
                    <a:solidFill>
                      <a:srgbClr val="000000"/>
                    </a:solidFill>
                    <a:ea typeface="微软雅黑" panose="020B0503020204020204" charset="-122"/>
                  </a:rPr>
                  <a:t>。</a:t>
                </a:r>
              </a:p>
            </p:txBody>
          </p:sp>
          <p:sp>
            <p:nvSpPr>
              <p:cNvPr id="1048658" name="Number1" descr="356ecbcf-89c3-46ff-a0d6-767f9d2e1a1a"/>
              <p:cNvSpPr/>
              <p:nvPr/>
            </p:nvSpPr>
            <p:spPr>
              <a:xfrm>
                <a:off x="660399" y="1963442"/>
                <a:ext cx="1336851" cy="1186156"/>
              </a:xfrm>
              <a:prstGeom prst="rect">
                <a:avLst/>
              </a:prstGeom>
              <a:noFill/>
            </p:spPr>
            <p:txBody>
              <a:bodyPr wrap="square" lIns="91440" tIns="45720" rIns="91440" bIns="45720" rtlCol="0" anchor="b" anchorCtr="0">
                <a:normAutofit/>
              </a:bodyPr>
              <a:lstStyle/>
              <a:p>
                <a:pPr algn="r"/>
                <a:r>
                  <a:rPr lang="en-US" sz="6600" b="1" i="1" u="none">
                    <a:solidFill>
                      <a:srgbClr val="684E93"/>
                    </a:solidFill>
                    <a:latin typeface="Arial" panose="020B0604020202020204"/>
                  </a:rPr>
                  <a:t>01</a:t>
                </a:r>
              </a:p>
            </p:txBody>
          </p:sp>
        </p:grpSp>
        <p:grpSp>
          <p:nvGrpSpPr>
            <p:cNvPr id="75" name="组合 71" descr="e6c82d8a-fabe-4a69-bc49-60a749921f6f"/>
            <p:cNvGrpSpPr/>
            <p:nvPr/>
          </p:nvGrpSpPr>
          <p:grpSpPr>
            <a:xfrm>
              <a:off x="4623619" y="2316978"/>
              <a:ext cx="2791645" cy="3817122"/>
              <a:chOff x="519980" y="1963442"/>
              <a:chExt cx="2791645" cy="3817122"/>
            </a:xfrm>
          </p:grpSpPr>
          <p:sp>
            <p:nvSpPr>
              <p:cNvPr id="1048659" name="Shape2" descr="c8bfb93a-6498-4296-ab7d-093aa0e666aa"/>
              <p:cNvSpPr/>
              <p:nvPr/>
            </p:nvSpPr>
            <p:spPr>
              <a:xfrm>
                <a:off x="2848780" y="2918176"/>
                <a:ext cx="462845" cy="462845"/>
              </a:xfrm>
              <a:prstGeom prst="ellipse">
                <a:avLst/>
              </a:prstGeom>
              <a:solidFill>
                <a:schemeClr val="accent2"/>
              </a:solidFill>
              <a:ln w="25400" cap="flat">
                <a:noFill/>
                <a:prstDash val="solid"/>
                <a:miter/>
              </a:ln>
              <a:effectLst>
                <a:outerShdw blurRad="50800" dist="38100" dir="2700000" algn="tl" rotWithShape="0">
                  <a:schemeClr val="accent2">
                    <a:alpha val="40000"/>
                  </a:schemeClr>
                </a:outerShdw>
              </a:effectLst>
            </p:spPr>
            <p:txBody>
              <a:bodyPr wrap="none" rtlCol="0" anchor="ctr" anchorCtr="0"/>
              <a:lstStyle/>
              <a:p>
                <a:pPr algn="ctr"/>
                <a:endParaRPr/>
              </a:p>
            </p:txBody>
          </p:sp>
          <p:sp>
            <p:nvSpPr>
              <p:cNvPr id="1048660" name="ComponentBackground2" descr="0d7ec4ce-b9e4-4f24-9f84-02a22a3e2edd"/>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2">
                    <a:alpha val="18000"/>
                  </a:schemeClr>
                </a:outerShdw>
              </a:effectLst>
            </p:spPr>
            <p:txBody>
              <a:bodyPr wrap="none" rtlCol="0" anchor="ctr" anchorCtr="0"/>
              <a:lstStyle/>
              <a:p>
                <a:pPr algn="ctr"/>
                <a:endParaRPr/>
              </a:p>
            </p:txBody>
          </p:sp>
          <p:sp>
            <p:nvSpPr>
              <p:cNvPr id="1048661" name="Bullet2" descr="8685a77e-9a29-4a0d-ba0e-98d9434a8eda"/>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D5723D"/>
                    </a:solidFill>
                    <a:ea typeface="微软雅黑" panose="020B0503020204020204" charset="-122"/>
                  </a:rPr>
                  <a:t>贡献者激励策略</a:t>
                </a:r>
              </a:p>
            </p:txBody>
          </p:sp>
          <p:sp>
            <p:nvSpPr>
              <p:cNvPr id="1048662" name="Text2" descr="a8a97fae-2a4d-4942-a6f8-57b409c9097a"/>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根据活跃度预测结果，对</a:t>
                </a:r>
                <a:r>
                  <a:rPr lang="en-US" sz="1600" b="0" i="0" u="none" dirty="0">
                    <a:solidFill>
                      <a:srgbClr val="000000"/>
                    </a:solidFill>
                    <a:ea typeface="微软雅黑" panose="020B0503020204020204" charset="-122"/>
                  </a:rPr>
                  <a:t> “</a:t>
                </a:r>
                <a:r>
                  <a:rPr lang="en-US" sz="1600" b="0" i="0" u="none" dirty="0" err="1">
                    <a:solidFill>
                      <a:srgbClr val="000000"/>
                    </a:solidFill>
                    <a:ea typeface="微软雅黑" panose="020B0503020204020204" charset="-122"/>
                  </a:rPr>
                  <a:t>高潜力低活跃</a:t>
                </a:r>
                <a:r>
                  <a:rPr lang="en-US" sz="1600" b="0" i="0" u="none" dirty="0">
                    <a:solidFill>
                      <a:srgbClr val="000000"/>
                    </a:solidFill>
                    <a:ea typeface="微软雅黑" panose="020B0503020204020204" charset="-122"/>
                  </a:rPr>
                  <a:t>” </a:t>
                </a:r>
                <a:r>
                  <a:rPr lang="en-US" sz="1600" b="0" i="0" u="none" dirty="0" err="1">
                    <a:solidFill>
                      <a:srgbClr val="000000"/>
                    </a:solidFill>
                    <a:ea typeface="微软雅黑" panose="020B0503020204020204" charset="-122"/>
                  </a:rPr>
                  <a:t>开发者发送个性化邀请，提升社区参与度</a:t>
                </a:r>
                <a:r>
                  <a:rPr lang="en-US" sz="1600" b="0" i="0" u="none" dirty="0">
                    <a:solidFill>
                      <a:srgbClr val="000000"/>
                    </a:solidFill>
                    <a:ea typeface="微软雅黑" panose="020B0503020204020204" charset="-122"/>
                  </a:rPr>
                  <a:t>。</a:t>
                </a:r>
              </a:p>
            </p:txBody>
          </p:sp>
          <p:sp>
            <p:nvSpPr>
              <p:cNvPr id="1048663" name="Number2" descr="86d6f8b8-7d84-420f-b001-051ea7406773"/>
              <p:cNvSpPr/>
              <p:nvPr/>
            </p:nvSpPr>
            <p:spPr>
              <a:xfrm>
                <a:off x="660399" y="1963442"/>
                <a:ext cx="1336851" cy="11861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p>
                <a:pPr algn="r"/>
                <a:r>
                  <a:rPr lang="en-US" sz="6600" b="1" i="1" u="none">
                    <a:solidFill>
                      <a:srgbClr val="D5723D"/>
                    </a:solidFill>
                    <a:latin typeface="Arial" panose="020B0604020202020204"/>
                  </a:rPr>
                  <a:t>02</a:t>
                </a:r>
              </a:p>
            </p:txBody>
          </p:sp>
        </p:grpSp>
        <p:grpSp>
          <p:nvGrpSpPr>
            <p:cNvPr id="76" name="组合 72" descr="a4a2baa8-28ec-4c48-8dc7-f310ec5f44a9"/>
            <p:cNvGrpSpPr/>
            <p:nvPr/>
          </p:nvGrpSpPr>
          <p:grpSpPr>
            <a:xfrm>
              <a:off x="8168640" y="2316978"/>
              <a:ext cx="2791645" cy="3817122"/>
              <a:chOff x="519980" y="1963442"/>
              <a:chExt cx="2791645" cy="3817122"/>
            </a:xfrm>
          </p:grpSpPr>
          <p:sp>
            <p:nvSpPr>
              <p:cNvPr id="1048664" name="Shape3" descr="5b45e9e8-6eb0-448b-89a5-233b19382b03"/>
              <p:cNvSpPr/>
              <p:nvPr/>
            </p:nvSpPr>
            <p:spPr>
              <a:xfrm>
                <a:off x="2848780" y="2918176"/>
                <a:ext cx="462845" cy="462845"/>
              </a:xfrm>
              <a:prstGeom prst="ellipse">
                <a:avLst/>
              </a:prstGeom>
              <a:solidFill>
                <a:schemeClr val="accent3"/>
              </a:solidFill>
              <a:ln w="25400" cap="flat">
                <a:noFill/>
                <a:prstDash val="solid"/>
                <a:miter/>
              </a:ln>
              <a:effectLst>
                <a:outerShdw blurRad="50800" dist="38100" dir="2700000" algn="tl" rotWithShape="0">
                  <a:schemeClr val="accent3">
                    <a:alpha val="40000"/>
                  </a:schemeClr>
                </a:outerShdw>
              </a:effectLst>
            </p:spPr>
            <p:txBody>
              <a:bodyPr wrap="none" rtlCol="0" anchor="ctr" anchorCtr="0"/>
              <a:lstStyle/>
              <a:p>
                <a:pPr algn="ctr"/>
                <a:endParaRPr/>
              </a:p>
            </p:txBody>
          </p:sp>
          <p:sp>
            <p:nvSpPr>
              <p:cNvPr id="1048665" name="ComponentBackground3" descr="591dccc0-2b73-43cc-9f36-b9f5d8177cc8"/>
              <p:cNvSpPr/>
              <p:nvPr/>
            </p:nvSpPr>
            <p:spPr>
              <a:xfrm>
                <a:off x="1145721" y="2206170"/>
                <a:ext cx="1886857" cy="1886857"/>
              </a:xfrm>
              <a:prstGeom prst="ellipse">
                <a:avLst/>
              </a:prstGeom>
              <a:solidFill>
                <a:schemeClr val="bg1"/>
              </a:solidFill>
              <a:ln w="25400" cap="flat">
                <a:noFill/>
                <a:prstDash val="solid"/>
                <a:miter/>
              </a:ln>
              <a:effectLst>
                <a:outerShdw blurRad="127000" dist="63500" dir="2700000" algn="tl" rotWithShape="0">
                  <a:schemeClr val="accent3">
                    <a:alpha val="18000"/>
                  </a:schemeClr>
                </a:outerShdw>
              </a:effectLst>
            </p:spPr>
            <p:txBody>
              <a:bodyPr wrap="none" rtlCol="0" anchor="ctr" anchorCtr="0"/>
              <a:lstStyle/>
              <a:p>
                <a:pPr algn="ctr"/>
                <a:endParaRPr/>
              </a:p>
            </p:txBody>
          </p:sp>
          <p:sp>
            <p:nvSpPr>
              <p:cNvPr id="1048666" name="Bullet3" descr="b1028e99-c01f-4931-b30a-49a060b5d60b"/>
              <p:cNvSpPr txBox="1"/>
              <p:nvPr/>
            </p:nvSpPr>
            <p:spPr>
              <a:xfrm>
                <a:off x="519980" y="3149598"/>
                <a:ext cx="2475035" cy="850902"/>
              </a:xfrm>
              <a:prstGeom prst="rect">
                <a:avLst/>
              </a:prstGeom>
              <a:noFill/>
            </p:spPr>
            <p:txBody>
              <a:bodyPr wrap="square" lIns="90000" tIns="46800" rIns="90000" bIns="46800" rtlCol="0" anchor="b" anchorCtr="0">
                <a:normAutofit/>
              </a:bodyPr>
              <a:lstStyle/>
              <a:p>
                <a:pPr algn="l"/>
                <a:r>
                  <a:rPr lang="en-US" sz="1800" b="1" i="0" u="none">
                    <a:solidFill>
                      <a:srgbClr val="D1847A"/>
                    </a:solidFill>
                    <a:ea typeface="微软雅黑" panose="020B0503020204020204" charset="-122"/>
                  </a:rPr>
                  <a:t>健康度评估</a:t>
                </a:r>
              </a:p>
            </p:txBody>
          </p:sp>
          <p:sp>
            <p:nvSpPr>
              <p:cNvPr id="1048667" name="Text3" descr="57c51269-0983-4c34-ad66-b18d6b3a5446"/>
              <p:cNvSpPr txBox="1"/>
              <p:nvPr/>
            </p:nvSpPr>
            <p:spPr>
              <a:xfrm>
                <a:off x="550861" y="4223596"/>
                <a:ext cx="2475035" cy="1556968"/>
              </a:xfrm>
              <a:prstGeom prst="rect">
                <a:avLst/>
              </a:prstGeom>
              <a:noFill/>
            </p:spPr>
            <p:txBody>
              <a:bodyPr wrap="square" rtlCol="0" anchor="t" anchorCtr="0">
                <a:normAutofit/>
              </a:bodyPr>
              <a:lstStyle>
                <a:defPPr>
                  <a:defRPr lang="zh-CN"/>
                </a:defPPr>
                <a:lvl1pPr>
                  <a:lnSpc>
                    <a:spcPts val="1500"/>
                  </a:lnSpc>
                  <a:defRPr sz="900"/>
                </a:lvl1pPr>
              </a:lstStyle>
              <a:p>
                <a:pPr algn="l">
                  <a:lnSpc>
                    <a:spcPct val="120000"/>
                  </a:lnSpc>
                </a:pPr>
                <a:r>
                  <a:rPr lang="en-US" sz="1600" b="0" i="0" u="none" dirty="0" err="1">
                    <a:solidFill>
                      <a:srgbClr val="000000"/>
                    </a:solidFill>
                    <a:ea typeface="微软雅黑" panose="020B0503020204020204" charset="-122"/>
                  </a:rPr>
                  <a:t>通过核心贡献者流失风险预警与整体活跃度趋势预测，生成社区健康度报告，辅助社区运营决策</a:t>
                </a:r>
                <a:r>
                  <a:rPr lang="en-US" sz="1600" b="0" i="0" u="none" dirty="0">
                    <a:solidFill>
                      <a:srgbClr val="000000"/>
                    </a:solidFill>
                    <a:ea typeface="微软雅黑" panose="020B0503020204020204" charset="-122"/>
                  </a:rPr>
                  <a:t>。</a:t>
                </a:r>
              </a:p>
            </p:txBody>
          </p:sp>
          <p:sp>
            <p:nvSpPr>
              <p:cNvPr id="1048668" name="Number3" descr="63791498-7c6c-48e1-aabb-d757880d43e2"/>
              <p:cNvSpPr/>
              <p:nvPr/>
            </p:nvSpPr>
            <p:spPr>
              <a:xfrm>
                <a:off x="660399" y="1963442"/>
                <a:ext cx="1336851" cy="11861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b" anchorCtr="0">
                <a:normAutofit/>
              </a:bodyPr>
              <a:lstStyle/>
              <a:p>
                <a:pPr algn="r"/>
                <a:r>
                  <a:rPr lang="en-US" sz="6600" b="1" i="1" u="none">
                    <a:solidFill>
                      <a:srgbClr val="D1847A"/>
                    </a:solidFill>
                    <a:latin typeface="Arial" panose="020B0604020202020204"/>
                  </a:rPr>
                  <a:t>03</a:t>
                </a:r>
              </a:p>
            </p:txBody>
          </p:sp>
        </p:grpSp>
      </p:grpSp>
      <p:sp>
        <p:nvSpPr>
          <p:cNvPr id="1048669" name="标题 1048668"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开源社区运营</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48956690-3464-43fb-8a8a-6585c3514593.source.3.zh-Hans.pptx" descr="ad17299b-7f43-455c-8084-e3745273feb9"/>
          <p:cNvGrpSpPr/>
          <p:nvPr/>
        </p:nvGrpSpPr>
        <p:grpSpPr>
          <a:xfrm>
            <a:off x="0" y="775406"/>
            <a:ext cx="11518900" cy="4774494"/>
            <a:chOff x="0" y="775406"/>
            <a:chExt cx="11518900" cy="4774494"/>
          </a:xfrm>
        </p:grpSpPr>
        <p:sp>
          <p:nvSpPr>
            <p:cNvPr id="1048636" name="íṡ1ïdé" descr="7c8a0518-708b-4e31-9c72-581ecf120f29"/>
            <p:cNvSpPr/>
            <p:nvPr/>
          </p:nvSpPr>
          <p:spPr>
            <a:xfrm>
              <a:off x="0" y="775406"/>
              <a:ext cx="7460165" cy="1628078"/>
            </a:xfrm>
            <a:custGeom>
              <a:avLst/>
              <a:gdLst>
                <a:gd name="connsiteX0" fmla="*/ 0 w 7872761"/>
                <a:gd name="connsiteY0" fmla="*/ 0 h 1028700"/>
                <a:gd name="connsiteX1" fmla="*/ 7872761 w 7872761"/>
                <a:gd name="connsiteY1" fmla="*/ 0 h 1028700"/>
                <a:gd name="connsiteX2" fmla="*/ 7188871 w 7872761"/>
                <a:gd name="connsiteY2" fmla="*/ 1028700 h 1028700"/>
                <a:gd name="connsiteX3" fmla="*/ 0 w 7872761"/>
                <a:gd name="connsiteY3" fmla="*/ 1028700 h 1028700"/>
              </a:gdLst>
              <a:ahLst/>
              <a:cxnLst>
                <a:cxn ang="0">
                  <a:pos x="connsiteX0" y="connsiteY0"/>
                </a:cxn>
                <a:cxn ang="0">
                  <a:pos x="connsiteX1" y="connsiteY1"/>
                </a:cxn>
                <a:cxn ang="0">
                  <a:pos x="connsiteX2" y="connsiteY2"/>
                </a:cxn>
                <a:cxn ang="0">
                  <a:pos x="connsiteX3" y="connsiteY3"/>
                </a:cxn>
              </a:cxnLst>
              <a:rect l="l" t="t" r="r" b="b"/>
              <a:pathLst>
                <a:path w="7872761" h="1028700">
                  <a:moveTo>
                    <a:pt x="0" y="0"/>
                  </a:moveTo>
                  <a:lnTo>
                    <a:pt x="7872761" y="0"/>
                  </a:lnTo>
                  <a:lnTo>
                    <a:pt x="7188871" y="1028700"/>
                  </a:lnTo>
                  <a:lnTo>
                    <a:pt x="0" y="1028700"/>
                  </a:lnTo>
                  <a:close/>
                </a:path>
              </a:pathLst>
            </a:custGeom>
            <a:solidFill>
              <a:schemeClr val="tx2">
                <a:alpha val="10000"/>
              </a:schemeClr>
            </a:solidFill>
            <a:ln w="12700" cap="flat">
              <a:noFill/>
              <a:prstDash val="solid"/>
              <a:miter/>
            </a:ln>
            <a:effectLst/>
          </p:spPr>
          <p:txBody>
            <a:bodyPr rtlCol="0" anchor="ctr" anchorCtr="0"/>
            <a:lstStyle/>
            <a:p>
              <a:pPr algn="l"/>
              <a:endParaRPr/>
            </a:p>
          </p:txBody>
        </p:sp>
        <p:grpSp>
          <p:nvGrpSpPr>
            <p:cNvPr id="65" name="组合 1" descr="8c5d7d69-bb12-41d3-8130-9e172089f763"/>
            <p:cNvGrpSpPr/>
            <p:nvPr/>
          </p:nvGrpSpPr>
          <p:grpSpPr>
            <a:xfrm>
              <a:off x="660399" y="3487119"/>
              <a:ext cx="3350658" cy="2062781"/>
              <a:chOff x="660399" y="3487119"/>
              <a:chExt cx="3350658" cy="2062781"/>
            </a:xfrm>
          </p:grpSpPr>
          <p:sp>
            <p:nvSpPr>
              <p:cNvPr id="1048637" name="Bullet1" descr="6651fcc6-0592-4889-a266-8e95fdecb9b1"/>
              <p:cNvSpPr/>
              <p:nvPr/>
            </p:nvSpPr>
            <p:spPr>
              <a:xfrm>
                <a:off x="660399" y="3487119"/>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en-US" sz="1800" b="1" i="0" u="none" dirty="0" err="1">
                    <a:solidFill>
                      <a:srgbClr val="FFFFFF"/>
                    </a:solidFill>
                    <a:ea typeface="微软雅黑" panose="020B0503020204020204" charset="-122"/>
                  </a:rPr>
                  <a:t>技术人才画像</a:t>
                </a:r>
                <a:endParaRPr lang="en-US" sz="1800" b="1" i="0" u="none" dirty="0">
                  <a:solidFill>
                    <a:srgbClr val="FFFFFF"/>
                  </a:solidFill>
                  <a:ea typeface="微软雅黑" panose="020B0503020204020204" charset="-122"/>
                </a:endParaRPr>
              </a:p>
            </p:txBody>
          </p:sp>
          <p:sp>
            <p:nvSpPr>
              <p:cNvPr id="1048638" name="Text1" descr="d797e19a-103c-4445-899a-4eebd71cffdc"/>
              <p:cNvSpPr/>
              <p:nvPr/>
            </p:nvSpPr>
            <p:spPr>
              <a:xfrm>
                <a:off x="660400"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dirty="0" err="1">
                    <a:solidFill>
                      <a:srgbClr val="000000"/>
                    </a:solidFill>
                    <a:ea typeface="微软雅黑" panose="020B0503020204020204" charset="-122"/>
                  </a:rPr>
                  <a:t>企业可通过系统分析目标开发者的技术倾向与协作风格，精准匹配岗位需求，降低招聘成本</a:t>
                </a:r>
                <a:r>
                  <a:rPr lang="en-US" sz="1600" b="0" i="0" u="none" dirty="0">
                    <a:solidFill>
                      <a:srgbClr val="000000"/>
                    </a:solidFill>
                    <a:ea typeface="微软雅黑" panose="020B0503020204020204" charset="-122"/>
                  </a:rPr>
                  <a:t>。</a:t>
                </a:r>
              </a:p>
            </p:txBody>
          </p:sp>
        </p:grpSp>
        <p:sp>
          <p:nvSpPr>
            <p:cNvPr id="1048640" name="Text2" descr="50d5f186-f9dc-48fe-97cb-25807abe6549"/>
            <p:cNvSpPr/>
            <p:nvPr/>
          </p:nvSpPr>
          <p:spPr>
            <a:xfrm>
              <a:off x="4535294"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dirty="0" err="1">
                  <a:solidFill>
                    <a:srgbClr val="000000"/>
                  </a:solidFill>
                  <a:ea typeface="微软雅黑" panose="020B0503020204020204" charset="-122"/>
                </a:rPr>
                <a:t>企业可筛选与自身技术栈匹配的高活跃开发者群体，邀请其参与企业主导的开源项目，或合作开发解决方案</a:t>
              </a:r>
              <a:r>
                <a:rPr lang="en-US" sz="1600" b="0" i="0" u="none" dirty="0">
                  <a:solidFill>
                    <a:srgbClr val="000000"/>
                  </a:solidFill>
                  <a:ea typeface="微软雅黑" panose="020B0503020204020204" charset="-122"/>
                </a:rPr>
                <a:t>。</a:t>
              </a:r>
            </a:p>
          </p:txBody>
        </p:sp>
        <p:sp>
          <p:nvSpPr>
            <p:cNvPr id="1048642" name="Text3" descr="c6aef94b-c114-4a89-8613-be8e4c3b3c93"/>
            <p:cNvSpPr/>
            <p:nvPr/>
          </p:nvSpPr>
          <p:spPr>
            <a:xfrm>
              <a:off x="8410188" y="4158398"/>
              <a:ext cx="3108712" cy="1391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lnSpc>
                  <a:spcPct val="120000"/>
                </a:lnSpc>
              </a:pPr>
              <a:r>
                <a:rPr lang="en-US" sz="1600" b="0" i="0" u="none">
                  <a:solidFill>
                    <a:srgbClr val="000000"/>
                  </a:solidFill>
                  <a:ea typeface="微软雅黑" panose="020B0503020204020204" charset="-122"/>
                </a:rPr>
                <a:t>通过分析群体开发者的技术倾向变化，提前捕捉行业技术趋势，为企业技术战略提供参考。</a:t>
              </a:r>
            </a:p>
          </p:txBody>
        </p:sp>
        <p:sp>
          <p:nvSpPr>
            <p:cNvPr id="1048643" name="Title" descr="4b387a02-bd99-474e-9b3b-f1fe66fe893a"/>
            <p:cNvSpPr/>
            <p:nvPr/>
          </p:nvSpPr>
          <p:spPr>
            <a:xfrm>
              <a:off x="660399" y="1130300"/>
              <a:ext cx="5945459" cy="1273184"/>
            </a:xfrm>
            <a:prstGeom prst="rect">
              <a:avLst/>
            </a:prstGeom>
          </p:spPr>
          <p:txBody>
            <a:bodyPr wrap="square" anchor="t" anchorCtr="0">
              <a:normAutofit/>
            </a:bodyPr>
            <a:lstStyle/>
            <a:p>
              <a:pPr algn="l"/>
              <a:r>
                <a:rPr lang="en-US" sz="2400" b="1" i="0" u="none">
                  <a:solidFill>
                    <a:srgbClr val="000000"/>
                  </a:solidFill>
                  <a:ea typeface="微软雅黑" panose="020B0503020204020204" charset="-122"/>
                </a:rPr>
                <a:t>讲解系统在企业中的应用场景</a:t>
              </a:r>
            </a:p>
          </p:txBody>
        </p:sp>
      </p:grpSp>
      <p:sp>
        <p:nvSpPr>
          <p:cNvPr id="1048644" name="标题 1048643"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企业人才挖掘与合作</a:t>
            </a:r>
          </a:p>
        </p:txBody>
      </p:sp>
      <p:sp>
        <p:nvSpPr>
          <p:cNvPr id="2" name="Bullet1" descr="6651fcc6-0592-4889-a266-8e95fdecb9b1">
            <a:extLst>
              <a:ext uri="{FF2B5EF4-FFF2-40B4-BE49-F238E27FC236}">
                <a16:creationId xmlns:a16="http://schemas.microsoft.com/office/drawing/2014/main" id="{5F4AED27-EDA2-2228-02D9-5E54D508BD3E}"/>
              </a:ext>
            </a:extLst>
          </p:cNvPr>
          <p:cNvSpPr/>
          <p:nvPr/>
        </p:nvSpPr>
        <p:spPr>
          <a:xfrm>
            <a:off x="4474807" y="3487118"/>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zh-CN" altLang="en-US" sz="1800" b="1" i="0" u="none" dirty="0">
                <a:solidFill>
                  <a:srgbClr val="FFFFFF"/>
                </a:solidFill>
                <a:ea typeface="微软雅黑" panose="020B0503020204020204" charset="-122"/>
              </a:rPr>
              <a:t>开源合作机会识别</a:t>
            </a:r>
            <a:endParaRPr lang="en-US" sz="1800" b="1" i="0" u="none" dirty="0">
              <a:solidFill>
                <a:srgbClr val="FFFFFF"/>
              </a:solidFill>
              <a:ea typeface="微软雅黑" panose="020B0503020204020204" charset="-122"/>
            </a:endParaRPr>
          </a:p>
        </p:txBody>
      </p:sp>
      <p:sp>
        <p:nvSpPr>
          <p:cNvPr id="3" name="Bullet1" descr="6651fcc6-0592-4889-a266-8e95fdecb9b1">
            <a:extLst>
              <a:ext uri="{FF2B5EF4-FFF2-40B4-BE49-F238E27FC236}">
                <a16:creationId xmlns:a16="http://schemas.microsoft.com/office/drawing/2014/main" id="{41B58536-2A50-EC8D-2AA7-2F0581611AD5}"/>
              </a:ext>
            </a:extLst>
          </p:cNvPr>
          <p:cNvSpPr/>
          <p:nvPr/>
        </p:nvSpPr>
        <p:spPr>
          <a:xfrm>
            <a:off x="8289216" y="3487119"/>
            <a:ext cx="3350658" cy="671279"/>
          </a:xfrm>
          <a:prstGeom prst="homePlate">
            <a:avLst/>
          </a:prstGeom>
          <a:solidFill>
            <a:schemeClr val="accent1"/>
          </a:solidFill>
          <a:ln w="6055" cap="flat">
            <a:noFill/>
            <a:prstDash val="solid"/>
            <a:miter/>
          </a:ln>
        </p:spPr>
        <p:txBody>
          <a:bodyPr wrap="square" rtlCol="0" anchor="ctr" anchorCtr="1">
            <a:normAutofit/>
          </a:bodyPr>
          <a:lstStyle/>
          <a:p>
            <a:pPr algn="ctr"/>
            <a:r>
              <a:rPr lang="zh-CN" altLang="en-US" sz="1800" b="1" i="0" u="none" dirty="0">
                <a:solidFill>
                  <a:srgbClr val="FFFFFF"/>
                </a:solidFill>
                <a:ea typeface="微软雅黑" panose="020B0503020204020204" charset="-122"/>
              </a:rPr>
              <a:t>技术趋势预判</a:t>
            </a:r>
            <a:endParaRPr lang="en-US" sz="1800" b="1" i="0" u="none" dirty="0">
              <a:solidFill>
                <a:srgbClr val="FFFFFF"/>
              </a:solidFill>
              <a:ea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标题 1048631" descr="8f0aa4d8-f980-4abb-9bf6-adaf418e0a35"/>
          <p:cNvSpPr>
            <a:spLocks noGrp="1"/>
          </p:cNvSpPr>
          <p:nvPr>
            <p:ph type="title" hasCustomPrompt="1"/>
          </p:nvPr>
        </p:nvSpPr>
        <p:spPr/>
        <p:txBody>
          <a:bodyPr anchorCtr="0"/>
          <a:lstStyle/>
          <a:p>
            <a:r>
              <a:rPr lang="zh-CN" altLang="en-US" dirty="0"/>
              <a:t>系统实现与运行验证</a:t>
            </a:r>
            <a:endParaRPr lang="en-US" sz="3200" b="1" i="0" u="none" dirty="0">
              <a:solidFill>
                <a:srgbClr val="684E93"/>
              </a:solidFill>
              <a:ea typeface="微软雅黑" panose="020B0503020204020204" charset="-122"/>
            </a:endParaRPr>
          </a:p>
        </p:txBody>
      </p:sp>
      <p:sp>
        <p:nvSpPr>
          <p:cNvPr id="1048633" name="文本占位符 1048632" descr="fbdebbe7-0a93-4150-bd5a-7e44e3ee5219"/>
          <p:cNvSpPr>
            <a:spLocks noGrp="1"/>
          </p:cNvSpPr>
          <p:nvPr>
            <p:ph type="body" idx="1" hasCustomPrompt="1"/>
          </p:nvPr>
        </p:nvSpPr>
        <p:spPr/>
        <p:txBody>
          <a:bodyPr anchorCtr="0">
            <a:normAutofit fontScale="85000" lnSpcReduction="20000"/>
          </a:bodyPr>
          <a:lstStyle/>
          <a:p>
            <a:r>
              <a:rPr lang="zh-CN" altLang="en-US" sz="1600" dirty="0"/>
              <a:t>说明系统的开发环境与依赖，展示系统从数据获取到结果输出的完整运行流程及实际运行效果</a:t>
            </a:r>
            <a:endParaRPr lang="en-US" sz="1600" b="0" i="0" u="none" dirty="0">
              <a:solidFill>
                <a:srgbClr val="000000"/>
              </a:solidFill>
              <a:ea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23" name="Rectangle 10486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610" name="标题 1048609" descr="ba5c3d0b-a165-4d08-9745-ddaee62d2520"/>
          <p:cNvSpPr>
            <a:spLocks noGrp="1"/>
          </p:cNvSpPr>
          <p:nvPr>
            <p:ph type="title" hasCustomPrompt="1"/>
          </p:nvPr>
        </p:nvSpPr>
        <p:spPr>
          <a:xfrm>
            <a:off x="841248" y="256032"/>
            <a:ext cx="10506456" cy="1014984"/>
          </a:xfrm>
        </p:spPr>
        <p:txBody>
          <a:bodyPr vert="horz" lIns="91440" tIns="45720" rIns="91440" bIns="45720" rtlCol="0" anchor="b" anchorCtr="0">
            <a:normAutofit/>
          </a:bodyPr>
          <a:lstStyle/>
          <a:p>
            <a:pPr>
              <a:lnSpc>
                <a:spcPct val="90000"/>
              </a:lnSpc>
            </a:pPr>
            <a:r>
              <a:rPr lang="en-US" sz="4400" b="1" i="0" u="none" kern="1200">
                <a:solidFill>
                  <a:schemeClr val="tx1"/>
                </a:solidFill>
                <a:latin typeface="+mj-lt"/>
                <a:ea typeface="+mj-ea"/>
                <a:cs typeface="+mj-cs"/>
              </a:rPr>
              <a:t>开发环境与依赖</a:t>
            </a:r>
          </a:p>
        </p:txBody>
      </p:sp>
      <p:sp>
        <p:nvSpPr>
          <p:cNvPr id="1048624" name="Rectangle 10486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48625" name="Rectangle 10486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9" name="720d478c-9421-4f0f-9cb9-00c560b38fe9.source.6.zh-Hans.pptx" descr="bff9c506-8735-444f-b8b6-cc5923de973b"/>
          <p:cNvGrpSpPr/>
          <p:nvPr/>
        </p:nvGrpSpPr>
        <p:grpSpPr>
          <a:xfrm>
            <a:off x="1365210" y="1926267"/>
            <a:ext cx="9461580" cy="4357527"/>
            <a:chOff x="660400" y="1130301"/>
            <a:chExt cx="10864850" cy="5003799"/>
          </a:xfrm>
        </p:grpSpPr>
        <p:sp>
          <p:nvSpPr>
            <p:cNvPr id="1048585" name="Title" descr="90d85913-638e-48f7-be58-628399e2dc7c"/>
            <p:cNvSpPr>
              <a:spLocks noChangeAspect="1"/>
            </p:cNvSpPr>
            <p:nvPr/>
          </p:nvSpPr>
          <p:spPr>
            <a:xfrm>
              <a:off x="666750" y="1130301"/>
              <a:ext cx="10858500" cy="5460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spcAft>
                  <a:spcPts val="600"/>
                </a:spcAft>
              </a:pPr>
              <a:r>
                <a:rPr lang="en-US" sz="2088" b="1" kern="1200">
                  <a:solidFill>
                    <a:srgbClr val="000000"/>
                  </a:solidFill>
                  <a:latin typeface="+mn-lt"/>
                  <a:ea typeface="微软雅黑" panose="020B0503020204020204" charset="-122"/>
                  <a:cs typeface="+mn-cs"/>
                </a:rPr>
                <a:t>列出系统开发所需的编程语言和核心库</a:t>
              </a:r>
              <a:endParaRPr lang="en-US" sz="2400" b="1" i="0" u="none">
                <a:solidFill>
                  <a:srgbClr val="000000"/>
                </a:solidFill>
                <a:ea typeface="微软雅黑" panose="020B0503020204020204" charset="-122"/>
              </a:endParaRPr>
            </a:p>
          </p:txBody>
        </p:sp>
        <p:grpSp>
          <p:nvGrpSpPr>
            <p:cNvPr id="40" name="组合 11" descr="9804aca5-ad72-49e7-9d7f-f498d910c79c"/>
            <p:cNvGrpSpPr/>
            <p:nvPr/>
          </p:nvGrpSpPr>
          <p:grpSpPr>
            <a:xfrm>
              <a:off x="660400" y="1715073"/>
              <a:ext cx="5381905" cy="1444384"/>
              <a:chOff x="1143981" y="1715073"/>
              <a:chExt cx="5381905" cy="1444384"/>
            </a:xfrm>
          </p:grpSpPr>
          <p:grpSp>
            <p:nvGrpSpPr>
              <p:cNvPr id="41" name="组合 9" descr="377d7f94-8444-492a-98f6-af564d221a9f"/>
              <p:cNvGrpSpPr/>
              <p:nvPr/>
            </p:nvGrpSpPr>
            <p:grpSpPr>
              <a:xfrm>
                <a:off x="1362926" y="1715073"/>
                <a:ext cx="5162960" cy="1444384"/>
                <a:chOff x="660399" y="1715073"/>
                <a:chExt cx="5162960" cy="1444384"/>
              </a:xfrm>
            </p:grpSpPr>
            <p:sp>
              <p:nvSpPr>
                <p:cNvPr id="1048586" name="ComponentBackground1" descr="6260714a-a6da-421a-9d56-20bc00525f4c"/>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87" name="Text1" descr="4fb23c67-65a6-4790-98dd-51e10dabb56a"/>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Python 3.12.7</a:t>
                  </a:r>
                  <a:endParaRPr lang="en-US" sz="1200" b="0" i="0" u="none">
                    <a:solidFill>
                      <a:srgbClr val="000000"/>
                    </a:solidFill>
                    <a:latin typeface="Arial" panose="020B0604020202020204"/>
                  </a:endParaRPr>
                </a:p>
              </p:txBody>
            </p:sp>
            <p:sp>
              <p:nvSpPr>
                <p:cNvPr id="1048588" name="Bullet1" descr="25beae7c-4af5-45a5-afb4-1d7cf9dcfe7c"/>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编程语言</a:t>
                  </a:r>
                  <a:endParaRPr lang="en-US" sz="1800" b="1" i="0" u="none">
                    <a:solidFill>
                      <a:srgbClr val="000000"/>
                    </a:solidFill>
                    <a:ea typeface="微软雅黑" panose="020B0503020204020204" charset="-122"/>
                  </a:endParaRPr>
                </a:p>
              </p:txBody>
            </p:sp>
          </p:grpSp>
          <p:sp>
            <p:nvSpPr>
              <p:cNvPr id="1048589" name="Number1" descr="512c6d97-279d-4538-b04d-aaa631f2181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1</a:t>
                </a:r>
                <a:endParaRPr lang="en-US" sz="1600" b="0" i="0" u="none">
                  <a:solidFill>
                    <a:srgbClr val="FFFFFF"/>
                  </a:solidFill>
                  <a:latin typeface="Arial" panose="020B0604020202020204"/>
                </a:endParaRPr>
              </a:p>
            </p:txBody>
          </p:sp>
        </p:grpSp>
        <p:grpSp>
          <p:nvGrpSpPr>
            <p:cNvPr id="42" name="组合 12" descr="6fbd55bb-8449-4117-b944-e6f537d6061f"/>
            <p:cNvGrpSpPr/>
            <p:nvPr/>
          </p:nvGrpSpPr>
          <p:grpSpPr>
            <a:xfrm>
              <a:off x="660400" y="3202395"/>
              <a:ext cx="5381905" cy="1444384"/>
              <a:chOff x="1143981" y="1715073"/>
              <a:chExt cx="5381905" cy="1444384"/>
            </a:xfrm>
          </p:grpSpPr>
          <p:grpSp>
            <p:nvGrpSpPr>
              <p:cNvPr id="43" name="组合 13" descr="f7edfdbd-ee7d-479e-bd27-60913af9f8e2"/>
              <p:cNvGrpSpPr/>
              <p:nvPr/>
            </p:nvGrpSpPr>
            <p:grpSpPr>
              <a:xfrm>
                <a:off x="1362926" y="1715073"/>
                <a:ext cx="5162960" cy="1444384"/>
                <a:chOff x="660399" y="1715073"/>
                <a:chExt cx="5162960" cy="1444384"/>
              </a:xfrm>
            </p:grpSpPr>
            <p:sp>
              <p:nvSpPr>
                <p:cNvPr id="1048590" name="ComponentBackground2" descr="b9431f2d-7217-4e9e-800e-e271609ea00c"/>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91" name="Text2" descr="9b612c4d-83a6-4e71-bfc3-1dc786469269"/>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requests（API 调用）、python - dotenv（环境变量管理）</a:t>
                  </a:r>
                  <a:endParaRPr lang="en-US" sz="1200" b="0" i="0" u="none">
                    <a:solidFill>
                      <a:srgbClr val="000000"/>
                    </a:solidFill>
                    <a:latin typeface="Arial" panose="020B0604020202020204"/>
                  </a:endParaRPr>
                </a:p>
              </p:txBody>
            </p:sp>
            <p:sp>
              <p:nvSpPr>
                <p:cNvPr id="1048592" name="Bullet2" descr="c6acc2af-7d73-4066-9870-8dcbcadb12a2"/>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数据爬取</a:t>
                  </a:r>
                  <a:endParaRPr lang="en-US" sz="1800" b="1" i="0" u="none">
                    <a:solidFill>
                      <a:srgbClr val="000000"/>
                    </a:solidFill>
                    <a:ea typeface="微软雅黑" panose="020B0503020204020204" charset="-122"/>
                  </a:endParaRPr>
                </a:p>
              </p:txBody>
            </p:sp>
          </p:grpSp>
          <p:sp>
            <p:nvSpPr>
              <p:cNvPr id="1048593" name="Number2" descr="0ac5cec6-56ef-41e7-981b-03f259cd0d9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2</a:t>
                </a:r>
                <a:endParaRPr lang="en-US" sz="1600" b="0" i="0" u="none">
                  <a:solidFill>
                    <a:srgbClr val="FFFFFF"/>
                  </a:solidFill>
                  <a:latin typeface="Arial" panose="020B0604020202020204"/>
                </a:endParaRPr>
              </a:p>
            </p:txBody>
          </p:sp>
        </p:grpSp>
        <p:grpSp>
          <p:nvGrpSpPr>
            <p:cNvPr id="44" name="组合 18" descr="7d4da672-5caa-4931-985e-6ecdc9fba6f0"/>
            <p:cNvGrpSpPr/>
            <p:nvPr/>
          </p:nvGrpSpPr>
          <p:grpSpPr>
            <a:xfrm>
              <a:off x="660400" y="4689716"/>
              <a:ext cx="5381905" cy="1444384"/>
              <a:chOff x="1143981" y="1715073"/>
              <a:chExt cx="5381905" cy="1444384"/>
            </a:xfrm>
          </p:grpSpPr>
          <p:grpSp>
            <p:nvGrpSpPr>
              <p:cNvPr id="45" name="组合 19" descr="235f125a-c43f-43c6-aac8-be02fa9a5045"/>
              <p:cNvGrpSpPr/>
              <p:nvPr/>
            </p:nvGrpSpPr>
            <p:grpSpPr>
              <a:xfrm>
                <a:off x="1362926" y="1715073"/>
                <a:ext cx="5162960" cy="1444384"/>
                <a:chOff x="660399" y="1715073"/>
                <a:chExt cx="5162960" cy="1444384"/>
              </a:xfrm>
            </p:grpSpPr>
            <p:sp>
              <p:nvSpPr>
                <p:cNvPr id="1048594" name="ComponentBackground3" descr="ee20ea3b-8580-42e1-9e1f-f9c5b54c1012"/>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595" name="Text3" descr="80e0e5c4-6363-41fe-a970-aa268c486f58"/>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pandas（数据清洗）、numpy（数值计算）</a:t>
                  </a:r>
                  <a:endParaRPr lang="en-US" sz="1200" b="0" i="0" u="none">
                    <a:solidFill>
                      <a:srgbClr val="000000"/>
                    </a:solidFill>
                    <a:latin typeface="Arial" panose="020B0604020202020204"/>
                  </a:endParaRPr>
                </a:p>
              </p:txBody>
            </p:sp>
            <p:sp>
              <p:nvSpPr>
                <p:cNvPr id="1048596" name="Bullet3" descr="9d3aa653-cdc9-46fe-9f36-bd9f26cbc4d3"/>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数据处理</a:t>
                  </a:r>
                  <a:endParaRPr lang="en-US" sz="1800" b="1" i="0" u="none">
                    <a:solidFill>
                      <a:srgbClr val="000000"/>
                    </a:solidFill>
                    <a:ea typeface="微软雅黑" panose="020B0503020204020204" charset="-122"/>
                  </a:endParaRPr>
                </a:p>
              </p:txBody>
            </p:sp>
          </p:grpSp>
          <p:sp>
            <p:nvSpPr>
              <p:cNvPr id="1048597" name="Number3" descr="c6e05e77-2790-45aa-9fef-c03afb07829c"/>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3</a:t>
                </a:r>
                <a:endParaRPr lang="en-US" sz="1600" b="0" i="0" u="none">
                  <a:solidFill>
                    <a:srgbClr val="FFFFFF"/>
                  </a:solidFill>
                  <a:latin typeface="Arial" panose="020B0604020202020204"/>
                </a:endParaRPr>
              </a:p>
            </p:txBody>
          </p:sp>
        </p:grpSp>
        <p:grpSp>
          <p:nvGrpSpPr>
            <p:cNvPr id="46" name="组合 32" descr="4c566594-e0da-4039-b891-ca6610e18ed2"/>
            <p:cNvGrpSpPr/>
            <p:nvPr/>
          </p:nvGrpSpPr>
          <p:grpSpPr>
            <a:xfrm>
              <a:off x="6136995" y="1715073"/>
              <a:ext cx="5381905" cy="1444384"/>
              <a:chOff x="1143981" y="1715073"/>
              <a:chExt cx="5381905" cy="1444384"/>
            </a:xfrm>
          </p:grpSpPr>
          <p:grpSp>
            <p:nvGrpSpPr>
              <p:cNvPr id="47" name="组合 33" descr="e0204bd7-de4e-4755-962c-1e9a287784c4"/>
              <p:cNvGrpSpPr/>
              <p:nvPr/>
            </p:nvGrpSpPr>
            <p:grpSpPr>
              <a:xfrm>
                <a:off x="1362926" y="1715073"/>
                <a:ext cx="5162960" cy="1444384"/>
                <a:chOff x="660399" y="1715073"/>
                <a:chExt cx="5162960" cy="1444384"/>
              </a:xfrm>
            </p:grpSpPr>
            <p:sp>
              <p:nvSpPr>
                <p:cNvPr id="1048598" name="ComponentBackground4" descr="67b002c4-a32e-4844-80de-623e82db7215"/>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defTabSz="795528">
                    <a:lnSpc>
                      <a:spcPct val="120000"/>
                    </a:lnSpc>
                    <a:spcAft>
                      <a:spcPts val="600"/>
                    </a:spcAft>
                  </a:pPr>
                  <a:r>
                    <a:rPr lang="en-US" altLang="zh-CN" sz="1566" kern="1200">
                      <a:solidFill>
                        <a:schemeClr val="tx1"/>
                      </a:solidFill>
                      <a:latin typeface="+mn-lt"/>
                      <a:ea typeface="+mn-ea"/>
                      <a:cs typeface="+mn-cs"/>
                    </a:rPr>
                    <a:t>Weibull</a:t>
                  </a:r>
                  <a:r>
                    <a:rPr lang="zh-CN" altLang="en-US" sz="1566" kern="1200">
                      <a:solidFill>
                        <a:schemeClr val="tx1"/>
                      </a:solidFill>
                      <a:latin typeface="+mn-lt"/>
                      <a:ea typeface="+mn-ea"/>
                      <a:cs typeface="+mn-cs"/>
                    </a:rPr>
                    <a:t>分布、置信度加权</a:t>
                  </a:r>
                  <a:endParaRPr/>
                </a:p>
              </p:txBody>
            </p:sp>
            <p:sp>
              <p:nvSpPr>
                <p:cNvPr id="1048599" name="Text4" descr="9e1d2a2c-7952-4ea7-a23f-fe8f871a02d5"/>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endParaRPr lang="en-US" sz="1200" b="0" i="0" u="none">
                    <a:solidFill>
                      <a:srgbClr val="000000"/>
                    </a:solidFill>
                    <a:latin typeface="Arial" panose="020B0604020202020204"/>
                  </a:endParaRPr>
                </a:p>
              </p:txBody>
            </p:sp>
            <p:sp>
              <p:nvSpPr>
                <p:cNvPr id="1048600" name="Bullet4" descr="3afd9552-e687-4eee-b56c-0cdfe9fe95d8"/>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err="1">
                      <a:solidFill>
                        <a:srgbClr val="000000"/>
                      </a:solidFill>
                      <a:latin typeface="+mn-lt"/>
                      <a:ea typeface="微软雅黑" panose="020B0503020204020204" charset="-122"/>
                      <a:cs typeface="+mn-cs"/>
                    </a:rPr>
                    <a:t>核心库</a:t>
                  </a:r>
                  <a:r>
                    <a:rPr lang="en-US" sz="1566" b="1" kern="1200">
                      <a:solidFill>
                        <a:srgbClr val="000000"/>
                      </a:solidFill>
                      <a:latin typeface="+mn-lt"/>
                      <a:ea typeface="微软雅黑" panose="020B0503020204020204" charset="-122"/>
                      <a:cs typeface="+mn-cs"/>
                    </a:rPr>
                    <a:t> – </a:t>
                  </a:r>
                  <a:r>
                    <a:rPr lang="zh-CN" altLang="en-US" sz="1566" b="1" kern="1200">
                      <a:solidFill>
                        <a:srgbClr val="000000"/>
                      </a:solidFill>
                      <a:latin typeface="+mn-lt"/>
                      <a:ea typeface="微软雅黑" panose="020B0503020204020204" charset="-122"/>
                      <a:cs typeface="+mn-cs"/>
                    </a:rPr>
                    <a:t>预测模型</a:t>
                  </a:r>
                  <a:endParaRPr lang="en-US" sz="1800" b="1" i="0" u="none">
                    <a:solidFill>
                      <a:srgbClr val="000000"/>
                    </a:solidFill>
                    <a:ea typeface="微软雅黑" panose="020B0503020204020204" charset="-122"/>
                  </a:endParaRPr>
                </a:p>
              </p:txBody>
            </p:sp>
          </p:grpSp>
          <p:sp>
            <p:nvSpPr>
              <p:cNvPr id="1048601" name="Number4" descr="1939950e-007d-471b-b96b-1dcbf15d77a6"/>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4</a:t>
                </a:r>
                <a:endParaRPr lang="en-US" sz="1600" b="0" i="0" u="none">
                  <a:solidFill>
                    <a:srgbClr val="FFFFFF"/>
                  </a:solidFill>
                  <a:latin typeface="Arial" panose="020B0604020202020204"/>
                </a:endParaRPr>
              </a:p>
            </p:txBody>
          </p:sp>
        </p:grpSp>
        <p:grpSp>
          <p:nvGrpSpPr>
            <p:cNvPr id="48" name="组合 38" descr="fead9457-6cd6-4c4e-b53b-cd4300951a42"/>
            <p:cNvGrpSpPr/>
            <p:nvPr/>
          </p:nvGrpSpPr>
          <p:grpSpPr>
            <a:xfrm>
              <a:off x="6136995" y="3202395"/>
              <a:ext cx="5381905" cy="1444384"/>
              <a:chOff x="1143981" y="1715073"/>
              <a:chExt cx="5381905" cy="1444384"/>
            </a:xfrm>
          </p:grpSpPr>
          <p:grpSp>
            <p:nvGrpSpPr>
              <p:cNvPr id="49" name="组合 39" descr="e7583e84-40c5-4753-8086-3c9e10a1fec5"/>
              <p:cNvGrpSpPr/>
              <p:nvPr/>
            </p:nvGrpSpPr>
            <p:grpSpPr>
              <a:xfrm>
                <a:off x="1362926" y="1715073"/>
                <a:ext cx="5162960" cy="1444384"/>
                <a:chOff x="660399" y="1715073"/>
                <a:chExt cx="5162960" cy="1444384"/>
              </a:xfrm>
            </p:grpSpPr>
            <p:sp>
              <p:nvSpPr>
                <p:cNvPr id="1048602" name="ComponentBackground5" descr="513701bc-74ea-4a7f-bbec-f23e892deff9"/>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603" name="Text5" descr="c9c2636c-8619-4998-a683-b565340c879a"/>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err="1">
                      <a:solidFill>
                        <a:srgbClr val="000000"/>
                      </a:solidFill>
                      <a:latin typeface="Arial" panose="020B0604020202020204"/>
                      <a:ea typeface="+mn-ea"/>
                      <a:cs typeface="+mn-cs"/>
                    </a:rPr>
                    <a:t>ECharts</a:t>
                  </a:r>
                  <a:r>
                    <a:rPr lang="en-US" sz="1044" kern="1200">
                      <a:solidFill>
                        <a:srgbClr val="000000"/>
                      </a:solidFill>
                      <a:latin typeface="Arial" panose="020B0604020202020204"/>
                      <a:ea typeface="+mn-ea"/>
                      <a:cs typeface="+mn-cs"/>
                    </a:rPr>
                    <a:t>（</a:t>
                  </a:r>
                  <a:r>
                    <a:rPr lang="zh-CN" altLang="en-US" sz="1044" kern="1200">
                      <a:solidFill>
                        <a:srgbClr val="000000"/>
                      </a:solidFill>
                      <a:latin typeface="Arial" panose="020B0604020202020204"/>
                      <a:ea typeface="+mn-ea"/>
                      <a:cs typeface="+mn-cs"/>
                    </a:rPr>
                    <a:t>前端可视化</a:t>
                  </a:r>
                  <a:r>
                    <a:rPr lang="en-US" sz="1044" kern="1200">
                      <a:solidFill>
                        <a:srgbClr val="000000"/>
                      </a:solidFill>
                      <a:latin typeface="Arial" panose="020B0604020202020204"/>
                      <a:ea typeface="+mn-ea"/>
                      <a:cs typeface="+mn-cs"/>
                    </a:rPr>
                    <a:t>）、</a:t>
                  </a:r>
                  <a:r>
                    <a:rPr lang="en-US" sz="1044" kern="1200" err="1">
                      <a:solidFill>
                        <a:srgbClr val="000000"/>
                      </a:solidFill>
                      <a:latin typeface="Arial" panose="020B0604020202020204"/>
                      <a:ea typeface="+mn-ea"/>
                      <a:cs typeface="+mn-cs"/>
                    </a:rPr>
                    <a:t>FastAPI（Web</a:t>
                  </a:r>
                  <a:r>
                    <a:rPr lang="en-US" sz="1044" kern="1200">
                      <a:solidFill>
                        <a:srgbClr val="000000"/>
                      </a:solidFill>
                      <a:latin typeface="Arial" panose="020B0604020202020204"/>
                      <a:ea typeface="+mn-ea"/>
                      <a:cs typeface="+mn-cs"/>
                    </a:rPr>
                    <a:t> </a:t>
                  </a:r>
                  <a:r>
                    <a:rPr lang="en-US" sz="1044" kern="1200" err="1">
                      <a:solidFill>
                        <a:srgbClr val="000000"/>
                      </a:solidFill>
                      <a:latin typeface="Arial" panose="020B0604020202020204"/>
                      <a:ea typeface="+mn-ea"/>
                      <a:cs typeface="+mn-cs"/>
                    </a:rPr>
                    <a:t>框架</a:t>
                  </a:r>
                  <a:r>
                    <a:rPr lang="en-US" sz="1044" kern="1200">
                      <a:solidFill>
                        <a:srgbClr val="000000"/>
                      </a:solidFill>
                      <a:latin typeface="Arial" panose="020B0604020202020204"/>
                      <a:ea typeface="+mn-ea"/>
                      <a:cs typeface="+mn-cs"/>
                    </a:rPr>
                    <a:t>）、</a:t>
                  </a:r>
                  <a:r>
                    <a:rPr lang="en-US" sz="1044" kern="1200" err="1">
                      <a:solidFill>
                        <a:srgbClr val="000000"/>
                      </a:solidFill>
                      <a:latin typeface="Arial" panose="020B0604020202020204"/>
                      <a:ea typeface="+mn-ea"/>
                      <a:cs typeface="+mn-cs"/>
                    </a:rPr>
                    <a:t>networkx（协作网络图谱</a:t>
                  </a:r>
                  <a:r>
                    <a:rPr lang="en-US" sz="1044" kern="1200">
                      <a:solidFill>
                        <a:srgbClr val="000000"/>
                      </a:solidFill>
                      <a:latin typeface="Arial" panose="020B0604020202020204"/>
                      <a:ea typeface="+mn-ea"/>
                      <a:cs typeface="+mn-cs"/>
                    </a:rPr>
                    <a:t>）</a:t>
                  </a:r>
                  <a:endParaRPr lang="en-US" sz="1200" b="0" i="0" u="none">
                    <a:solidFill>
                      <a:srgbClr val="000000"/>
                    </a:solidFill>
                    <a:latin typeface="Arial" panose="020B0604020202020204"/>
                  </a:endParaRPr>
                </a:p>
              </p:txBody>
            </p:sp>
            <p:sp>
              <p:nvSpPr>
                <p:cNvPr id="1048604" name="Bullet5" descr="5205c58d-352d-484a-b10a-9747191bb0d2"/>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可视化</a:t>
                  </a:r>
                  <a:endParaRPr lang="en-US" sz="1800" b="1" i="0" u="none">
                    <a:solidFill>
                      <a:srgbClr val="000000"/>
                    </a:solidFill>
                    <a:ea typeface="微软雅黑" panose="020B0503020204020204" charset="-122"/>
                  </a:endParaRPr>
                </a:p>
              </p:txBody>
            </p:sp>
          </p:grpSp>
          <p:sp>
            <p:nvSpPr>
              <p:cNvPr id="1048605" name="Number5" descr="48c36c82-2ac7-4630-aa89-a0287395f2cd"/>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5</a:t>
                </a:r>
                <a:endParaRPr lang="en-US" sz="1600" b="0" i="0" u="none">
                  <a:solidFill>
                    <a:srgbClr val="FFFFFF"/>
                  </a:solidFill>
                  <a:latin typeface="Arial" panose="020B0604020202020204"/>
                </a:endParaRPr>
              </a:p>
            </p:txBody>
          </p:sp>
        </p:grpSp>
        <p:grpSp>
          <p:nvGrpSpPr>
            <p:cNvPr id="50" name="组合 44" descr="a0b3ef5f-662a-4fb2-b3b0-90742637d2e6"/>
            <p:cNvGrpSpPr/>
            <p:nvPr/>
          </p:nvGrpSpPr>
          <p:grpSpPr>
            <a:xfrm>
              <a:off x="6136995" y="4689716"/>
              <a:ext cx="5381905" cy="1444384"/>
              <a:chOff x="1143981" y="1715073"/>
              <a:chExt cx="5381905" cy="1444384"/>
            </a:xfrm>
          </p:grpSpPr>
          <p:grpSp>
            <p:nvGrpSpPr>
              <p:cNvPr id="51" name="组合 45" descr="018736a7-bf29-4ae6-9ae2-52b404220a8c"/>
              <p:cNvGrpSpPr/>
              <p:nvPr/>
            </p:nvGrpSpPr>
            <p:grpSpPr>
              <a:xfrm>
                <a:off x="1362926" y="1715073"/>
                <a:ext cx="5162960" cy="1444384"/>
                <a:chOff x="660399" y="1715073"/>
                <a:chExt cx="5162960" cy="1444384"/>
              </a:xfrm>
            </p:grpSpPr>
            <p:sp>
              <p:nvSpPr>
                <p:cNvPr id="1048606" name="ComponentBackground6" descr="24385bc9-4081-4370-af05-397b029c89cb"/>
                <p:cNvSpPr/>
                <p:nvPr/>
              </p:nvSpPr>
              <p:spPr>
                <a:xfrm>
                  <a:off x="660399" y="1715073"/>
                  <a:ext cx="5162960" cy="1444384"/>
                </a:xfrm>
                <a:prstGeom prst="roundRect">
                  <a:avLst>
                    <a:gd name="adj" fmla="val 8000"/>
                  </a:avLst>
                </a:prstGeom>
                <a:solidFill>
                  <a:schemeClr val="tx1">
                    <a:alpha val="5000"/>
                  </a:schemeClr>
                </a:solidFill>
                <a:ln w="6350">
                  <a:noFill/>
                </a:ln>
              </p:spPr>
              <p:style>
                <a:lnRef idx="1">
                  <a:schemeClr val="accent1"/>
                </a:lnRef>
                <a:fillRef idx="0">
                  <a:schemeClr val="accent1"/>
                </a:fillRef>
                <a:effectRef idx="0">
                  <a:schemeClr val="accent1"/>
                </a:effectRef>
                <a:fontRef idx="minor">
                  <a:schemeClr val="tx1"/>
                </a:fontRef>
              </p:style>
              <p:txBody>
                <a:bodyPr wrap="square" lIns="91440" tIns="45720" rIns="91440" bIns="45720" anchor="ctr" anchorCtr="0">
                  <a:normAutofit/>
                </a:bodyPr>
                <a:lstStyle/>
                <a:p>
                  <a:pPr algn="ctr">
                    <a:lnSpc>
                      <a:spcPct val="120000"/>
                    </a:lnSpc>
                  </a:pPr>
                  <a:endParaRPr/>
                </a:p>
              </p:txBody>
            </p:sp>
            <p:sp>
              <p:nvSpPr>
                <p:cNvPr id="1048607" name="Text6" descr="c0905160-853f-442c-a0fa-93256ff78a0d"/>
                <p:cNvSpPr/>
                <p:nvPr/>
              </p:nvSpPr>
              <p:spPr>
                <a:xfrm>
                  <a:off x="942123" y="2195528"/>
                  <a:ext cx="4832341" cy="9567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defTabSz="795528">
                    <a:lnSpc>
                      <a:spcPct val="120000"/>
                    </a:lnSpc>
                    <a:spcAft>
                      <a:spcPts val="600"/>
                    </a:spcAft>
                  </a:pPr>
                  <a:r>
                    <a:rPr lang="en-US" sz="1044" kern="1200">
                      <a:solidFill>
                        <a:srgbClr val="000000"/>
                      </a:solidFill>
                      <a:latin typeface="Arial" panose="020B0604020202020204"/>
                      <a:ea typeface="+mn-ea"/>
                      <a:cs typeface="+mn-cs"/>
                    </a:rPr>
                    <a:t>JSON（</a:t>
                  </a:r>
                  <a:r>
                    <a:rPr lang="zh-CN" altLang="en-US" sz="1044" kern="1200">
                      <a:solidFill>
                        <a:srgbClr val="000000"/>
                      </a:solidFill>
                      <a:latin typeface="Arial" panose="020B0604020202020204"/>
                      <a:ea typeface="+mn-ea"/>
                      <a:cs typeface="+mn-cs"/>
                    </a:rPr>
                    <a:t>本地文件存储</a:t>
                  </a:r>
                  <a:r>
                    <a:rPr lang="en-US" sz="1044" kern="1200">
                      <a:solidFill>
                        <a:srgbClr val="000000"/>
                      </a:solidFill>
                      <a:latin typeface="Arial" panose="020B0604020202020204"/>
                      <a:ea typeface="+mn-ea"/>
                      <a:cs typeface="+mn-cs"/>
                    </a:rPr>
                    <a:t>）</a:t>
                  </a:r>
                  <a:endParaRPr lang="en-US" sz="1200" b="0" i="0" u="none">
                    <a:solidFill>
                      <a:srgbClr val="000000"/>
                    </a:solidFill>
                    <a:latin typeface="Arial" panose="020B0604020202020204"/>
                  </a:endParaRPr>
                </a:p>
              </p:txBody>
            </p:sp>
            <p:sp>
              <p:nvSpPr>
                <p:cNvPr id="1048608" name="Bullet6" descr="c6eff2da-459b-4411-ad5e-686f1f754260"/>
                <p:cNvSpPr/>
                <p:nvPr/>
              </p:nvSpPr>
              <p:spPr>
                <a:xfrm>
                  <a:off x="942123" y="1753484"/>
                  <a:ext cx="4832349" cy="442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chorCtr="0">
                  <a:normAutofit/>
                </a:bodyPr>
                <a:lstStyle/>
                <a:p>
                  <a:pPr defTabSz="795528">
                    <a:lnSpc>
                      <a:spcPct val="120000"/>
                    </a:lnSpc>
                    <a:spcAft>
                      <a:spcPts val="600"/>
                    </a:spcAft>
                  </a:pPr>
                  <a:r>
                    <a:rPr lang="en-US" sz="1566" b="1" kern="1200">
                      <a:solidFill>
                        <a:srgbClr val="000000"/>
                      </a:solidFill>
                      <a:latin typeface="+mn-lt"/>
                      <a:ea typeface="微软雅黑" panose="020B0503020204020204" charset="-122"/>
                      <a:cs typeface="+mn-cs"/>
                    </a:rPr>
                    <a:t>核心库 - 数据存储</a:t>
                  </a:r>
                  <a:endParaRPr lang="en-US" sz="1800" b="1" i="0" u="none">
                    <a:solidFill>
                      <a:srgbClr val="000000"/>
                    </a:solidFill>
                    <a:ea typeface="微软雅黑" panose="020B0503020204020204" charset="-122"/>
                  </a:endParaRPr>
                </a:p>
              </p:txBody>
            </p:sp>
          </p:grpSp>
          <p:sp>
            <p:nvSpPr>
              <p:cNvPr id="1048609" name="Number6" descr="9ae2c112-00ad-4beb-8de7-4959c93c3804"/>
              <p:cNvSpPr/>
              <p:nvPr/>
            </p:nvSpPr>
            <p:spPr>
              <a:xfrm>
                <a:off x="1143981" y="1753484"/>
                <a:ext cx="442045" cy="442045"/>
              </a:xfrm>
              <a:prstGeom prst="roundRect">
                <a:avLst/>
              </a:prstGeom>
              <a:solidFill>
                <a:schemeClr val="accent1"/>
              </a:solidFill>
              <a:ln w="12700" cap="flat">
                <a:noFill/>
                <a:prstDash val="solid"/>
                <a:miter/>
              </a:ln>
            </p:spPr>
            <p:txBody>
              <a:bodyPr wrap="none" rtlCol="0" anchor="ctr" anchorCtr="0">
                <a:normAutofit/>
              </a:bodyPr>
              <a:lstStyle/>
              <a:p>
                <a:pPr algn="ctr" defTabSz="795528">
                  <a:spcAft>
                    <a:spcPts val="600"/>
                  </a:spcAft>
                </a:pPr>
                <a:r>
                  <a:rPr lang="en-US" sz="1392" kern="1200">
                    <a:solidFill>
                      <a:srgbClr val="555555"/>
                    </a:solidFill>
                    <a:latin typeface="Arial" panose="020B0604020202020204"/>
                    <a:ea typeface="+mn-ea"/>
                    <a:cs typeface="+mn-cs"/>
                  </a:rPr>
                  <a:t>6</a:t>
                </a:r>
                <a:endParaRPr lang="en-US" sz="1600" b="0" i="0" u="none">
                  <a:solidFill>
                    <a:srgbClr val="FFFFFF"/>
                  </a:solidFill>
                  <a:latin typeface="Arial" panose="020B0604020202020204"/>
                </a:endParaRPr>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DE2EA7-1873-9BC0-ADD9-CE35DED88F53}"/>
              </a:ext>
            </a:extLst>
          </p:cNvPr>
          <p:cNvSpPr>
            <a:spLocks noGrp="1"/>
          </p:cNvSpPr>
          <p:nvPr>
            <p:ph type="title"/>
          </p:nvPr>
        </p:nvSpPr>
        <p:spPr/>
        <p:txBody>
          <a:bodyPr/>
          <a:lstStyle/>
          <a:p>
            <a:r>
              <a:rPr lang="en-US" altLang="zh-CN" dirty="0" err="1"/>
              <a:t>DevScope</a:t>
            </a:r>
            <a:r>
              <a:rPr lang="en-US" altLang="zh-CN" dirty="0"/>
              <a:t> </a:t>
            </a:r>
            <a:r>
              <a:rPr lang="zh-CN" altLang="en-US" dirty="0"/>
              <a:t>系统实现流程</a:t>
            </a:r>
          </a:p>
        </p:txBody>
      </p:sp>
      <p:sp>
        <p:nvSpPr>
          <p:cNvPr id="3" name="日期占位符 2">
            <a:extLst>
              <a:ext uri="{FF2B5EF4-FFF2-40B4-BE49-F238E27FC236}">
                <a16:creationId xmlns:a16="http://schemas.microsoft.com/office/drawing/2014/main" id="{589AF637-E192-8DCA-76CD-E1746ED8E501}"/>
              </a:ext>
            </a:extLst>
          </p:cNvPr>
          <p:cNvSpPr>
            <a:spLocks noGrp="1"/>
          </p:cNvSpPr>
          <p:nvPr>
            <p:ph type="dt" sz="half" idx="10"/>
          </p:nvPr>
        </p:nvSpPr>
        <p:spPr/>
        <p:txBody>
          <a:bodyPr/>
          <a:lstStyle/>
          <a:p>
            <a:fld id="{1C257D87-25BD-402F-95EE-436C4B4AEFD1}" type="datetime1">
              <a:rPr lang="en-US" altLang="zh-CN" smtClean="0"/>
              <a:t>1/11/2026</a:t>
            </a:fld>
            <a:endParaRPr lang="en-US"/>
          </a:p>
        </p:txBody>
      </p:sp>
      <p:sp>
        <p:nvSpPr>
          <p:cNvPr id="4" name="页脚占位符 3">
            <a:extLst>
              <a:ext uri="{FF2B5EF4-FFF2-40B4-BE49-F238E27FC236}">
                <a16:creationId xmlns:a16="http://schemas.microsoft.com/office/drawing/2014/main" id="{792EA92B-309F-75FD-1301-9142D2058DC9}"/>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7AFF8E06-A05C-491B-60A9-80D1A061B79A}"/>
              </a:ext>
            </a:extLst>
          </p:cNvPr>
          <p:cNvSpPr>
            <a:spLocks noGrp="1"/>
          </p:cNvSpPr>
          <p:nvPr>
            <p:ph type="sldNum" sz="quarter" idx="12"/>
          </p:nvPr>
        </p:nvSpPr>
        <p:spPr/>
        <p:txBody>
          <a:bodyPr/>
          <a:lstStyle/>
          <a:p>
            <a:fld id="{C8BB1146-E542-4D4E-B8E9-6919A11DDD48}" type="slidenum">
              <a:rPr lang="en-US" smtClean="0"/>
              <a:t>23</a:t>
            </a:fld>
            <a:endParaRPr lang="en-US"/>
          </a:p>
        </p:txBody>
      </p:sp>
      <p:sp>
        <p:nvSpPr>
          <p:cNvPr id="6" name="Number1" descr="cb5a9482-dd7b-48c3-b267-d0acb23dd1ab">
            <a:extLst>
              <a:ext uri="{FF2B5EF4-FFF2-40B4-BE49-F238E27FC236}">
                <a16:creationId xmlns:a16="http://schemas.microsoft.com/office/drawing/2014/main" id="{09AF986C-AF9B-5E2A-20B5-EEDD7278E5E6}"/>
              </a:ext>
            </a:extLst>
          </p:cNvPr>
          <p:cNvSpPr txBox="1"/>
          <p:nvPr/>
        </p:nvSpPr>
        <p:spPr>
          <a:xfrm>
            <a:off x="1463228" y="1640553"/>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b="1" i="0" u="none">
                <a:solidFill>
                  <a:srgbClr val="684E93"/>
                </a:solidFill>
                <a:latin typeface="Arial" panose="020B0604020202020204"/>
              </a:rPr>
              <a:t>1</a:t>
            </a:r>
          </a:p>
        </p:txBody>
      </p:sp>
      <p:sp>
        <p:nvSpPr>
          <p:cNvPr id="7" name="文本框 6">
            <a:extLst>
              <a:ext uri="{FF2B5EF4-FFF2-40B4-BE49-F238E27FC236}">
                <a16:creationId xmlns:a16="http://schemas.microsoft.com/office/drawing/2014/main" id="{B05929B1-6F44-D671-674B-A421D0BEA733}"/>
              </a:ext>
            </a:extLst>
          </p:cNvPr>
          <p:cNvSpPr txBox="1"/>
          <p:nvPr/>
        </p:nvSpPr>
        <p:spPr>
          <a:xfrm>
            <a:off x="2428306" y="1628542"/>
            <a:ext cx="7963153" cy="646331"/>
          </a:xfrm>
          <a:prstGeom prst="rect">
            <a:avLst/>
          </a:prstGeom>
          <a:noFill/>
        </p:spPr>
        <p:txBody>
          <a:bodyPr wrap="square" rtlCol="0">
            <a:spAutoFit/>
          </a:bodyPr>
          <a:lstStyle/>
          <a:p>
            <a:r>
              <a:rPr lang="en-US" altLang="zh-CN" dirty="0" err="1"/>
              <a:t>Github+OpenDigger</a:t>
            </a:r>
            <a:r>
              <a:rPr lang="zh-CN" altLang="en-US" dirty="0"/>
              <a:t>数据抓取</a:t>
            </a:r>
            <a:r>
              <a:rPr lang="en-US" altLang="zh-CN" dirty="0"/>
              <a:t>——</a:t>
            </a:r>
            <a:r>
              <a:rPr lang="zh-CN" altLang="en-US" dirty="0"/>
              <a:t>调用 </a:t>
            </a:r>
            <a:r>
              <a:rPr lang="en-US" altLang="zh-CN" dirty="0"/>
              <a:t>GitHub REST API </a:t>
            </a:r>
            <a:r>
              <a:rPr lang="zh-CN" altLang="en-US" dirty="0"/>
              <a:t>抓取用户行为数据</a:t>
            </a:r>
            <a:endParaRPr lang="en-US" altLang="zh-CN" dirty="0"/>
          </a:p>
          <a:p>
            <a:endParaRPr lang="zh-CN" altLang="en-US" dirty="0"/>
          </a:p>
        </p:txBody>
      </p:sp>
      <p:sp>
        <p:nvSpPr>
          <p:cNvPr id="8" name="Number1" descr="cb5a9482-dd7b-48c3-b267-d0acb23dd1ab">
            <a:extLst>
              <a:ext uri="{FF2B5EF4-FFF2-40B4-BE49-F238E27FC236}">
                <a16:creationId xmlns:a16="http://schemas.microsoft.com/office/drawing/2014/main" id="{1B1CF1C2-CFA8-BAE1-6FDF-A54266A37CEE}"/>
              </a:ext>
            </a:extLst>
          </p:cNvPr>
          <p:cNvSpPr txBox="1"/>
          <p:nvPr/>
        </p:nvSpPr>
        <p:spPr>
          <a:xfrm>
            <a:off x="1463228" y="2575572"/>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solidFill>
                  <a:srgbClr val="684E93"/>
                </a:solidFill>
                <a:latin typeface="Arial" panose="020B0604020202020204"/>
              </a:rPr>
              <a:t>2</a:t>
            </a:r>
          </a:p>
        </p:txBody>
      </p:sp>
      <p:sp>
        <p:nvSpPr>
          <p:cNvPr id="9" name="文本框 8">
            <a:extLst>
              <a:ext uri="{FF2B5EF4-FFF2-40B4-BE49-F238E27FC236}">
                <a16:creationId xmlns:a16="http://schemas.microsoft.com/office/drawing/2014/main" id="{20E4BE9F-72F7-6102-993B-D7358B3A60C4}"/>
              </a:ext>
            </a:extLst>
          </p:cNvPr>
          <p:cNvSpPr txBox="1"/>
          <p:nvPr/>
        </p:nvSpPr>
        <p:spPr>
          <a:xfrm>
            <a:off x="2428306" y="2551872"/>
            <a:ext cx="9004719" cy="369332"/>
          </a:xfrm>
          <a:prstGeom prst="rect">
            <a:avLst/>
          </a:prstGeom>
          <a:noFill/>
        </p:spPr>
        <p:txBody>
          <a:bodyPr wrap="square" rtlCol="0">
            <a:spAutoFit/>
          </a:bodyPr>
          <a:lstStyle/>
          <a:p>
            <a:r>
              <a:rPr lang="zh-CN" altLang="en-US" dirty="0"/>
              <a:t>数据清洗 </a:t>
            </a:r>
            <a:r>
              <a:rPr lang="en-US" altLang="zh-CN" dirty="0"/>
              <a:t>&amp; </a:t>
            </a:r>
            <a:r>
              <a:rPr lang="zh-CN" altLang="en-US" dirty="0"/>
              <a:t>特征工程</a:t>
            </a:r>
            <a:r>
              <a:rPr lang="en-US" altLang="zh-CN" dirty="0"/>
              <a:t>——</a:t>
            </a:r>
            <a:r>
              <a:rPr lang="zh-CN" altLang="en-US" dirty="0"/>
              <a:t>使用时间序列方法处理活跃度、提交间隔、语言</a:t>
            </a:r>
            <a:r>
              <a:rPr lang="en-US" altLang="zh-CN" dirty="0"/>
              <a:t>/</a:t>
            </a:r>
            <a:r>
              <a:rPr lang="zh-CN" altLang="en-US" dirty="0"/>
              <a:t>项目标签权重</a:t>
            </a:r>
          </a:p>
        </p:txBody>
      </p:sp>
      <p:cxnSp>
        <p:nvCxnSpPr>
          <p:cNvPr id="11" name="直接箭头连接符 10">
            <a:extLst>
              <a:ext uri="{FF2B5EF4-FFF2-40B4-BE49-F238E27FC236}">
                <a16:creationId xmlns:a16="http://schemas.microsoft.com/office/drawing/2014/main" id="{58180FF7-5947-8004-ADE9-A12CE69645E3}"/>
              </a:ext>
            </a:extLst>
          </p:cNvPr>
          <p:cNvCxnSpPr>
            <a:cxnSpLocks/>
          </p:cNvCxnSpPr>
          <p:nvPr/>
        </p:nvCxnSpPr>
        <p:spPr>
          <a:xfrm>
            <a:off x="1906415" y="1945407"/>
            <a:ext cx="0" cy="63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EC472F59-547E-9DD5-4CEC-BA7862173A3E}"/>
              </a:ext>
            </a:extLst>
          </p:cNvPr>
          <p:cNvCxnSpPr>
            <a:cxnSpLocks/>
          </p:cNvCxnSpPr>
          <p:nvPr/>
        </p:nvCxnSpPr>
        <p:spPr>
          <a:xfrm>
            <a:off x="1906415" y="2873758"/>
            <a:ext cx="0" cy="63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Number1" descr="cb5a9482-dd7b-48c3-b267-d0acb23dd1ab">
            <a:extLst>
              <a:ext uri="{FF2B5EF4-FFF2-40B4-BE49-F238E27FC236}">
                <a16:creationId xmlns:a16="http://schemas.microsoft.com/office/drawing/2014/main" id="{5A7DACE7-A041-D072-33C8-1016C09665B3}"/>
              </a:ext>
            </a:extLst>
          </p:cNvPr>
          <p:cNvSpPr txBox="1"/>
          <p:nvPr/>
        </p:nvSpPr>
        <p:spPr>
          <a:xfrm>
            <a:off x="1463228" y="3523295"/>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solidFill>
                  <a:srgbClr val="684E93"/>
                </a:solidFill>
                <a:latin typeface="Arial" panose="020B0604020202020204"/>
              </a:rPr>
              <a:t>3</a:t>
            </a:r>
          </a:p>
        </p:txBody>
      </p:sp>
      <p:sp>
        <p:nvSpPr>
          <p:cNvPr id="16" name="文本框 15">
            <a:extLst>
              <a:ext uri="{FF2B5EF4-FFF2-40B4-BE49-F238E27FC236}">
                <a16:creationId xmlns:a16="http://schemas.microsoft.com/office/drawing/2014/main" id="{998E5B5D-2DC7-FE08-87A6-0A82BFB4D643}"/>
              </a:ext>
            </a:extLst>
          </p:cNvPr>
          <p:cNvSpPr txBox="1"/>
          <p:nvPr/>
        </p:nvSpPr>
        <p:spPr>
          <a:xfrm>
            <a:off x="2428306" y="3499595"/>
            <a:ext cx="9004719" cy="923330"/>
          </a:xfrm>
          <a:prstGeom prst="rect">
            <a:avLst/>
          </a:prstGeom>
          <a:noFill/>
        </p:spPr>
        <p:txBody>
          <a:bodyPr wrap="square" rtlCol="0">
            <a:spAutoFit/>
          </a:bodyPr>
          <a:lstStyle/>
          <a:p>
            <a:r>
              <a:rPr lang="zh-CN" altLang="en-US" dirty="0"/>
              <a:t>模型预测 </a:t>
            </a:r>
            <a:r>
              <a:rPr lang="en-US" altLang="zh-CN" dirty="0"/>
              <a:t>&amp; </a:t>
            </a:r>
            <a:r>
              <a:rPr lang="zh-CN" altLang="en-US" dirty="0"/>
              <a:t>评分计算</a:t>
            </a:r>
            <a:r>
              <a:rPr lang="en-US" altLang="zh-CN" dirty="0"/>
              <a:t>——Weibull / LLM</a:t>
            </a:r>
            <a:r>
              <a:rPr lang="zh-CN" altLang="en-US" dirty="0"/>
              <a:t>辅助 </a:t>
            </a:r>
            <a:r>
              <a:rPr lang="en-US" altLang="zh-CN" dirty="0"/>
              <a:t>/</a:t>
            </a:r>
            <a:r>
              <a:rPr lang="zh-CN" altLang="en-US" dirty="0"/>
              <a:t>基于</a:t>
            </a:r>
            <a:r>
              <a:rPr lang="en-US" altLang="zh-CN" dirty="0"/>
              <a:t>(</a:t>
            </a:r>
            <a:r>
              <a:rPr lang="zh-CN" altLang="en-US" dirty="0"/>
              <a:t>技术倾向</a:t>
            </a:r>
            <a:r>
              <a:rPr lang="en-US" altLang="zh-CN" dirty="0"/>
              <a:t>×</a:t>
            </a:r>
            <a:r>
              <a:rPr lang="zh-CN" altLang="en-US" dirty="0"/>
              <a:t>权重 </a:t>
            </a:r>
            <a:r>
              <a:rPr lang="en-US" altLang="zh-CN" dirty="0"/>
              <a:t>+ </a:t>
            </a:r>
            <a:r>
              <a:rPr lang="zh-CN" altLang="en-US" dirty="0"/>
              <a:t>活跃概率</a:t>
            </a:r>
            <a:r>
              <a:rPr lang="en-US" altLang="zh-CN" dirty="0"/>
              <a:t>×</a:t>
            </a:r>
            <a:r>
              <a:rPr lang="zh-CN" altLang="en-US" dirty="0"/>
              <a:t>权重</a:t>
            </a:r>
            <a:r>
              <a:rPr lang="en-US" altLang="zh-CN" dirty="0"/>
              <a:t>)</a:t>
            </a:r>
            <a:r>
              <a:rPr lang="zh-CN" altLang="en-US" dirty="0"/>
              <a:t>的多维综合评分</a:t>
            </a:r>
            <a:br>
              <a:rPr lang="zh-CN" altLang="en-US" dirty="0"/>
            </a:br>
            <a:endParaRPr lang="zh-CN" altLang="en-US" dirty="0"/>
          </a:p>
        </p:txBody>
      </p:sp>
      <p:cxnSp>
        <p:nvCxnSpPr>
          <p:cNvPr id="17" name="直接箭头连接符 16">
            <a:extLst>
              <a:ext uri="{FF2B5EF4-FFF2-40B4-BE49-F238E27FC236}">
                <a16:creationId xmlns:a16="http://schemas.microsoft.com/office/drawing/2014/main" id="{CC43871D-3C81-9484-8C0A-F3395D703BFF}"/>
              </a:ext>
            </a:extLst>
          </p:cNvPr>
          <p:cNvCxnSpPr>
            <a:cxnSpLocks/>
          </p:cNvCxnSpPr>
          <p:nvPr/>
        </p:nvCxnSpPr>
        <p:spPr>
          <a:xfrm>
            <a:off x="1906415" y="3821481"/>
            <a:ext cx="0" cy="635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Number1" descr="cb5a9482-dd7b-48c3-b267-d0acb23dd1ab">
            <a:extLst>
              <a:ext uri="{FF2B5EF4-FFF2-40B4-BE49-F238E27FC236}">
                <a16:creationId xmlns:a16="http://schemas.microsoft.com/office/drawing/2014/main" id="{E4E485A1-2328-8F2D-4F0B-AFAC5A462D20}"/>
              </a:ext>
            </a:extLst>
          </p:cNvPr>
          <p:cNvSpPr txBox="1"/>
          <p:nvPr/>
        </p:nvSpPr>
        <p:spPr>
          <a:xfrm>
            <a:off x="1463228" y="4453455"/>
            <a:ext cx="902802" cy="299465"/>
          </a:xfrm>
          <a:prstGeom prst="chevron">
            <a:avLst>
              <a:gd name="adj" fmla="val 37840"/>
            </a:avLst>
          </a:prstGeom>
          <a:solidFill>
            <a:schemeClr val="bg1"/>
          </a:solidFill>
          <a:ln w="6350">
            <a:solidFill>
              <a:schemeClr val="tx1">
                <a:alpha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wrap="none" anchor="ctr" anchorCtr="0">
            <a:normAutofit/>
          </a:bodyPr>
          <a:lstStyle>
            <a:defPPr>
              <a:defRPr lang="en-US"/>
            </a:defPPr>
            <a:lvl1pPr algn="ctr">
              <a:defRPr sz="1000" b="1">
                <a:solidFill>
                  <a:schemeClr val="accen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en-US" sz="1200" dirty="0">
                <a:solidFill>
                  <a:srgbClr val="684E93"/>
                </a:solidFill>
                <a:latin typeface="Arial" panose="020B0604020202020204"/>
              </a:rPr>
              <a:t>4</a:t>
            </a:r>
          </a:p>
        </p:txBody>
      </p:sp>
      <p:sp>
        <p:nvSpPr>
          <p:cNvPr id="23" name="文本框 22">
            <a:extLst>
              <a:ext uri="{FF2B5EF4-FFF2-40B4-BE49-F238E27FC236}">
                <a16:creationId xmlns:a16="http://schemas.microsoft.com/office/drawing/2014/main" id="{E3A4E997-0826-963B-E460-DAEEA8EB35EE}"/>
              </a:ext>
            </a:extLst>
          </p:cNvPr>
          <p:cNvSpPr txBox="1"/>
          <p:nvPr/>
        </p:nvSpPr>
        <p:spPr>
          <a:xfrm>
            <a:off x="2428306" y="4429755"/>
            <a:ext cx="9004719" cy="369332"/>
          </a:xfrm>
          <a:prstGeom prst="rect">
            <a:avLst/>
          </a:prstGeom>
          <a:noFill/>
        </p:spPr>
        <p:txBody>
          <a:bodyPr wrap="square" rtlCol="0">
            <a:spAutoFit/>
          </a:bodyPr>
          <a:lstStyle/>
          <a:p>
            <a:r>
              <a:rPr lang="en-US" altLang="zh-CN" dirty="0"/>
              <a:t>Dashboard </a:t>
            </a:r>
            <a:r>
              <a:rPr lang="zh-CN" altLang="en-US" dirty="0"/>
              <a:t>可视化展示</a:t>
            </a:r>
            <a:r>
              <a:rPr lang="en-US" altLang="zh-CN" dirty="0"/>
              <a:t>——</a:t>
            </a:r>
            <a:r>
              <a:rPr lang="zh-CN" altLang="en-US" dirty="0"/>
              <a:t>采用 </a:t>
            </a:r>
            <a:r>
              <a:rPr lang="en-US" altLang="zh-CN" dirty="0" err="1"/>
              <a:t>ECharts</a:t>
            </a:r>
            <a:r>
              <a:rPr lang="en-US" altLang="zh-CN" dirty="0"/>
              <a:t>/Vue</a:t>
            </a:r>
            <a:r>
              <a:rPr lang="zh-CN" altLang="en-US" dirty="0"/>
              <a:t>动态展示分析结果</a:t>
            </a:r>
          </a:p>
        </p:txBody>
      </p:sp>
    </p:spTree>
    <p:extLst>
      <p:ext uri="{BB962C8B-B14F-4D97-AF65-F5344CB8AC3E}">
        <p14:creationId xmlns:p14="http://schemas.microsoft.com/office/powerpoint/2010/main" val="1228618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a:xfrm>
            <a:off x="660401" y="2382144"/>
            <a:ext cx="6059714" cy="1463040"/>
          </a:xfrm>
        </p:spPr>
        <p:txBody>
          <a:bodyPr anchor="b">
            <a:normAutofit/>
          </a:bodyPr>
          <a:lstStyle/>
          <a:p>
            <a:r>
              <a:rPr lang="zh-CN" altLang="en-US" dirty="0"/>
              <a:t>项目展示</a:t>
            </a:r>
          </a:p>
        </p:txBody>
      </p:sp>
      <p:sp>
        <p:nvSpPr>
          <p:cNvPr id="8" name="Subtitle 2">
            <a:extLst>
              <a:ext uri="{FF2B5EF4-FFF2-40B4-BE49-F238E27FC236}">
                <a16:creationId xmlns:a16="http://schemas.microsoft.com/office/drawing/2014/main" id="{307F75E4-9C82-DF24-1D25-40CB026F87D1}"/>
              </a:ext>
            </a:extLst>
          </p:cNvPr>
          <p:cNvSpPr>
            <a:spLocks noGrp="1"/>
          </p:cNvSpPr>
          <p:nvPr>
            <p:ph type="subTitle" idx="1"/>
          </p:nvPr>
        </p:nvSpPr>
        <p:spPr>
          <a:xfrm>
            <a:off x="660400" y="4343778"/>
            <a:ext cx="3156857" cy="674983"/>
          </a:xfrm>
        </p:spPr>
        <p:txBody>
          <a:bodyPr/>
          <a:lstStyle/>
          <a:p>
            <a:r>
              <a:rPr lang="zh-CN" altLang="en-US" dirty="0"/>
              <a:t>目前实现的内容</a:t>
            </a:r>
            <a:r>
              <a:rPr lang="en-US" altLang="zh-CN" dirty="0"/>
              <a:t>——</a:t>
            </a:r>
            <a:endParaRPr lang="en-US" dirty="0"/>
          </a:p>
        </p:txBody>
      </p:sp>
      <p:sp>
        <p:nvSpPr>
          <p:cNvPr id="10" name="Text Placeholder 3">
            <a:extLst>
              <a:ext uri="{FF2B5EF4-FFF2-40B4-BE49-F238E27FC236}">
                <a16:creationId xmlns:a16="http://schemas.microsoft.com/office/drawing/2014/main" id="{12EC6725-D265-E0AA-1FBF-A6C812EDB9AA}"/>
              </a:ext>
            </a:extLst>
          </p:cNvPr>
          <p:cNvSpPr>
            <a:spLocks noGrp="1"/>
          </p:cNvSpPr>
          <p:nvPr>
            <p:ph type="body" sz="quarter" idx="13"/>
          </p:nvPr>
        </p:nvSpPr>
        <p:spPr>
          <a:xfrm>
            <a:off x="7001013" y="5859780"/>
            <a:ext cx="4517887" cy="274320"/>
          </a:xfrm>
        </p:spPr>
        <p:txBody>
          <a:bodyPr/>
          <a:lstStyle/>
          <a:p>
            <a:endParaRPr lang="en-US"/>
          </a:p>
        </p:txBody>
      </p:sp>
      <p:sp>
        <p:nvSpPr>
          <p:cNvPr id="2" name="灯片编号占位符 1" hidden="1"/>
          <p:cNvSpPr>
            <a:spLocks noGrp="1"/>
          </p:cNvSpPr>
          <p:nvPr>
            <p:ph type="sldNum" sz="quarter" idx="4294967295"/>
          </p:nvPr>
        </p:nvSpPr>
        <p:spPr>
          <a:xfrm>
            <a:off x="7768168" y="6409690"/>
            <a:ext cx="3750732" cy="274320"/>
          </a:xfrm>
        </p:spPr>
        <p:txBody>
          <a:bodyPr/>
          <a:lstStyle/>
          <a:p>
            <a:pPr>
              <a:spcAft>
                <a:spcPts val="600"/>
              </a:spcAft>
            </a:pPr>
            <a:fld id="{C8BB1146-E542-4D4E-B8E9-6919A11DDD48}" type="slidenum">
              <a:rPr lang="en-US" smtClean="0"/>
              <a:pPr>
                <a:spcAft>
                  <a:spcPts val="600"/>
                </a:spcAft>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57" name="Straight Connector 56">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0" name="Rectangle 59">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1060232" y="3941205"/>
            <a:ext cx="10071536" cy="929750"/>
          </a:xfrm>
        </p:spPr>
        <p:txBody>
          <a:bodyPr vert="horz" lIns="91440" tIns="45720" rIns="91440" bIns="45720" rtlCol="0" anchor="b">
            <a:normAutofit/>
          </a:bodyPr>
          <a:lstStyle/>
          <a:p>
            <a:pPr algn="ctr">
              <a:lnSpc>
                <a:spcPct val="90000"/>
              </a:lnSpc>
            </a:pPr>
            <a:r>
              <a:rPr lang="zh-CN" altLang="en-US" sz="5200"/>
              <a:t>前端页面展示</a:t>
            </a:r>
          </a:p>
        </p:txBody>
      </p:sp>
      <p:pic>
        <p:nvPicPr>
          <p:cNvPr id="5" name="内容占位符 4"/>
          <p:cNvPicPr>
            <a:picLocks noChangeAspect="1"/>
          </p:cNvPicPr>
          <p:nvPr/>
        </p:nvPicPr>
        <p:blipFill>
          <a:blip r:embed="rId2"/>
          <a:stretch>
            <a:fillRect/>
          </a:stretch>
        </p:blipFill>
        <p:spPr>
          <a:xfrm>
            <a:off x="897717" y="1011148"/>
            <a:ext cx="5069590" cy="2319337"/>
          </a:xfrm>
          <a:prstGeom prst="rect">
            <a:avLst/>
          </a:prstGeom>
        </p:spPr>
      </p:pic>
      <p:pic>
        <p:nvPicPr>
          <p:cNvPr id="6" name="图片 5" descr="图形用户界面, 应用程序, Teams&#10;&#10;AI 生成的内容可能不正确。">
            <a:extLst>
              <a:ext uri="{FF2B5EF4-FFF2-40B4-BE49-F238E27FC236}">
                <a16:creationId xmlns:a16="http://schemas.microsoft.com/office/drawing/2014/main" id="{5A7CCAA9-0DC9-7207-D363-B3F3D16488A6}"/>
              </a:ext>
            </a:extLst>
          </p:cNvPr>
          <p:cNvPicPr>
            <a:picLocks noChangeAspect="1"/>
          </p:cNvPicPr>
          <p:nvPr/>
        </p:nvPicPr>
        <p:blipFill>
          <a:blip r:embed="rId3"/>
          <a:stretch>
            <a:fillRect/>
          </a:stretch>
        </p:blipFill>
        <p:spPr>
          <a:xfrm>
            <a:off x="6228507" y="708074"/>
            <a:ext cx="5065776" cy="2925485"/>
          </a:xfrm>
          <a:prstGeom prst="rect">
            <a:avLst/>
          </a:prstGeom>
        </p:spPr>
      </p:pic>
      <p:sp>
        <p:nvSpPr>
          <p:cNvPr id="2" name="灯片编号占位符 1"/>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25</a:t>
            </a:fld>
            <a:endParaRPr lang="en-US"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8E4C195-FE4F-47F0-A51D-0E31F2BC9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6723665" y="679730"/>
            <a:ext cx="4779713" cy="3932729"/>
          </a:xfrm>
        </p:spPr>
        <p:txBody>
          <a:bodyPr vert="horz" lIns="91440" tIns="45720" rIns="91440" bIns="45720" rtlCol="0" anchor="b">
            <a:normAutofit/>
          </a:bodyPr>
          <a:lstStyle/>
          <a:p>
            <a:pPr>
              <a:lnSpc>
                <a:spcPct val="90000"/>
              </a:lnSpc>
            </a:pPr>
            <a:r>
              <a:rPr lang="zh-CN" altLang="en-US" sz="6000" kern="1200" dirty="0">
                <a:solidFill>
                  <a:schemeClr val="tx1"/>
                </a:solidFill>
                <a:latin typeface="+mj-lt"/>
                <a:ea typeface="+mj-ea"/>
                <a:cs typeface="+mj-cs"/>
              </a:rPr>
              <a:t>数据抓取展示（以用户</a:t>
            </a:r>
            <a:r>
              <a:rPr lang="en-US" altLang="zh-CN" sz="6000" kern="1200" dirty="0">
                <a:solidFill>
                  <a:schemeClr val="tx1"/>
                </a:solidFill>
                <a:latin typeface="+mj-lt"/>
                <a:ea typeface="+mj-ea"/>
                <a:cs typeface="+mj-cs"/>
              </a:rPr>
              <a:t>vinta</a:t>
            </a:r>
            <a:r>
              <a:rPr lang="zh-CN" altLang="en-US" sz="6000" kern="1200" dirty="0">
                <a:solidFill>
                  <a:schemeClr val="tx1"/>
                </a:solidFill>
                <a:latin typeface="+mj-lt"/>
                <a:ea typeface="+mj-ea"/>
                <a:cs typeface="+mj-cs"/>
              </a:rPr>
              <a:t>为例）</a:t>
            </a:r>
          </a:p>
        </p:txBody>
      </p:sp>
      <p:grpSp>
        <p:nvGrpSpPr>
          <p:cNvPr id="35" name="Group 34">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6" name="Straight Connector 35">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Rectangle 3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p:cNvPicPr>
            <a:picLocks noChangeAspect="1"/>
          </p:cNvPicPr>
          <p:nvPr/>
        </p:nvPicPr>
        <p:blipFill>
          <a:blip r:embed="rId2"/>
          <a:srcRect t="1520" r="-1" b="1521"/>
          <a:stretch>
            <a:fillRect/>
          </a:stretch>
        </p:blipFill>
        <p:spPr>
          <a:xfrm>
            <a:off x="914401" y="420005"/>
            <a:ext cx="4902440" cy="2816352"/>
          </a:xfrm>
          <a:prstGeom prst="rect">
            <a:avLst/>
          </a:prstGeom>
        </p:spPr>
      </p:pic>
      <p:pic>
        <p:nvPicPr>
          <p:cNvPr id="6" name="图片 5"/>
          <p:cNvPicPr>
            <a:picLocks noChangeAspect="1"/>
          </p:cNvPicPr>
          <p:nvPr/>
        </p:nvPicPr>
        <p:blipFill>
          <a:blip r:embed="rId3"/>
          <a:srcRect t="3868" r="-1" b="17436"/>
          <a:stretch>
            <a:fillRect/>
          </a:stretch>
        </p:blipFill>
        <p:spPr>
          <a:xfrm>
            <a:off x="914401" y="3444398"/>
            <a:ext cx="4902440" cy="2816352"/>
          </a:xfrm>
          <a:prstGeom prst="rect">
            <a:avLst/>
          </a:prstGeom>
        </p:spPr>
      </p:pic>
      <p:sp>
        <p:nvSpPr>
          <p:cNvPr id="2" name="灯片编号占位符 1"/>
          <p:cNvSpPr>
            <a:spLocks noGrp="1"/>
          </p:cNvSpPr>
          <p:nvPr>
            <p:ph type="sldNum" sz="quarter" idx="12"/>
          </p:nvPr>
        </p:nvSpPr>
        <p:spPr>
          <a:xfrm>
            <a:off x="8610600" y="649224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26</a:t>
            </a:fld>
            <a:endParaRPr lang="en-US"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269BDC9-F5DC-4A16-9583-2F8CE418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1524000" y="4063296"/>
            <a:ext cx="9144000" cy="1152663"/>
          </a:xfrm>
        </p:spPr>
        <p:txBody>
          <a:bodyPr vert="horz" lIns="91440" tIns="45720" rIns="91440" bIns="45720" rtlCol="0" anchor="ctr">
            <a:normAutofit/>
          </a:bodyPr>
          <a:lstStyle/>
          <a:p>
            <a:pPr algn="ctr">
              <a:lnSpc>
                <a:spcPct val="90000"/>
              </a:lnSpc>
            </a:pPr>
            <a:r>
              <a:rPr lang="zh-CN" altLang="en-US" sz="4400" kern="1200">
                <a:solidFill>
                  <a:schemeClr val="tx1"/>
                </a:solidFill>
                <a:latin typeface="+mj-lt"/>
                <a:ea typeface="+mj-ea"/>
                <a:cs typeface="+mj-cs"/>
              </a:rPr>
              <a:t>数据可视化展示</a:t>
            </a:r>
          </a:p>
        </p:txBody>
      </p:sp>
      <p:sp>
        <p:nvSpPr>
          <p:cNvPr id="12" name="Freeform: Shape 11">
            <a:extLst>
              <a:ext uri="{FF2B5EF4-FFF2-40B4-BE49-F238E27FC236}">
                <a16:creationId xmlns:a16="http://schemas.microsoft.com/office/drawing/2014/main" id="{903CE7F4-D1BB-4A5B-8E96-915177640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
            <a:ext cx="9379192" cy="4251280"/>
          </a:xfrm>
          <a:custGeom>
            <a:avLst/>
            <a:gdLst>
              <a:gd name="connsiteX0" fmla="*/ 9379192 w 9379192"/>
              <a:gd name="connsiteY0" fmla="*/ 3752527 h 3752527"/>
              <a:gd name="connsiteX1" fmla="*/ 3293459 w 9379192"/>
              <a:gd name="connsiteY1" fmla="*/ 3752527 h 3752527"/>
              <a:gd name="connsiteX2" fmla="*/ 3297156 w 9379192"/>
              <a:gd name="connsiteY2" fmla="*/ 3752055 h 3752527"/>
              <a:gd name="connsiteX3" fmla="*/ 3642095 w 9379192"/>
              <a:gd name="connsiteY3" fmla="*/ 3690141 h 3752527"/>
              <a:gd name="connsiteX4" fmla="*/ 2307659 w 9379192"/>
              <a:gd name="connsiteY4" fmla="*/ 3500267 h 3752527"/>
              <a:gd name="connsiteX5" fmla="*/ 2383194 w 9379192"/>
              <a:gd name="connsiteY5" fmla="*/ 3475501 h 3752527"/>
              <a:gd name="connsiteX6" fmla="*/ 2237161 w 9379192"/>
              <a:gd name="connsiteY6" fmla="*/ 3376437 h 3752527"/>
              <a:gd name="connsiteX7" fmla="*/ 1637924 w 9379192"/>
              <a:gd name="connsiteY7" fmla="*/ 3219585 h 3752527"/>
              <a:gd name="connsiteX8" fmla="*/ 2383194 w 9379192"/>
              <a:gd name="connsiteY8" fmla="*/ 2955415 h 3752527"/>
              <a:gd name="connsiteX9" fmla="*/ 1542249 w 9379192"/>
              <a:gd name="connsiteY9" fmla="*/ 2596307 h 3752527"/>
              <a:gd name="connsiteX10" fmla="*/ 1114221 w 9379192"/>
              <a:gd name="connsiteY10" fmla="*/ 2509625 h 3752527"/>
              <a:gd name="connsiteX11" fmla="*/ 2524191 w 9379192"/>
              <a:gd name="connsiteY11" fmla="*/ 2059708 h 3752527"/>
              <a:gd name="connsiteX12" fmla="*/ 238027 w 9379192"/>
              <a:gd name="connsiteY12" fmla="*/ 1836815 h 3752527"/>
              <a:gd name="connsiteX13" fmla="*/ 424343 w 9379192"/>
              <a:gd name="connsiteY13" fmla="*/ 1746006 h 3752527"/>
              <a:gd name="connsiteX14" fmla="*/ 1844384 w 9379192"/>
              <a:gd name="connsiteY14" fmla="*/ 1770772 h 3752527"/>
              <a:gd name="connsiteX15" fmla="*/ 2081058 w 9379192"/>
              <a:gd name="connsiteY15" fmla="*/ 1700602 h 3752527"/>
              <a:gd name="connsiteX16" fmla="*/ 1844384 w 9379192"/>
              <a:gd name="connsiteY16" fmla="*/ 1589154 h 3752527"/>
              <a:gd name="connsiteX17" fmla="*/ 922869 w 9379192"/>
              <a:gd name="connsiteY17" fmla="*/ 1506601 h 3752527"/>
              <a:gd name="connsiteX18" fmla="*/ 681160 w 9379192"/>
              <a:gd name="connsiteY18" fmla="*/ 1320855 h 3752527"/>
              <a:gd name="connsiteX19" fmla="*/ 273276 w 9379192"/>
              <a:gd name="connsiteY19" fmla="*/ 1106216 h 3752527"/>
              <a:gd name="connsiteX20" fmla="*/ 555269 w 9379192"/>
              <a:gd name="connsiteY20" fmla="*/ 928727 h 3752527"/>
              <a:gd name="connsiteX21" fmla="*/ 97029 w 9379192"/>
              <a:gd name="connsiteY21" fmla="*/ 664555 h 3752527"/>
              <a:gd name="connsiteX22" fmla="*/ 227955 w 9379192"/>
              <a:gd name="connsiteY22" fmla="*/ 317831 h 3752527"/>
              <a:gd name="connsiteX23" fmla="*/ 998402 w 9379192"/>
              <a:gd name="connsiteY23" fmla="*/ 235277 h 3752527"/>
              <a:gd name="connsiteX24" fmla="*/ 2030701 w 9379192"/>
              <a:gd name="connsiteY24" fmla="*/ 115575 h 3752527"/>
              <a:gd name="connsiteX25" fmla="*/ 3068036 w 9379192"/>
              <a:gd name="connsiteY25" fmla="*/ 12383 h 3752527"/>
              <a:gd name="connsiteX26" fmla="*/ 4105370 w 9379192"/>
              <a:gd name="connsiteY26" fmla="*/ 12383 h 3752527"/>
              <a:gd name="connsiteX27" fmla="*/ 4402472 w 9379192"/>
              <a:gd name="connsiteY27" fmla="*/ 20638 h 3752527"/>
              <a:gd name="connsiteX28" fmla="*/ 4407507 w 9379192"/>
              <a:gd name="connsiteY28" fmla="*/ 20638 h 3752527"/>
              <a:gd name="connsiteX29" fmla="*/ 5696622 w 9379192"/>
              <a:gd name="connsiteY29" fmla="*/ 57788 h 3752527"/>
              <a:gd name="connsiteX30" fmla="*/ 6175004 w 9379192"/>
              <a:gd name="connsiteY30" fmla="*/ 61915 h 3752527"/>
              <a:gd name="connsiteX31" fmla="*/ 7212339 w 9379192"/>
              <a:gd name="connsiteY31" fmla="*/ 66042 h 3752527"/>
              <a:gd name="connsiteX32" fmla="*/ 8244638 w 9379192"/>
              <a:gd name="connsiteY32" fmla="*/ 49532 h 3752527"/>
              <a:gd name="connsiteX33" fmla="*/ 9292044 w 9379192"/>
              <a:gd name="connsiteY33" fmla="*/ 0 h 3752527"/>
              <a:gd name="connsiteX34" fmla="*/ 9379192 w 9379192"/>
              <a:gd name="connsiteY34" fmla="*/ 2762 h 3752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379192" h="3752527">
                <a:moveTo>
                  <a:pt x="9379192" y="3752527"/>
                </a:moveTo>
                <a:lnTo>
                  <a:pt x="3293459" y="3752527"/>
                </a:lnTo>
                <a:lnTo>
                  <a:pt x="3297156" y="3752055"/>
                </a:lnTo>
                <a:cubicBezTo>
                  <a:pt x="3412975" y="3736577"/>
                  <a:pt x="3551454" y="3714906"/>
                  <a:pt x="3642095" y="3690141"/>
                </a:cubicBezTo>
                <a:cubicBezTo>
                  <a:pt x="3380244" y="3686012"/>
                  <a:pt x="2347945" y="3529162"/>
                  <a:pt x="2307659" y="3500267"/>
                </a:cubicBezTo>
                <a:cubicBezTo>
                  <a:pt x="2327803" y="3492012"/>
                  <a:pt x="2358017" y="3483757"/>
                  <a:pt x="2383194" y="3475501"/>
                </a:cubicBezTo>
                <a:cubicBezTo>
                  <a:pt x="2327803" y="3450736"/>
                  <a:pt x="2282482" y="3421842"/>
                  <a:pt x="2237161" y="3376437"/>
                </a:cubicBezTo>
                <a:cubicBezTo>
                  <a:pt x="2091129" y="3223714"/>
                  <a:pt x="1844384" y="3277374"/>
                  <a:pt x="1637924" y="3219585"/>
                </a:cubicBezTo>
                <a:cubicBezTo>
                  <a:pt x="1768850" y="2897627"/>
                  <a:pt x="2116307" y="3017329"/>
                  <a:pt x="2383194" y="2955415"/>
                </a:cubicBezTo>
                <a:cubicBezTo>
                  <a:pt x="1683245" y="2765541"/>
                  <a:pt x="1819207" y="2666477"/>
                  <a:pt x="1542249" y="2596307"/>
                </a:cubicBezTo>
                <a:cubicBezTo>
                  <a:pt x="1194791" y="2509625"/>
                  <a:pt x="1114221" y="2509625"/>
                  <a:pt x="1114221" y="2509625"/>
                </a:cubicBezTo>
                <a:cubicBezTo>
                  <a:pt x="1522105" y="2245455"/>
                  <a:pt x="2010559" y="2530264"/>
                  <a:pt x="2524191" y="2059708"/>
                </a:cubicBezTo>
                <a:cubicBezTo>
                  <a:pt x="2030701" y="1993667"/>
                  <a:pt x="555269" y="1960645"/>
                  <a:pt x="238027" y="1836815"/>
                </a:cubicBezTo>
                <a:cubicBezTo>
                  <a:pt x="358880" y="1882219"/>
                  <a:pt x="368952" y="1746006"/>
                  <a:pt x="424343" y="1746006"/>
                </a:cubicBezTo>
                <a:cubicBezTo>
                  <a:pt x="892655" y="1741879"/>
                  <a:pt x="1371037" y="1820305"/>
                  <a:pt x="1844384" y="1770772"/>
                </a:cubicBezTo>
                <a:cubicBezTo>
                  <a:pt x="1929989" y="1766645"/>
                  <a:pt x="2065951" y="1803793"/>
                  <a:pt x="2081058" y="1700602"/>
                </a:cubicBezTo>
                <a:cubicBezTo>
                  <a:pt x="2096164" y="1572644"/>
                  <a:pt x="1919919" y="1601537"/>
                  <a:pt x="1844384" y="1589154"/>
                </a:cubicBezTo>
                <a:cubicBezTo>
                  <a:pt x="1537212" y="1547877"/>
                  <a:pt x="1235076" y="1531367"/>
                  <a:pt x="922869" y="1506601"/>
                </a:cubicBezTo>
                <a:cubicBezTo>
                  <a:pt x="791943" y="1494218"/>
                  <a:pt x="630804" y="1518984"/>
                  <a:pt x="681160" y="1320855"/>
                </a:cubicBezTo>
                <a:cubicBezTo>
                  <a:pt x="640874" y="1130983"/>
                  <a:pt x="399166" y="1197025"/>
                  <a:pt x="273276" y="1106216"/>
                </a:cubicBezTo>
                <a:cubicBezTo>
                  <a:pt x="333703" y="998897"/>
                  <a:pt x="504913" y="1073196"/>
                  <a:pt x="555269" y="928727"/>
                </a:cubicBezTo>
                <a:cubicBezTo>
                  <a:pt x="313560" y="974131"/>
                  <a:pt x="338738" y="660428"/>
                  <a:pt x="97029" y="664555"/>
                </a:cubicBezTo>
                <a:cubicBezTo>
                  <a:pt x="-104395" y="478810"/>
                  <a:pt x="41638" y="388001"/>
                  <a:pt x="227955" y="317831"/>
                </a:cubicBezTo>
                <a:cubicBezTo>
                  <a:pt x="469664" y="231150"/>
                  <a:pt x="736551" y="251788"/>
                  <a:pt x="998402" y="235277"/>
                </a:cubicBezTo>
                <a:cubicBezTo>
                  <a:pt x="1345860" y="198128"/>
                  <a:pt x="1678209" y="111447"/>
                  <a:pt x="2030701" y="115575"/>
                </a:cubicBezTo>
                <a:cubicBezTo>
                  <a:pt x="2363052" y="28893"/>
                  <a:pt x="2730650" y="123829"/>
                  <a:pt x="3068036" y="12383"/>
                </a:cubicBezTo>
                <a:cubicBezTo>
                  <a:pt x="3410457" y="12383"/>
                  <a:pt x="3757914" y="12383"/>
                  <a:pt x="4105370" y="12383"/>
                </a:cubicBezTo>
                <a:cubicBezTo>
                  <a:pt x="4206084" y="16510"/>
                  <a:pt x="4301759" y="16510"/>
                  <a:pt x="4402472" y="20638"/>
                </a:cubicBezTo>
                <a:cubicBezTo>
                  <a:pt x="4402472" y="20638"/>
                  <a:pt x="4407507" y="20638"/>
                  <a:pt x="4407507" y="20638"/>
                </a:cubicBezTo>
                <a:cubicBezTo>
                  <a:pt x="4840570" y="33022"/>
                  <a:pt x="5268596" y="41276"/>
                  <a:pt x="5696622" y="57788"/>
                </a:cubicBezTo>
                <a:cubicBezTo>
                  <a:pt x="5857761" y="57788"/>
                  <a:pt x="6013864" y="61915"/>
                  <a:pt x="6175004" y="61915"/>
                </a:cubicBezTo>
                <a:cubicBezTo>
                  <a:pt x="6517425" y="82553"/>
                  <a:pt x="6864883" y="94936"/>
                  <a:pt x="7212339" y="66042"/>
                </a:cubicBezTo>
                <a:cubicBezTo>
                  <a:pt x="7559796" y="90809"/>
                  <a:pt x="7897182" y="74298"/>
                  <a:pt x="8244638" y="49532"/>
                </a:cubicBezTo>
                <a:cubicBezTo>
                  <a:pt x="8597130" y="78426"/>
                  <a:pt x="8944587" y="37149"/>
                  <a:pt x="9292044" y="0"/>
                </a:cubicBezTo>
                <a:lnTo>
                  <a:pt x="9379192" y="2762"/>
                </a:lnTo>
                <a:close/>
              </a:path>
            </a:pathLst>
          </a:custGeom>
          <a:solidFill>
            <a:schemeClr val="bg2">
              <a:alpha val="50000"/>
            </a:schemeClr>
          </a:solidFill>
          <a:ln w="32707" cap="flat">
            <a:noFill/>
            <a:prstDash val="solid"/>
            <a:miter/>
          </a:ln>
        </p:spPr>
        <p:txBody>
          <a:bodyPr rtlCol="0" anchor="ctr"/>
          <a:lstStyle/>
          <a:p>
            <a:endParaRPr lang="en-US"/>
          </a:p>
        </p:txBody>
      </p:sp>
      <p:pic>
        <p:nvPicPr>
          <p:cNvPr id="5" name="内容占位符 4"/>
          <p:cNvPicPr>
            <a:picLocks noGrp="1" noChangeAspect="1"/>
          </p:cNvPicPr>
          <p:nvPr>
            <p:ph idx="1"/>
          </p:nvPr>
        </p:nvPicPr>
        <p:blipFill>
          <a:blip r:embed="rId2"/>
          <a:stretch>
            <a:fillRect/>
          </a:stretch>
        </p:blipFill>
        <p:spPr>
          <a:xfrm>
            <a:off x="643468" y="859921"/>
            <a:ext cx="10905064" cy="2726267"/>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27</a:t>
            </a:fld>
            <a:endParaRPr 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标题 2">
            <a:extLst>
              <a:ext uri="{FF2B5EF4-FFF2-40B4-BE49-F238E27FC236}">
                <a16:creationId xmlns:a16="http://schemas.microsoft.com/office/drawing/2014/main" id="{BAB963DC-4609-5227-7CF6-C1973D99170D}"/>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pPr>
              <a:lnSpc>
                <a:spcPct val="90000"/>
              </a:lnSpc>
              <a:spcAft>
                <a:spcPts val="600"/>
              </a:spcAft>
            </a:pPr>
            <a:r>
              <a:rPr lang="zh-CN" altLang="en-US" sz="5200" kern="1200">
                <a:solidFill>
                  <a:schemeClr val="tx1"/>
                </a:solidFill>
                <a:latin typeface="+mj-lt"/>
                <a:ea typeface="+mj-ea"/>
                <a:cs typeface="+mj-cs"/>
              </a:rPr>
              <a:t>技术倾向预测展示</a:t>
            </a:r>
            <a:endParaRPr lang="en-US" altLang="zh-CN" sz="5200" kern="1200">
              <a:solidFill>
                <a:schemeClr val="tx1"/>
              </a:solidFill>
              <a:latin typeface="+mj-lt"/>
              <a:ea typeface="+mj-ea"/>
              <a:cs typeface="+mj-cs"/>
            </a:endParaRPr>
          </a:p>
        </p:txBody>
      </p:sp>
      <p:pic>
        <p:nvPicPr>
          <p:cNvPr id="11" name="图片 10" descr="图片包含 图表&#10;&#10;AI 生成的内容可能不正确。">
            <a:extLst>
              <a:ext uri="{FF2B5EF4-FFF2-40B4-BE49-F238E27FC236}">
                <a16:creationId xmlns:a16="http://schemas.microsoft.com/office/drawing/2014/main" id="{82774FF8-2E3E-3486-4791-A8CD1D3A825C}"/>
              </a:ext>
            </a:extLst>
          </p:cNvPr>
          <p:cNvPicPr>
            <a:picLocks noChangeAspect="1"/>
          </p:cNvPicPr>
          <p:nvPr/>
        </p:nvPicPr>
        <p:blipFill>
          <a:blip r:embed="rId2"/>
          <a:stretch>
            <a:fillRect/>
          </a:stretch>
        </p:blipFill>
        <p:spPr>
          <a:xfrm>
            <a:off x="838200" y="2257164"/>
            <a:ext cx="10512547" cy="3626827"/>
          </a:xfrm>
          <a:prstGeom prst="rect">
            <a:avLst/>
          </a:prstGeom>
        </p:spPr>
      </p:pic>
      <p:sp>
        <p:nvSpPr>
          <p:cNvPr id="5" name="页脚占位符 4">
            <a:extLst>
              <a:ext uri="{FF2B5EF4-FFF2-40B4-BE49-F238E27FC236}">
                <a16:creationId xmlns:a16="http://schemas.microsoft.com/office/drawing/2014/main" id="{14682490-973F-2FB1-03B1-85B3B355B4C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gn="ctr"/>
            <a:endParaRPr lang="en-US" sz="1200" kern="1200">
              <a:solidFill>
                <a:schemeClr val="tx1">
                  <a:tint val="75000"/>
                </a:schemeClr>
              </a:solidFill>
              <a:latin typeface="+mn-lt"/>
              <a:ea typeface="+mn-ea"/>
              <a:cs typeface="+mn-cs"/>
            </a:endParaRPr>
          </a:p>
        </p:txBody>
      </p:sp>
    </p:spTree>
    <p:extLst>
      <p:ext uri="{BB962C8B-B14F-4D97-AF65-F5344CB8AC3E}">
        <p14:creationId xmlns:p14="http://schemas.microsoft.com/office/powerpoint/2010/main" val="1174151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841248" y="552289"/>
            <a:ext cx="3976496" cy="3900326"/>
          </a:xfrm>
        </p:spPr>
        <p:txBody>
          <a:bodyPr vert="horz" lIns="91440" tIns="45720" rIns="91440" bIns="45720" rtlCol="0" anchor="b">
            <a:normAutofit/>
          </a:bodyPr>
          <a:lstStyle/>
          <a:p>
            <a:pPr>
              <a:lnSpc>
                <a:spcPct val="90000"/>
              </a:lnSpc>
            </a:pPr>
            <a:r>
              <a:rPr lang="zh-CN" altLang="en-US" sz="5200" kern="1200">
                <a:solidFill>
                  <a:schemeClr val="tx1"/>
                </a:solidFill>
                <a:latin typeface="+mj-lt"/>
                <a:ea typeface="+mj-ea"/>
                <a:cs typeface="+mj-cs"/>
              </a:rPr>
              <a:t>关系引力图展示</a:t>
            </a:r>
          </a:p>
        </p:txBody>
      </p:sp>
      <p:pic>
        <p:nvPicPr>
          <p:cNvPr id="5" name="图片 4" descr="图表, 图示&#10;&#10;AI 生成的内容可能不正确。">
            <a:extLst>
              <a:ext uri="{FF2B5EF4-FFF2-40B4-BE49-F238E27FC236}">
                <a16:creationId xmlns:a16="http://schemas.microsoft.com/office/drawing/2014/main" id="{86851937-E12B-ABDC-E5A4-D5463FBAB52A}"/>
              </a:ext>
            </a:extLst>
          </p:cNvPr>
          <p:cNvPicPr>
            <a:picLocks noChangeAspect="1"/>
          </p:cNvPicPr>
          <p:nvPr/>
        </p:nvPicPr>
        <p:blipFill>
          <a:blip r:embed="rId2"/>
          <a:stretch>
            <a:fillRect/>
          </a:stretch>
        </p:blipFill>
        <p:spPr>
          <a:xfrm>
            <a:off x="5186557" y="571706"/>
            <a:ext cx="6164194" cy="5547774"/>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29</a:t>
            </a:fld>
            <a:endParaRPr lang="en-US" sz="12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2">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标题 2"/>
          <p:cNvSpPr>
            <a:spLocks noGrp="1"/>
          </p:cNvSpPr>
          <p:nvPr>
            <p:ph type="title"/>
          </p:nvPr>
        </p:nvSpPr>
        <p:spPr>
          <a:xfrm>
            <a:off x="838200" y="184805"/>
            <a:ext cx="10515600" cy="1505883"/>
          </a:xfrm>
        </p:spPr>
        <p:txBody>
          <a:bodyPr vert="horz" lIns="91440" tIns="45720" rIns="91440" bIns="45720" rtlCol="0" anchor="ctr">
            <a:normAutofit/>
          </a:bodyPr>
          <a:lstStyle/>
          <a:p>
            <a:pPr>
              <a:lnSpc>
                <a:spcPct val="90000"/>
              </a:lnSpc>
            </a:pPr>
            <a:r>
              <a:rPr lang="zh-CN" altLang="en-US" sz="5200" kern="1200">
                <a:solidFill>
                  <a:schemeClr val="tx1"/>
                </a:solidFill>
                <a:latin typeface="+mj-lt"/>
                <a:ea typeface="+mj-ea"/>
                <a:cs typeface="+mj-cs"/>
              </a:rPr>
              <a:t>技术匹配度展示</a:t>
            </a:r>
          </a:p>
        </p:txBody>
      </p:sp>
      <p:pic>
        <p:nvPicPr>
          <p:cNvPr id="8" name="图片 7" descr="图表, 条形图, 直方图&#10;&#10;AI 生成的内容可能不正确。">
            <a:extLst>
              <a:ext uri="{FF2B5EF4-FFF2-40B4-BE49-F238E27FC236}">
                <a16:creationId xmlns:a16="http://schemas.microsoft.com/office/drawing/2014/main" id="{5A2C855E-C21F-2CB6-A274-73E84CFA9FD7}"/>
              </a:ext>
            </a:extLst>
          </p:cNvPr>
          <p:cNvPicPr>
            <a:picLocks noChangeAspect="1"/>
          </p:cNvPicPr>
          <p:nvPr/>
        </p:nvPicPr>
        <p:blipFill>
          <a:blip r:embed="rId2"/>
          <a:stretch>
            <a:fillRect/>
          </a:stretch>
        </p:blipFill>
        <p:spPr>
          <a:xfrm>
            <a:off x="838200" y="2336008"/>
            <a:ext cx="10512547" cy="3469138"/>
          </a:xfrm>
          <a:prstGeom prst="rect">
            <a:avLst/>
          </a:prstGeom>
        </p:spPr>
      </p:pic>
      <p:sp>
        <p:nvSpPr>
          <p:cNvPr id="2" name="灯片编号占位符 1"/>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C8BB1146-E542-4D4E-B8E9-6919A11DDD48}" type="slidenum">
              <a:rPr lang="en-US" sz="1200" smtClean="0"/>
              <a:pPr>
                <a:spcAft>
                  <a:spcPts val="600"/>
                </a:spcAft>
              </a:pPr>
              <a:t>30</a:t>
            </a:fld>
            <a:endParaRPr 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技术匹配度展示</a:t>
            </a:r>
          </a:p>
        </p:txBody>
      </p:sp>
      <p:pic>
        <p:nvPicPr>
          <p:cNvPr id="5" name="内容占位符 4"/>
          <p:cNvPicPr>
            <a:picLocks noGrp="1" noChangeAspect="1"/>
          </p:cNvPicPr>
          <p:nvPr>
            <p:ph idx="1"/>
          </p:nvPr>
        </p:nvPicPr>
        <p:blipFill>
          <a:blip r:embed="rId2"/>
          <a:stretch>
            <a:fillRect/>
          </a:stretch>
        </p:blipFill>
        <p:spPr>
          <a:xfrm>
            <a:off x="660400" y="1235710"/>
            <a:ext cx="10858500" cy="4792345"/>
          </a:xfrm>
          <a:prstGeom prst="rect">
            <a:avLst/>
          </a:prstGeom>
        </p:spPr>
      </p:pic>
      <p:sp>
        <p:nvSpPr>
          <p:cNvPr id="2" name="灯片编号占位符 1"/>
          <p:cNvSpPr>
            <a:spLocks noGrp="1"/>
          </p:cNvSpPr>
          <p:nvPr>
            <p:ph type="sldNum" sz="quarter" idx="12"/>
          </p:nvPr>
        </p:nvSpPr>
        <p:spPr/>
        <p:txBody>
          <a:bodyPr/>
          <a:lstStyle/>
          <a:p>
            <a:fld id="{C8BB1146-E542-4D4E-B8E9-6919A11DDD48}"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t>动态记录展示</a:t>
            </a:r>
          </a:p>
        </p:txBody>
      </p:sp>
      <p:pic>
        <p:nvPicPr>
          <p:cNvPr id="5" name="内容占位符 4"/>
          <p:cNvPicPr>
            <a:picLocks noGrp="1" noChangeAspect="1"/>
          </p:cNvPicPr>
          <p:nvPr>
            <p:ph idx="1"/>
          </p:nvPr>
        </p:nvPicPr>
        <p:blipFill>
          <a:blip r:embed="rId2"/>
          <a:stretch>
            <a:fillRect/>
          </a:stretch>
        </p:blipFill>
        <p:spPr>
          <a:xfrm>
            <a:off x="660400" y="1218565"/>
            <a:ext cx="10858500" cy="4826000"/>
          </a:xfrm>
          <a:prstGeom prst="rect">
            <a:avLst/>
          </a:prstGeom>
        </p:spPr>
      </p:pic>
      <p:sp>
        <p:nvSpPr>
          <p:cNvPr id="2" name="灯片编号占位符 1"/>
          <p:cNvSpPr>
            <a:spLocks noGrp="1"/>
          </p:cNvSpPr>
          <p:nvPr>
            <p:ph type="sldNum" sz="quarter" idx="12"/>
          </p:nvPr>
        </p:nvSpPr>
        <p:spPr/>
        <p:txBody>
          <a:bodyPr/>
          <a:lstStyle/>
          <a:p>
            <a:fld id="{C8BB1146-E542-4D4E-B8E9-6919A11DDD48}"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048633" descr="8f0aa4d8-f980-4abb-9bf6-adaf418e0a35"/>
          <p:cNvSpPr>
            <a:spLocks noGrp="1"/>
          </p:cNvSpPr>
          <p:nvPr>
            <p:ph type="title" hasCustomPrompt="1"/>
          </p:nvPr>
        </p:nvSpPr>
        <p:spPr/>
        <p:txBody>
          <a:bodyPr anchorCtr="0"/>
          <a:lstStyle/>
          <a:p>
            <a:pPr algn="l">
              <a:lnSpc>
                <a:spcPct val="100000"/>
              </a:lnSpc>
              <a:spcBef>
                <a:spcPct val="0"/>
              </a:spcBef>
            </a:pPr>
            <a:r>
              <a:rPr lang="en-US" sz="3200" b="1" i="0" u="none">
                <a:solidFill>
                  <a:srgbClr val="684E93"/>
                </a:solidFill>
                <a:ea typeface="微软雅黑" panose="020B0503020204020204" charset="-122"/>
              </a:rPr>
              <a:t>总结与展望</a:t>
            </a:r>
          </a:p>
        </p:txBody>
      </p:sp>
      <p:sp>
        <p:nvSpPr>
          <p:cNvPr id="1048635" name="文本占位符 1048634" descr="fbdebbe7-0a93-4150-bd5a-7e44e3ee5219"/>
          <p:cNvSpPr>
            <a:spLocks noGrp="1"/>
          </p:cNvSpPr>
          <p:nvPr>
            <p:ph type="body" idx="1" hasCustomPrompt="1"/>
          </p:nvPr>
        </p:nvSpPr>
        <p:spPr/>
        <p:txBody>
          <a:bodyPr anchorCtr="0"/>
          <a:lstStyle/>
          <a:p>
            <a:pPr algn="l">
              <a:lnSpc>
                <a:spcPct val="120000"/>
              </a:lnSpc>
              <a:spcBef>
                <a:spcPts val="1000"/>
              </a:spcBef>
            </a:pPr>
            <a:r>
              <a:rPr lang="en-US" sz="1400" b="0" i="0" u="none">
                <a:solidFill>
                  <a:srgbClr val="000000"/>
                </a:solidFill>
                <a:ea typeface="微软雅黑" panose="020B0503020204020204" charset="-122"/>
              </a:rPr>
              <a:t>总结项目成果并规划未来优化方向</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300e0c0b-0462-4a6b-95cd-3a67c6baf2bd.source.2.zh-Hans.pptx" descr="aac1a149-2764-4b6f-842e-25f84032b594"/>
          <p:cNvGrpSpPr/>
          <p:nvPr/>
        </p:nvGrpSpPr>
        <p:grpSpPr>
          <a:xfrm>
            <a:off x="660400" y="1130301"/>
            <a:ext cx="10858500" cy="5003799"/>
            <a:chOff x="660400" y="1130301"/>
            <a:chExt cx="10858500" cy="5003799"/>
          </a:xfrm>
        </p:grpSpPr>
        <p:sp>
          <p:nvSpPr>
            <p:cNvPr id="1048645" name="Title" descr="e8f8e8da-c6df-4c0d-962f-1915c9489f3f"/>
            <p:cNvSpPr txBox="1"/>
            <p:nvPr/>
          </p:nvSpPr>
          <p:spPr>
            <a:xfrm>
              <a:off x="660400" y="1130301"/>
              <a:ext cx="2573454" cy="2181612"/>
            </a:xfrm>
            <a:prstGeom prst="roundRect">
              <a:avLst>
                <a:gd name="adj" fmla="val 6882"/>
              </a:avLst>
            </a:prstGeom>
            <a:solidFill>
              <a:schemeClr val="tx1">
                <a:alpha val="5000"/>
              </a:schemeClr>
            </a:solidFill>
          </p:spPr>
          <p:txBody>
            <a:bodyPr wrap="square" lIns="90000" tIns="46800" rIns="90000" bIns="46800" rtlCol="0" anchor="ctr" anchorCtr="0">
              <a:normAutofit/>
            </a:bodyPr>
            <a:lstStyle>
              <a:defPPr>
                <a:defRPr lang="zh-CN"/>
              </a:defPPr>
              <a:lvl1pPr>
                <a:defRPr sz="2400" b="1">
                  <a:cs typeface="+mn-ea"/>
                </a:defRPr>
              </a:lvl1pPr>
            </a:lstStyle>
            <a:p>
              <a:pPr algn="l"/>
              <a:r>
                <a:rPr lang="en-US" sz="2400" b="1" i="0" u="none">
                  <a:solidFill>
                    <a:srgbClr val="000000"/>
                  </a:solidFill>
                  <a:ea typeface="微软雅黑" panose="020B0503020204020204" charset="-122"/>
                </a:rPr>
                <a:t>概括项目的核心成果与优势</a:t>
              </a:r>
            </a:p>
          </p:txBody>
        </p:sp>
        <p:cxnSp>
          <p:nvCxnSpPr>
            <p:cNvPr id="3145730" name="直接连接符 6" descr="7a624dbd-39da-4274-a59e-63a0705e85c5"/>
            <p:cNvCxnSpPr>
              <a:stCxn id="1048648" idx="4"/>
              <a:endCxn id="1048651" idx="4"/>
            </p:cNvCxnSpPr>
            <p:nvPr/>
          </p:nvCxnSpPr>
          <p:spPr>
            <a:xfrm>
              <a:off x="3625852" y="1628097"/>
              <a:ext cx="0" cy="2496961"/>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grpSp>
          <p:nvGrpSpPr>
            <p:cNvPr id="70" name="组合 2" descr="9c51f79b-4434-4cb2-8b2e-cbd35343d916"/>
            <p:cNvGrpSpPr/>
            <p:nvPr/>
          </p:nvGrpSpPr>
          <p:grpSpPr>
            <a:xfrm>
              <a:off x="3403298" y="1183481"/>
              <a:ext cx="8115602" cy="2453658"/>
              <a:chOff x="3403298" y="1183481"/>
              <a:chExt cx="8115602" cy="2453658"/>
            </a:xfrm>
          </p:grpSpPr>
          <p:sp>
            <p:nvSpPr>
              <p:cNvPr id="1048646" name="Text1" descr="2f2d7cf7-f1b1-44c9-9fee-0b0f481561f6"/>
              <p:cNvSpPr txBox="1"/>
              <p:nvPr/>
            </p:nvSpPr>
            <p:spPr>
              <a:xfrm>
                <a:off x="3890498" y="1628096"/>
                <a:ext cx="7628401"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000000"/>
                    </a:solidFill>
                    <a:ea typeface="微软雅黑" panose="020B0503020204020204" charset="-122"/>
                  </a:rPr>
                  <a:t>通过整合 GitHub 行为数据与 OpenDigger 社区指标，构建了一套可解释的开发者技术倾向分析与活跃度预测系统。</a:t>
                </a:r>
              </a:p>
            </p:txBody>
          </p:sp>
          <p:sp>
            <p:nvSpPr>
              <p:cNvPr id="1048647" name="Bullet1" descr="5a45fca8-11b2-4244-88e5-7ca338f27782"/>
              <p:cNvSpPr txBox="1"/>
              <p:nvPr/>
            </p:nvSpPr>
            <p:spPr>
              <a:xfrm>
                <a:off x="3890499" y="1183481"/>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项目核心成果</a:t>
                </a:r>
              </a:p>
            </p:txBody>
          </p:sp>
          <p:sp>
            <p:nvSpPr>
              <p:cNvPr id="1048648" name="Number1" descr="754e6eb4-aadc-4b8e-bf24-3e55d60f121f"/>
              <p:cNvSpPr/>
              <p:nvPr/>
            </p:nvSpPr>
            <p:spPr>
              <a:xfrm>
                <a:off x="3403298" y="1183481"/>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1</a:t>
                </a:r>
              </a:p>
            </p:txBody>
          </p:sp>
        </p:grpSp>
        <p:grpSp>
          <p:nvGrpSpPr>
            <p:cNvPr id="71" name="组合 10" descr="d5982133-f24d-4192-bc58-101eb2a32633"/>
            <p:cNvGrpSpPr/>
            <p:nvPr/>
          </p:nvGrpSpPr>
          <p:grpSpPr>
            <a:xfrm>
              <a:off x="3403298" y="3680442"/>
              <a:ext cx="8115602" cy="2453658"/>
              <a:chOff x="3403298" y="2454892"/>
              <a:chExt cx="8115602" cy="2453658"/>
            </a:xfrm>
          </p:grpSpPr>
          <p:sp>
            <p:nvSpPr>
              <p:cNvPr id="1048649" name="Text2" descr="69fe5bec-e35a-47b5-a569-dc5572a95280"/>
              <p:cNvSpPr txBox="1"/>
              <p:nvPr/>
            </p:nvSpPr>
            <p:spPr>
              <a:xfrm>
                <a:off x="3890498" y="2899507"/>
                <a:ext cx="7628401" cy="2009043"/>
              </a:xfrm>
              <a:prstGeom prst="rect">
                <a:avLst/>
              </a:prstGeom>
              <a:noFill/>
            </p:spPr>
            <p:txBody>
              <a:bodyPr wrap="square" rtlCol="0" anchor="t" anchorCtr="0">
                <a:normAutofit/>
              </a:bodyPr>
              <a:lstStyle>
                <a:defPPr>
                  <a:defRPr lang="zh-CN"/>
                </a:defPPr>
                <a:lvl1pPr marL="0" algn="l" defTabSz="914400" rtl="0" eaLnBrk="1" latinLnBrk="0" hangingPunct="1">
                  <a:lnSpc>
                    <a:spcPct val="150000"/>
                  </a:lnSpc>
                  <a:defRPr kumimoji="0" sz="1050" i="0" u="none" strike="noStrike" kern="1200" cap="none" spc="0" normalizeH="0" baseline="0">
                    <a:ln>
                      <a:noFill/>
                    </a:ln>
                    <a:solidFill>
                      <a:schemeClr val="tx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200" b="0" i="0" u="none">
                    <a:solidFill>
                      <a:srgbClr val="000000"/>
                    </a:solidFill>
                    <a:ea typeface="微软雅黑" panose="020B0503020204020204" charset="-122"/>
                  </a:rPr>
                  <a:t>系统的核心优势在于 “数据多源融合” 与 “模型可解释性”，既保证了分析维度的全面性，又让预测结果易于理解和采信。</a:t>
                </a:r>
              </a:p>
            </p:txBody>
          </p:sp>
          <p:sp>
            <p:nvSpPr>
              <p:cNvPr id="1048650" name="Bullet2" descr="8584f643-d088-4e81-b461-3e99b9dc245a"/>
              <p:cNvSpPr txBox="1"/>
              <p:nvPr/>
            </p:nvSpPr>
            <p:spPr>
              <a:xfrm>
                <a:off x="3890499" y="2454892"/>
                <a:ext cx="7628401" cy="444616"/>
              </a:xfrm>
              <a:prstGeom prst="rect">
                <a:avLst/>
              </a:prstGeom>
              <a:noFill/>
            </p:spPr>
            <p:txBody>
              <a:bodyPr wrap="square" rtlCol="0" anchor="ctr" anchorCtr="0">
                <a:normAutofit/>
              </a:bodyPr>
              <a:lstStyle>
                <a:defPPr>
                  <a:defRPr lang="zh-CN"/>
                </a:defPPr>
                <a:lvl1pPr marL="0" algn="l" defTabSz="914400" rtl="0" eaLnBrk="1" latinLnBrk="0" hangingPunct="1">
                  <a:defRPr kumimoji="0" sz="1400" b="1" i="0" u="none" strike="noStrike" kern="1200" cap="none" spc="0" normalizeH="0" baseline="0">
                    <a:ln>
                      <a:noFill/>
                    </a:ln>
                    <a:solidFill>
                      <a:schemeClr val="accent1"/>
                    </a:solidFill>
                    <a:effectLst/>
                    <a:uLnTx/>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20000"/>
                  </a:lnSpc>
                </a:pPr>
                <a:r>
                  <a:rPr lang="en-US" sz="1800" b="1" i="0" u="none">
                    <a:solidFill>
                      <a:srgbClr val="000000"/>
                    </a:solidFill>
                    <a:ea typeface="微软雅黑" panose="020B0503020204020204" charset="-122"/>
                  </a:rPr>
                  <a:t>系统核心优势</a:t>
                </a:r>
              </a:p>
            </p:txBody>
          </p:sp>
          <p:sp>
            <p:nvSpPr>
              <p:cNvPr id="1048651" name="Number2" descr="f289945c-c275-4027-8d95-c0d3737ce522"/>
              <p:cNvSpPr/>
              <p:nvPr/>
            </p:nvSpPr>
            <p:spPr>
              <a:xfrm>
                <a:off x="3403298" y="2454892"/>
                <a:ext cx="445108" cy="4446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b="1" i="0" u="none">
                    <a:solidFill>
                      <a:srgbClr val="FFFFFF"/>
                    </a:solidFill>
                    <a:latin typeface="Arial" panose="020B0604020202020204"/>
                  </a:rPr>
                  <a:t>2</a:t>
                </a:r>
              </a:p>
            </p:txBody>
          </p:sp>
        </p:grpSp>
      </p:grpSp>
      <p:sp>
        <p:nvSpPr>
          <p:cNvPr id="1048652" name="标题 1048651"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项目总结</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 name="db933450-f563-4efc-a51c-094ae0661d7d.source.3.zh-Hans.pptx" descr="fbeb724f-508e-4376-a58f-ee8fac720fbd"/>
          <p:cNvGrpSpPr/>
          <p:nvPr/>
        </p:nvGrpSpPr>
        <p:grpSpPr>
          <a:xfrm>
            <a:off x="660401" y="1130303"/>
            <a:ext cx="10067370" cy="4811887"/>
            <a:chOff x="660401" y="1130303"/>
            <a:chExt cx="10067370" cy="4811887"/>
          </a:xfrm>
        </p:grpSpPr>
        <p:grpSp>
          <p:nvGrpSpPr>
            <p:cNvPr id="154" name="组合 46" descr="5bddd1eb-9cac-4216-986e-27028410a34c"/>
            <p:cNvGrpSpPr/>
            <p:nvPr/>
          </p:nvGrpSpPr>
          <p:grpSpPr>
            <a:xfrm>
              <a:off x="3953686" y="1619084"/>
              <a:ext cx="2058169" cy="4323106"/>
              <a:chOff x="3953686" y="1619084"/>
              <a:chExt cx="2058169" cy="4323106"/>
            </a:xfrm>
          </p:grpSpPr>
          <p:sp>
            <p:nvSpPr>
              <p:cNvPr id="1048839" name="Bullet1" descr="995bc493-fc25-4b76-be0d-62f86a39d15b"/>
              <p:cNvSpPr/>
              <p:nvPr/>
            </p:nvSpPr>
            <p:spPr>
              <a:xfrm>
                <a:off x="3953686"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模型升级</a:t>
                </a:r>
              </a:p>
            </p:txBody>
          </p:sp>
          <p:sp>
            <p:nvSpPr>
              <p:cNvPr id="1048840" name="Number1" descr="f7494c71-dbe4-4037-b497-c0234415e0c5"/>
              <p:cNvSpPr/>
              <p:nvPr/>
            </p:nvSpPr>
            <p:spPr>
              <a:xfrm>
                <a:off x="3953687"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684E93"/>
                    </a:solidFill>
                    <a:latin typeface="Arial" panose="020B0604020202020204"/>
                  </a:rPr>
                  <a:t>01</a:t>
                </a:r>
              </a:p>
            </p:txBody>
          </p:sp>
          <p:sp>
            <p:nvSpPr>
              <p:cNvPr id="1048841" name="ComponentBackground1" descr="f112dcfa-78eb-4fe5-ad47-83bf54582df8"/>
              <p:cNvSpPr/>
              <p:nvPr/>
            </p:nvSpPr>
            <p:spPr>
              <a:xfrm>
                <a:off x="3953686" y="2906890"/>
                <a:ext cx="2058169" cy="3035300"/>
              </a:xfrm>
              <a:prstGeom prst="roundRect">
                <a:avLst>
                  <a:gd name="adj" fmla="val 6086"/>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42" name="Text1" descr="4224af85-970d-452e-8b86-067a35db2657"/>
              <p:cNvSpPr/>
              <p:nvPr/>
            </p:nvSpPr>
            <p:spPr>
              <a:xfrm>
                <a:off x="4056609"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引入深度学习模型处理长周期时间序列，提升跨年活跃度预测精度</a:t>
                </a:r>
                <a:r>
                  <a:rPr lang="en-US" sz="1200" b="0" i="0" u="none" dirty="0">
                    <a:solidFill>
                      <a:srgbClr val="FFFFFF"/>
                    </a:solidFill>
                    <a:ea typeface="微软雅黑" panose="020B0503020204020204" charset="-122"/>
                  </a:rPr>
                  <a:t>。</a:t>
                </a:r>
              </a:p>
            </p:txBody>
          </p:sp>
        </p:grpSp>
        <p:grpSp>
          <p:nvGrpSpPr>
            <p:cNvPr id="155" name="组合 47" descr="05acf4b9-61b1-4606-828d-bb5e393ea93d"/>
            <p:cNvGrpSpPr/>
            <p:nvPr/>
          </p:nvGrpSpPr>
          <p:grpSpPr>
            <a:xfrm>
              <a:off x="6311644" y="1619084"/>
              <a:ext cx="2058169" cy="4323106"/>
              <a:chOff x="6311644" y="1619084"/>
              <a:chExt cx="2058169" cy="4323106"/>
            </a:xfrm>
          </p:grpSpPr>
          <p:sp>
            <p:nvSpPr>
              <p:cNvPr id="1048843" name="Bullet2" descr="63c6a09e-2cbd-45cf-81ba-21453cceac32"/>
              <p:cNvSpPr/>
              <p:nvPr/>
            </p:nvSpPr>
            <p:spPr>
              <a:xfrm>
                <a:off x="6311644"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数据扩展</a:t>
                </a:r>
              </a:p>
            </p:txBody>
          </p:sp>
          <p:sp>
            <p:nvSpPr>
              <p:cNvPr id="1048844" name="Number2" descr="4f5736cf-531b-42e3-a967-6f6bd53f76d5"/>
              <p:cNvSpPr/>
              <p:nvPr/>
            </p:nvSpPr>
            <p:spPr>
              <a:xfrm>
                <a:off x="6311645"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D5723D"/>
                    </a:solidFill>
                    <a:latin typeface="Arial" panose="020B0604020202020204"/>
                  </a:rPr>
                  <a:t>02</a:t>
                </a:r>
              </a:p>
            </p:txBody>
          </p:sp>
          <p:sp>
            <p:nvSpPr>
              <p:cNvPr id="1048845" name="ComponentBackground2" descr="90d08629-0136-4794-b7ae-3bcaca20893f"/>
              <p:cNvSpPr/>
              <p:nvPr/>
            </p:nvSpPr>
            <p:spPr>
              <a:xfrm>
                <a:off x="6311644" y="2906890"/>
                <a:ext cx="2058169" cy="3035300"/>
              </a:xfrm>
              <a:prstGeom prst="roundRect">
                <a:avLst>
                  <a:gd name="adj" fmla="val 6086"/>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46" name="Text2" descr="cfc5eb78-0210-44a7-b649-dd7c1bf83b99"/>
              <p:cNvSpPr/>
              <p:nvPr/>
            </p:nvSpPr>
            <p:spPr>
              <a:xfrm>
                <a:off x="6414567"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支持</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GitLab、Gitee</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等多平台数据集成，覆盖更广泛的开发者群体</a:t>
                </a:r>
                <a:r>
                  <a:rPr lang="en-US" sz="1200" b="0" i="0" u="none" dirty="0">
                    <a:solidFill>
                      <a:srgbClr val="FFFFFF"/>
                    </a:solidFill>
                    <a:ea typeface="微软雅黑" panose="020B0503020204020204" charset="-122"/>
                  </a:rPr>
                  <a:t>。</a:t>
                </a:r>
              </a:p>
            </p:txBody>
          </p:sp>
        </p:grpSp>
        <p:grpSp>
          <p:nvGrpSpPr>
            <p:cNvPr id="156" name="组合 48" descr="a1ffe96f-3891-4ec0-9460-d9211ef38578"/>
            <p:cNvGrpSpPr/>
            <p:nvPr/>
          </p:nvGrpSpPr>
          <p:grpSpPr>
            <a:xfrm>
              <a:off x="8669602" y="1619084"/>
              <a:ext cx="2058169" cy="4323106"/>
              <a:chOff x="8669602" y="1619084"/>
              <a:chExt cx="2058169" cy="4323106"/>
            </a:xfrm>
          </p:grpSpPr>
          <p:sp>
            <p:nvSpPr>
              <p:cNvPr id="1048847" name="Bullet3" descr="8128c2ab-66fc-44b3-8fcc-9f479946a689"/>
              <p:cNvSpPr/>
              <p:nvPr/>
            </p:nvSpPr>
            <p:spPr>
              <a:xfrm>
                <a:off x="8669602" y="2308377"/>
                <a:ext cx="2058169" cy="5693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1800" b="1" i="0" u="none">
                    <a:solidFill>
                      <a:srgbClr val="000000"/>
                    </a:solidFill>
                    <a:ea typeface="微软雅黑" panose="020B0503020204020204" charset="-122"/>
                  </a:rPr>
                  <a:t>功能深化</a:t>
                </a:r>
              </a:p>
            </p:txBody>
          </p:sp>
          <p:sp>
            <p:nvSpPr>
              <p:cNvPr id="1048848" name="Number3" descr="094ce3f6-a7e3-4c8a-a455-ae8f42916a49"/>
              <p:cNvSpPr/>
              <p:nvPr/>
            </p:nvSpPr>
            <p:spPr>
              <a:xfrm>
                <a:off x="8669603" y="1619084"/>
                <a:ext cx="858219" cy="6892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b" anchorCtr="0">
                <a:normAutofit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r>
                  <a:rPr lang="en-US" sz="4000" b="1" i="0" u="none">
                    <a:solidFill>
                      <a:srgbClr val="D1847A"/>
                    </a:solidFill>
                    <a:latin typeface="Arial" panose="020B0604020202020204"/>
                  </a:rPr>
                  <a:t>03</a:t>
                </a:r>
              </a:p>
            </p:txBody>
          </p:sp>
          <p:sp>
            <p:nvSpPr>
              <p:cNvPr id="1048849" name="ComponentBackground3" descr="45a733ab-d273-4d78-b6b3-136dc826b140"/>
              <p:cNvSpPr/>
              <p:nvPr/>
            </p:nvSpPr>
            <p:spPr>
              <a:xfrm>
                <a:off x="8669602" y="2906890"/>
                <a:ext cx="2058169" cy="3035300"/>
              </a:xfrm>
              <a:prstGeom prst="roundRect">
                <a:avLst>
                  <a:gd name="adj" fmla="val 6086"/>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508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a:p>
            </p:txBody>
          </p:sp>
          <p:sp>
            <p:nvSpPr>
              <p:cNvPr id="1048850" name="Text3" descr="a9da7615-957f-4841-92b5-b953a8b4c56b"/>
              <p:cNvSpPr/>
              <p:nvPr/>
            </p:nvSpPr>
            <p:spPr>
              <a:xfrm>
                <a:off x="8772525" y="3237088"/>
                <a:ext cx="1847821" cy="25160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l">
                  <a:lnSpc>
                    <a:spcPct val="120000"/>
                  </a:lnSpc>
                </a:pPr>
                <a:r>
                  <a:rPr lang="en-US" sz="1200" b="0" i="0" u="none" dirty="0" err="1">
                    <a:solidFill>
                      <a:srgbClr val="FFFFFF"/>
                    </a:solidFill>
                    <a:ea typeface="微软雅黑" panose="020B0503020204020204" charset="-122"/>
                  </a:rPr>
                  <a:t>增加</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开发者成长路径分析</a:t>
                </a:r>
                <a:r>
                  <a:rPr lang="en-US" sz="1200" b="0" i="0" u="none" dirty="0">
                    <a:solidFill>
                      <a:srgbClr val="FFFFFF"/>
                    </a:solidFill>
                    <a:ea typeface="微软雅黑" panose="020B0503020204020204" charset="-122"/>
                  </a:rPr>
                  <a:t>”（</a:t>
                </a:r>
                <a:r>
                  <a:rPr lang="en-US" sz="1200" b="0" i="0" u="none" dirty="0" err="1">
                    <a:solidFill>
                      <a:srgbClr val="FFFFFF"/>
                    </a:solidFill>
                    <a:ea typeface="微软雅黑" panose="020B0503020204020204" charset="-122"/>
                  </a:rPr>
                  <a:t>如从</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新手</a:t>
                </a:r>
                <a:r>
                  <a:rPr lang="en-US" sz="1200" b="0" i="0" u="none" dirty="0">
                    <a:solidFill>
                      <a:srgbClr val="FFFFFF"/>
                    </a:solidFill>
                    <a:ea typeface="微软雅黑" panose="020B0503020204020204" charset="-122"/>
                  </a:rPr>
                  <a:t>” 到 “</a:t>
                </a:r>
                <a:r>
                  <a:rPr lang="en-US" sz="1200" b="0" i="0" u="none" dirty="0" err="1">
                    <a:solidFill>
                      <a:srgbClr val="FFFFFF"/>
                    </a:solidFill>
                    <a:ea typeface="微软雅黑" panose="020B0503020204020204" charset="-122"/>
                  </a:rPr>
                  <a:t>核心贡献者</a:t>
                </a:r>
                <a:r>
                  <a:rPr lang="en-US" sz="1200" b="0" i="0" u="none" dirty="0">
                    <a:solidFill>
                      <a:srgbClr val="FFFFFF"/>
                    </a:solidFill>
                    <a:ea typeface="微软雅黑" panose="020B0503020204020204" charset="-122"/>
                  </a:rPr>
                  <a:t>” </a:t>
                </a:r>
                <a:r>
                  <a:rPr lang="en-US" sz="1200" b="0" i="0" u="none" dirty="0" err="1">
                    <a:solidFill>
                      <a:srgbClr val="FFFFFF"/>
                    </a:solidFill>
                    <a:ea typeface="微软雅黑" panose="020B0503020204020204" charset="-122"/>
                  </a:rPr>
                  <a:t>的特征变化</a:t>
                </a:r>
                <a:r>
                  <a:rPr lang="en-US" sz="1200" b="0" i="0" u="none" dirty="0">
                    <a:solidFill>
                      <a:srgbClr val="FFFFFF"/>
                    </a:solidFill>
                    <a:ea typeface="微软雅黑" panose="020B0503020204020204" charset="-122"/>
                  </a:rPr>
                  <a:t>），</a:t>
                </a:r>
                <a:r>
                  <a:rPr lang="en-US" sz="1200" b="0" i="0" u="none" dirty="0" err="1">
                    <a:solidFill>
                      <a:srgbClr val="FFFFFF"/>
                    </a:solidFill>
                    <a:ea typeface="微软雅黑" panose="020B0503020204020204" charset="-122"/>
                  </a:rPr>
                  <a:t>为社区新人引导提供数据支持</a:t>
                </a:r>
                <a:r>
                  <a:rPr lang="en-US" sz="1200" b="0" i="0" u="none" dirty="0">
                    <a:solidFill>
                      <a:srgbClr val="FFFFFF"/>
                    </a:solidFill>
                    <a:ea typeface="微软雅黑" panose="020B0503020204020204" charset="-122"/>
                  </a:rPr>
                  <a:t>。</a:t>
                </a:r>
                <a:r>
                  <a:rPr lang="zh-CN" altLang="en-US" sz="1200" dirty="0">
                    <a:solidFill>
                      <a:srgbClr val="FFFFFF"/>
                    </a:solidFill>
                    <a:ea typeface="微软雅黑" panose="020B0503020204020204" charset="-122"/>
                  </a:rPr>
                  <a:t>或添加计算个人</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个人、个人</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仓库、仓库</a:t>
                </a:r>
                <a:r>
                  <a:rPr lang="en-US" altLang="zh-CN" sz="1200" dirty="0">
                    <a:solidFill>
                      <a:srgbClr val="FFFFFF"/>
                    </a:solidFill>
                    <a:ea typeface="微软雅黑" panose="020B0503020204020204" charset="-122"/>
                  </a:rPr>
                  <a:t>&amp;</a:t>
                </a:r>
                <a:r>
                  <a:rPr lang="zh-CN" altLang="en-US" sz="1200" dirty="0">
                    <a:solidFill>
                      <a:srgbClr val="FFFFFF"/>
                    </a:solidFill>
                    <a:ea typeface="微软雅黑" panose="020B0503020204020204" charset="-122"/>
                  </a:rPr>
                  <a:t>仓库之间的匹配度，给出更实际的关系认知。</a:t>
                </a:r>
                <a:endParaRPr lang="en-US" sz="1200" b="0" i="0" u="none" dirty="0">
                  <a:solidFill>
                    <a:srgbClr val="FFFFFF"/>
                  </a:solidFill>
                  <a:ea typeface="微软雅黑" panose="020B0503020204020204" charset="-122"/>
                </a:endParaRPr>
              </a:p>
            </p:txBody>
          </p:sp>
        </p:grpSp>
        <p:sp>
          <p:nvSpPr>
            <p:cNvPr id="1048851" name="Title" descr="6a94dca9-d1ae-4c1c-9fd2-642f72f37a5d"/>
            <p:cNvSpPr txBox="1"/>
            <p:nvPr/>
          </p:nvSpPr>
          <p:spPr>
            <a:xfrm>
              <a:off x="660401" y="1130303"/>
              <a:ext cx="2184400" cy="2538586"/>
            </a:xfrm>
            <a:prstGeom prst="rect">
              <a:avLst/>
            </a:prstGeom>
            <a:noFill/>
            <a:ln>
              <a:noFill/>
            </a:ln>
          </p:spPr>
          <p:txBody>
            <a:bodyPr wrap="square" lIns="91440" tIns="45720" rIns="91440" bIns="45720" anchor="t" anchorCtr="0">
              <a:normAutofit/>
            </a:bodyPr>
            <a:lstStyle/>
            <a:p>
              <a:pPr algn="l">
                <a:spcBef>
                  <a:spcPct val="0"/>
                </a:spcBef>
                <a:spcAft>
                  <a:spcPct val="0"/>
                </a:spcAft>
              </a:pPr>
              <a:r>
                <a:rPr lang="en-US" sz="2400" b="1" i="0" u="none" strike="noStrike">
                  <a:solidFill>
                    <a:srgbClr val="000000"/>
                  </a:solidFill>
                  <a:ea typeface="微软雅黑" panose="020B0503020204020204" charset="-122"/>
                </a:rPr>
                <a:t>提出系统的未来优化方向</a:t>
              </a:r>
            </a:p>
          </p:txBody>
        </p:sp>
      </p:grpSp>
      <p:sp>
        <p:nvSpPr>
          <p:cNvPr id="1048852" name="标题 1048851" descr="ba5c3d0b-a165-4d08-9745-ddaee62d2520"/>
          <p:cNvSpPr>
            <a:spLocks noGrp="1"/>
          </p:cNvSpPr>
          <p:nvPr>
            <p:ph type="title" hasCustomPrompt="1"/>
          </p:nvPr>
        </p:nvSpPr>
        <p:spPr/>
        <p:txBody>
          <a:bodyPr anchorCtr="0"/>
          <a:lstStyle/>
          <a:p>
            <a:pPr algn="l">
              <a:lnSpc>
                <a:spcPct val="100000"/>
              </a:lnSpc>
              <a:spcBef>
                <a:spcPct val="0"/>
              </a:spcBef>
            </a:pPr>
            <a:r>
              <a:rPr lang="en-US" sz="2800" b="1" i="0" u="none">
                <a:solidFill>
                  <a:srgbClr val="000000"/>
                </a:solidFill>
                <a:ea typeface="微软雅黑" panose="020B0503020204020204" charset="-122"/>
              </a:rPr>
              <a:t>未来展望</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标题 1048858" descr="d1741380-af7a-4b2e-889e-9f29462dc72e"/>
          <p:cNvSpPr>
            <a:spLocks noGrp="1"/>
          </p:cNvSpPr>
          <p:nvPr>
            <p:ph type="title" hasCustomPrompt="1"/>
          </p:nvPr>
        </p:nvSpPr>
        <p:spPr/>
        <p:txBody>
          <a:bodyPr anchorCtr="0">
            <a:normAutofit fontScale="90000"/>
          </a:bodyPr>
          <a:lstStyle/>
          <a:p>
            <a:pPr algn="l">
              <a:lnSpc>
                <a:spcPct val="100000"/>
              </a:lnSpc>
              <a:spcBef>
                <a:spcPct val="0"/>
              </a:spcBef>
            </a:pPr>
            <a:r>
              <a:rPr lang="en-US" sz="5400" b="1" i="0" u="none" dirty="0" err="1">
                <a:solidFill>
                  <a:srgbClr val="684E93"/>
                </a:solidFill>
                <a:ea typeface="微软雅黑" panose="020B0503020204020204" charset="-122"/>
              </a:rPr>
              <a:t>谢谢观看</a:t>
            </a:r>
            <a:r>
              <a:rPr lang="zh-CN" altLang="en-US" sz="5400" dirty="0">
                <a:solidFill>
                  <a:srgbClr val="684E93"/>
                </a:solidFill>
                <a:ea typeface="微软雅黑" panose="020B0503020204020204" charset="-122"/>
              </a:rPr>
              <a:t>，敬请期待</a:t>
            </a:r>
            <a:endParaRPr lang="en-US" sz="5400" b="1" i="0" u="none" dirty="0">
              <a:solidFill>
                <a:srgbClr val="684E93"/>
              </a:solidFill>
              <a:ea typeface="微软雅黑" panose="020B0503020204020204" charset="-122"/>
            </a:endParaRPr>
          </a:p>
        </p:txBody>
      </p:sp>
      <p:sp>
        <p:nvSpPr>
          <p:cNvPr id="1048860" name="文本占位符 1048859" descr="5fc535f9-d590-4dc9-8d5a-818ac15ab11f"/>
          <p:cNvSpPr>
            <a:spLocks noGrp="1"/>
          </p:cNvSpPr>
          <p:nvPr>
            <p:ph type="body" sz="quarter" idx="13" hasCustomPrompt="1"/>
          </p:nvPr>
        </p:nvSpPr>
        <p:spPr/>
        <p:txBody>
          <a:bodyPr anchorCtr="0"/>
          <a:lstStyle/>
          <a:p>
            <a:pPr algn="r">
              <a:lnSpc>
                <a:spcPct val="100000"/>
              </a:lnSpc>
              <a:spcBef>
                <a:spcPct val="0"/>
              </a:spcBef>
            </a:pPr>
            <a:r>
              <a:rPr lang="en-US" sz="1200" b="0" i="0" u="none">
                <a:solidFill>
                  <a:srgbClr val="FFFFFF"/>
                </a:solidFill>
                <a:ea typeface="微软雅黑" panose="020B0503020204020204" charset="-122"/>
              </a:rPr>
              <a:t>报告人名称</a:t>
            </a:r>
          </a:p>
        </p:txBody>
      </p:sp>
      <p:sp>
        <p:nvSpPr>
          <p:cNvPr id="1048861" name="文本占位符 1048860" descr="4f2627d1-b0ad-4683-a59e-8448198a6258"/>
          <p:cNvSpPr>
            <a:spLocks noGrp="1"/>
          </p:cNvSpPr>
          <p:nvPr>
            <p:ph type="body" sz="quarter" idx="14" hasCustomPrompt="1"/>
          </p:nvPr>
        </p:nvSpPr>
        <p:spPr/>
        <p:txBody>
          <a:bodyPr anchorCtr="0"/>
          <a:lstStyle/>
          <a:p>
            <a:pPr algn="l">
              <a:lnSpc>
                <a:spcPct val="90000"/>
              </a:lnSpc>
              <a:spcBef>
                <a:spcPct val="0"/>
              </a:spcBef>
            </a:pPr>
            <a:r>
              <a:rPr lang="en-US" dirty="0">
                <a:latin typeface="微软雅黑" panose="020B0503020204020204" charset="-122"/>
              </a:rPr>
              <a:t>2026.1</a:t>
            </a:r>
          </a:p>
        </p:txBody>
      </p:sp>
      <p:sp>
        <p:nvSpPr>
          <p:cNvPr id="1048862" name="TextBox 3"/>
          <p:cNvSpPr txBox="1"/>
          <p:nvPr/>
        </p:nvSpPr>
        <p:spPr>
          <a:xfrm>
            <a:off x="10756900" y="6413500"/>
            <a:ext cx="1371600" cy="381000"/>
          </a:xfrm>
          <a:prstGeom prst="roundRect">
            <a:avLst/>
          </a:prstGeom>
          <a:solidFill>
            <a:srgbClr val="FFFFFF"/>
          </a:solidFill>
        </p:spPr>
        <p:txBody>
          <a:bodyPr wrap="none" rtlCol="0" anchor="ctr"/>
          <a:lstStyle/>
          <a:p>
            <a:pPr algn="ctr"/>
            <a:r>
              <a:rPr lang="en-US" sz="1200">
                <a:solidFill>
                  <a:srgbClr val="000000"/>
                </a:solidFill>
              </a:rPr>
              <a:t>内容由千问AI生成</a:t>
            </a:r>
            <a:endParaRPr lang="zh-CN"/>
          </a:p>
        </p:txBody>
      </p:sp>
      <p:sp>
        <p:nvSpPr>
          <p:cNvPr id="2" name="文本占位符 1048679" descr="95d09ded-cdad-42b2-9260-85794b846f2d">
            <a:extLst>
              <a:ext uri="{FF2B5EF4-FFF2-40B4-BE49-F238E27FC236}">
                <a16:creationId xmlns:a16="http://schemas.microsoft.com/office/drawing/2014/main" id="{85885C4C-80EC-253B-02C6-5CA57074C092}"/>
              </a:ext>
            </a:extLst>
          </p:cNvPr>
          <p:cNvSpPr txBox="1">
            <a:spLocks/>
          </p:cNvSpPr>
          <p:nvPr/>
        </p:nvSpPr>
        <p:spPr>
          <a:xfrm>
            <a:off x="660400" y="4855263"/>
            <a:ext cx="1973802" cy="949117"/>
          </a:xfrm>
          <a:prstGeom prst="rect">
            <a:avLst/>
          </a:prstGeom>
        </p:spPr>
        <p:txBody>
          <a:bodyPr vert="horz" lIns="91440" tIns="45720" rIns="91440" bIns="45720" rtlCol="0" anchor="ctr" anchorCtr="0">
            <a:normAutofit/>
          </a:bodyPr>
          <a:lstStyle>
            <a:lvl1pPr marL="0" indent="0" algn="l" defTabSz="914400" rtl="0" eaLnBrk="1" latinLnBrk="0" hangingPunct="1">
              <a:lnSpc>
                <a:spcPct val="100000"/>
              </a:lnSpc>
              <a:spcBef>
                <a:spcPts val="1000"/>
              </a:spcBef>
              <a:buFont typeface="Arial" panose="020B0604020202020204" pitchFamily="34" charset="0"/>
              <a:buNone/>
              <a:defRPr sz="12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500" b="1" dirty="0">
                <a:latin typeface="微软雅黑" panose="020B0503020204020204" charset="-122"/>
              </a:rPr>
              <a:t>爱如潮水队</a:t>
            </a:r>
            <a:endParaRPr lang="en-US" altLang="zh-CN" sz="1500" b="1" dirty="0">
              <a:latin typeface="微软雅黑" panose="020B0503020204020204" charset="-122"/>
            </a:endParaRPr>
          </a:p>
          <a:p>
            <a:r>
              <a:rPr lang="zh-CN" altLang="en-US" dirty="0">
                <a:latin typeface="微软雅黑" panose="020B0503020204020204" charset="-122"/>
              </a:rPr>
              <a:t>队长：</a:t>
            </a:r>
            <a:r>
              <a:rPr lang="zh-CN" altLang="en-US" b="1" dirty="0">
                <a:latin typeface="微软雅黑" panose="020B0503020204020204" charset="-122"/>
              </a:rPr>
              <a:t>庄子由</a:t>
            </a:r>
            <a:endParaRPr lang="en-US" altLang="zh-CN" b="1" dirty="0">
              <a:latin typeface="微软雅黑" panose="020B0503020204020204" charset="-122"/>
            </a:endParaRPr>
          </a:p>
          <a:p>
            <a:r>
              <a:rPr lang="zh-CN" altLang="en-US" dirty="0">
                <a:latin typeface="微软雅黑" panose="020B0503020204020204" charset="-122"/>
              </a:rPr>
              <a:t>队员：</a:t>
            </a:r>
            <a:r>
              <a:rPr lang="zh-CN" altLang="en-US" b="1" dirty="0">
                <a:latin typeface="微软雅黑" panose="020B0503020204020204" charset="-122"/>
              </a:rPr>
              <a:t>曹玉霖</a:t>
            </a:r>
            <a:endParaRPr lang="en-US" b="1" dirty="0">
              <a:latin typeface="微软雅黑" panose="020B050302020402020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39.00086614173233,&quot;left&quot;:0,&quot;top&quot;:89,&quot;width&quot;:960}"/>
</p:tagLst>
</file>

<file path=ppt/theme/theme1.xml><?xml version="1.0" encoding="utf-8"?>
<a:theme xmlns:a="http://schemas.openxmlformats.org/drawingml/2006/main" name="Designed by iSlide">
  <a:themeElements>
    <a:clrScheme name="iSlide">
      <a:dk1>
        <a:srgbClr val="000000"/>
      </a:dk1>
      <a:lt1>
        <a:srgbClr val="FFFFFF"/>
      </a:lt1>
      <a:dk2>
        <a:srgbClr val="768394"/>
      </a:dk2>
      <a:lt2>
        <a:srgbClr val="F0F0F0"/>
      </a:lt2>
      <a:accent1>
        <a:srgbClr val="684E93"/>
      </a:accent1>
      <a:accent2>
        <a:srgbClr val="D5723D"/>
      </a:accent2>
      <a:accent3>
        <a:srgbClr val="D1847A"/>
      </a:accent3>
      <a:accent4>
        <a:srgbClr val="56298D"/>
      </a:accent4>
      <a:accent5>
        <a:srgbClr val="162D34"/>
      </a:accent5>
      <a:accent6>
        <a:srgbClr val="3A3A7A"/>
      </a:accent6>
      <a:hlink>
        <a:srgbClr val="4276AA"/>
      </a:hlink>
      <a:folHlink>
        <a:srgbClr val="BFBFBF"/>
      </a:folHlink>
    </a:clrScheme>
    <a:fontScheme name="iSlide">
      <a:majorFont>
        <a:latin typeface="Arial"/>
        <a:ea typeface="微软雅黑"/>
        <a:cs typeface="Arial"/>
      </a:majorFont>
      <a:minorFont>
        <a:latin typeface="Arial"/>
        <a:ea typeface="微软雅黑"/>
        <a:cs typeface="Arial"/>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TotalTime>
  <Words>2237</Words>
  <Application>Microsoft Office PowerPoint</Application>
  <PresentationFormat>宽屏</PresentationFormat>
  <Paragraphs>243</Paragraphs>
  <Slides>36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36</vt:i4>
      </vt:variant>
    </vt:vector>
  </HeadingPairs>
  <TitlesOfParts>
    <vt:vector size="41" baseType="lpstr">
      <vt:lpstr>微软雅黑</vt:lpstr>
      <vt:lpstr>Arial</vt:lpstr>
      <vt:lpstr>Calibri</vt:lpstr>
      <vt:lpstr>Cambria Math</vt:lpstr>
      <vt:lpstr>Designed by iSlide</vt:lpstr>
      <vt:lpstr>DevScope 开发者行为分析与预测系统设计</vt:lpstr>
      <vt:lpstr>目录</vt:lpstr>
      <vt:lpstr>项目案例分析</vt:lpstr>
      <vt:lpstr>案例1：精准人才猎寻与留存预测</vt:lpstr>
      <vt:lpstr>案例2：开源社区的“流失预警”与维护者决策</vt:lpstr>
      <vt:lpstr>案例3：企业竞争情报与技术栈演进分析</vt:lpstr>
      <vt:lpstr>结论</vt:lpstr>
      <vt:lpstr>技术架构</vt:lpstr>
      <vt:lpstr>数据层：多源数据采集与处理</vt:lpstr>
      <vt:lpstr>模型层：技术倾向分析与活跃度预测</vt:lpstr>
      <vt:lpstr>展示层：可视化与交互界面</vt:lpstr>
      <vt:lpstr>数学原理</vt:lpstr>
      <vt:lpstr>Weibull分布拟合——用以预测活跃时间</vt:lpstr>
      <vt:lpstr>活跃概率预测——预测未来30天内用户活跃的概率</vt:lpstr>
      <vt:lpstr>贝叶斯平滑估计——用以处理活跃过少的用户</vt:lpstr>
      <vt:lpstr>综合匹配度打分——预测用户与技术的综合匹配度 </vt:lpstr>
      <vt:lpstr>社区应用场景</vt:lpstr>
      <vt:lpstr>开源项目维护与协作</vt:lpstr>
      <vt:lpstr>开源社区运营</vt:lpstr>
      <vt:lpstr>企业人才挖掘与合作</vt:lpstr>
      <vt:lpstr>系统实现与运行验证</vt:lpstr>
      <vt:lpstr>开发环境与依赖</vt:lpstr>
      <vt:lpstr>DevScope 系统实现流程</vt:lpstr>
      <vt:lpstr>项目展示</vt:lpstr>
      <vt:lpstr>前端页面展示</vt:lpstr>
      <vt:lpstr>数据抓取展示（以用户vinta为例）</vt:lpstr>
      <vt:lpstr>数据可视化展示</vt:lpstr>
      <vt:lpstr>PowerPoint 演示文稿</vt:lpstr>
      <vt:lpstr>关系引力图展示</vt:lpstr>
      <vt:lpstr>技术匹配度展示</vt:lpstr>
      <vt:lpstr>技术匹配度展示</vt:lpstr>
      <vt:lpstr>动态记录展示</vt:lpstr>
      <vt:lpstr>总结与展望</vt:lpstr>
      <vt:lpstr>项目总结</vt:lpstr>
      <vt:lpstr>未来展望</vt:lpstr>
      <vt:lpstr>谢谢观看，敬请期待</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DevScope 开发者行为分析与预测系统设计</dc:title>
  <dc:creator>iSlide</dc:creator>
  <cp:lastModifiedBy>Fcx0782</cp:lastModifiedBy>
  <cp:revision>117</cp:revision>
  <dcterms:created xsi:type="dcterms:W3CDTF">2025-12-28T15:26:00Z</dcterms:created>
  <dcterms:modified xsi:type="dcterms:W3CDTF">2026-01-10T18:44:16Z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88f5c479-1841-45fe-b873-e75098c46cb9</vt:lpwstr>
  </property>
  <property fmtid="{D5CDD505-2E9C-101B-9397-08002B2CF9AE}" pid="3" name="ICV">
    <vt:lpwstr>7E3D1E36523F4FF2BF29CFFC515017E2_13</vt:lpwstr>
  </property>
  <property fmtid="{D5CDD505-2E9C-101B-9397-08002B2CF9AE}" pid="4" name="KSOProductBuildVer">
    <vt:lpwstr>2052-12.1.0.24034</vt:lpwstr>
  </property>
</Properties>
</file>